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243"/>
    <p:restoredTop sz="81853"/>
  </p:normalViewPr>
  <p:slideViewPr>
    <p:cSldViewPr snapToGrid="0">
      <p:cViewPr varScale="1">
        <p:scale>
          <a:sx n="102" d="100"/>
          <a:sy n="102" d="100"/>
        </p:scale>
        <p:origin x="192" y="6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3059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Ziel der Sitzung: Die Studierenden lernen die Kernelemente von BPMN 2.0 kennen und wenden sie an kleinen Beispielen aus der Hochschulverwaltung an. Die Beispiele sind bewusst aus der Lebenswelt der Studierenden gewählt (Prüfungsanmeldung, Einschreibung, Zulassung, Abschlussarbeit), damit die Fachlogik sofort verständlich ist und die Aufmerksamkeit auf der Notation liegt. Alle Diagramme liegen auch als .bpmn-Dateien vor und können im Camunda Modeler oder auf demo.bpmn.io live verändert werden.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Kurz die vier Ziele nennen. Ziel 4 ist der Bogen zur Übungsaufgabe am Ende: Die Studierenden modellieren danach selbstständig das Anerkennungsverfahren für Studienleistungen.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Einstiegsfrage an die Gruppe: Wer hat schon einmal einen Antrag an das Prüfungsamt oder das Studierendensekretariat gestellt? Wie lange hat es gedauert, und wussten Sie, wo Ihr Antrag gerade liegt? Genau diese Transparenz schafft ein Prozessmodell. BPMN steht für Business Process Model and Notation. Abgrenzung zu EPK (in Deutschland verbreitet, aber kein internationaler Standard) und UML-Aktivitätsdiagrammen (eher softwarenah).</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Die Spezifikation umfasst über 100 Symbole, aber mit diesen elf Grundformen lässt sich der Großteil fachlicher Modelle bauen. Merkhilfe: Kreise passieren (Ereignisse), Rechtecke werden getan (Aktivitäten), Rauten entscheiden oder verzweigen (Gateways). Alle Varianten, die wir heute sehen, sind Verfeinerungen dieser Grundformen durch Symbole im Inneren oder Linienart des Rands.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Den Prozess gemeinsam vorlesen: Wer den Studierendenausweis verliert, meldet das; das Studierendensekretariat erhebt eine Ersatzgebühr, druckt den Ausweis neu und händigt ihn aus. Das Token-Konzept einführen: Man stellt sich eine Marke vor, die vom Startereignis über die Sequenzflüsse wandert. Jede Aufgabe, die das Token erreicht, wird ausgeführt; erreicht es ein Endereignis, ist diese Prozessinstanz beendet. Überleitungsfrage: Was passiert, wenn die Gebühr nicht bezahlt wird? Das Modell kennt bisher nur den Gutfall – dafür brauchen wir Gateways.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Antwort zur Frage: Nicht als eine Aufgabe „Unterlagen kontrollieren und ggf. zurückschicken“, denn darin versteckt sich eine Entscheidung. Besser: Aufgabe „Unterlagen prüfen“, dann ein exklusives Gateway „Unterlagen vollständig?“ und auf dem Nein-Pfad die Aufgabe „Unterlagen zurücksenden“. Faustregel: Ein „und“ oder „ggf.“ im Aufgabennamen deutet auf zwei Aufgaben oder ein fehlendes Gateway hin. Personen gehören nicht in Lanes, weil Modelle sonst bei jedem Personalwechsel veralten.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Das XOR-Gateway wertet Daten aus, die zum Zeitpunkt des Eintreffens vorliegen (hier das Prüfergebnis). Die Bedingungen der ausgehenden Kanten müssen sich gegenseitig ausschließen und vollständig sein. Antwort zur Frage: einen dritten ausgehenden Pfad „noch offen“, zum Beispiel mit einer Aufgabe „Nachweis anfordern“, oder eine Schleife zurück vor die Prüfung. Hinweis: Eine Raute ohne Symbol ist ebenfalls ein XOR-Gateway; das X macht es eindeutiger und wird empfohlen. Das zusammenführende XOR lässt jedes ankommende Token sofort durch – es wartet nicht.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„Parallel“ heißt in BPMN: unabhängig voneinander, in beliebiger Reihenfolge – nicht zwingend zeitgleich. Die drei Aufgaben können von verschiedenen Stellen bearbeitet werden. Antwort zur Frage: Ein XOR lässt jedes ankommende Token sofort durch. Die Begrüßungsunterlagen würden dann dreimal versendet, und der Prozess endete dreimal. Deshalb gilt: mit dem Gateway-Typ zusammenführen, mit dem verzweigt wurde.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Antwort zur Frage: Der obere und der untere Pfad laufen; der Standardfluss „sonst“ nicht. Das zusammenführende OR-Gateway wartet genau auf die beiden aktivierten Pfade. Ohne Härtefall und mit deutschem Abschluss läuft nur der Standardfluss. Das OR ist das anspruchsvollste der drei Gateways – in der Übungsaufgabe kommt es genau einmal vor (Anerkennung und Ablehnung bei teilweiser Anerkennung).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Kurze Wiederholung vor dem Quiz auf der nächsten Folie. Ein viertes Gateway, das ereignisbasierte Gateway, folgt im Abschnitt Ereignisse, weil es nicht auf Daten, sondern auf eintretende Ereignisse reagiert.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Lösungen: A = exklusives Gateway (XOR), denn genau ein Ergebnis trifft zu. B = paralleles Gateway (AND), denn alle drei Bestätigungen sind nötig, die Reihenfolge ist egal; das zusammenführende AND wartet auf alle drei. C = inklusives Gateway (OR), denn je nach Ziel trifft eine oder treffen beide Bedingungen zu. Nachfrage zu C: Was passiert, wenn keine der beiden Bedingungen zutrifft? Dann braucht das OR einen Standardfluss, sonst bleibt der Prozess stecken. Tipp: per Handzeichen oder Live-Umfrage abstimmen lassen.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Ereignisse sind Dinge, die passieren – im Unterschied zu Aufgaben, die jemand tut. Zwei Dimensionen: die Position (Start, Zwischen, Ende) erkennt man am Rand, den Auslöser am Symbol. Eintretende (empfangende) Ereignisse haben ein helles Symbol, auslösende (sendende) ein dunkles; Startereignisse sind immer eintretend, Endereignisse immer auslösend. Für die Übung brauchen wir vor allem Nachricht und Zeit; Fehler und Terminierung nur zur Orientierung. Weitere Auslöser wie Signal, Bedingung oder Eskalation lassen wir in der Einführung bewusst weg.</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Ein Zeit-Startereignis kann einen Zeitpunkt (Datum), eine Wiederholung (jedes Semester) oder eine Dauer beschreiben. Antwort zur Frage: Das Modell ignoriert, dass Zusagen und Absagen schon vor Fristende eingehen. Der Prozess reagiert nur auf die Zeit, nicht auf Antworten. Das ist die Überleitung zur nächsten Folie: Mit dem ereignisbasierten Gateway warten wir auf das, was zuerst eintritt – eine Antwort oder das Fristende.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Antwort zur Frage: Ein XOR-Gateway entscheidet sofort anhand vorhandener Daten. Beim Eintreffen des Tokens liegt aber noch keine Antwort vor – die Hochschule muss warten, bis von außen etwas passiert. Genau das leistet das ereignisbasierte Gateway: Es wartet auf mehrere mögliche Ereignisse, und das zuerst eintretende gewinnt (Wettlauf). Nach dem Gateway stehen nur eintretende Zwischenereignisse oder Empfangsaufgaben. Dieses Muster – Nachricht oder Fristablauf – kommt in der Übungsaufgabe bei der Nachforderung von Unterlagen wieder vor.</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Das Prüfungsamt wartet in einer Empfangsaufgabe (heller Brief) auf die Abgabe. Zwei Dinge können währenddessen passieren: Die Bearbeitungszeit läuft ab (unterbrechend – das Warten endet, die Arbeit gilt als nicht bestanden) oder ein Verlängerungsantrag geht ein (nicht unterbrechend – das Warten auf die Abgabe geht weiter, parallel wird der Antrag geprüft). Antwort zur Frage: Die genehmigte Verlängerung müsste die Frist des Zeit-Randereignisses verschieben. Das Modell vereinfacht hier bewusst; in der Praxis würde man die Frist als Datenwert führen. Gute Gelegenheit zu zeigen, dass Modelle immer Vereinfachungen sind. In der Übungsaufgabe kommt ein nicht unterbrechendes Zeit-Randereignis vor (Erinnerung an die Fachprüferin).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Der Sequenzfluss darf Lanes überqueren (Übergabe zwischen Prüfungsamt und Prüfungsausschuss), aber niemals Pools. Pools kommunizieren nur über Nachrichten, weil sie eigenständige Organisationen sind, deren interne Abläufe man nicht steuert. Die Studierenden sind hier ein zugeklappter Pool: Wir modellieren nur die Sicht der Hochschule und wissen nicht, wie die Studierenden intern vorgehen. Nachrichtenflüsse enden am Pool-Rand oder an einem konkreten Element (Nachrichten-Startereignis, Empfangsaufgabe, Sendeaufgabe). Frage an die Gruppe: Wäre der Prüfungsausschuss besser ein eigener Pool? (Nein, er gehört zur Hochschule und wird von dort gesteuert.)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Diese Liste eignet sich als Prüfliste für die Abgabe der Übungsaufgabe. Die meisten Modellierungswerkzeuge verhindern Fehler 1 und 2 bereits beim Zeichnen (der Camunda Modeler wandelt etwa einen Sequenzfluss über Pool-Grenzen automatisch in einen Nachrichtenfluss um). Fehler 3 bis 6 erkennt kein Werkzeug – hier hilft nur, den Prozess mit einem Token gedanklich durchzuspielen.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Datenassoziationen sind gepunktete Pfeile: Zeigt der Pfeil auf das Datenobjekt, wird es erzeugt oder geändert (Output); zeigt er auf die Aufgabe, wird es gelesen (Input). Wichtig: Daten verändern den Ablauf nicht – das Token wandert nur über Sequenzflüsse. Das Datenobjekt existiert nur so lange wie die Prozessinstanz; der Datenspeicher (hier das Campus-Management-System) bleibt bestehen. Nebenbei sind drei Aufgabentypen zu sehen (Benutzer-, Service-, Sendeaufgabe) – Überleitung zur nächsten Folie.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Aufgabentypen sind optional – eine Aufgabe ohne Symbol ist immer korrekt. Sie lohnen sich, sobald man zeigen will, wo Menschen arbeiten und wo IT-Systeme. Weitere Typen (manuelle Aufgabe, Skriptaufgabe, Geschäftsregelaufgabe) gibt es, für die Einführung genügen diese vier. Die Mehrfachinstanz ist in der Übungsaufgabe relevant: Die fachliche Prüfung läuft für jedes beantragte Modul einmal. Eselsbrücke: Senkrechte Striche stehen nebeneinander (parallel), waagerechte untereinander (nacheinander).</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Teilprozesse strukturieren große Modelle: Auf der oberen Ebene steht „Arbeit begutachten“ als ein Schritt, die Details stehen im aufgeklappten Teilprozess oder – im Werkzeug – auf einer eigenen Ebene (im Camunda Modeler per Drill-down über das Pfeilsymbol). Der Teilprozess beginnt immer mit einem Blanko-Startereignis und endet mit einem Endereignis; danach geht es im übergeordneten Prozess weiter. Wichtig für die Übungsaufgabe: Die fachliche Prüfung wird in Aufgabe 2 zugeklappt und in Aufgabe 3 detailliert. Ein Teilprozess kann außerdem Randereignisse tragen, die dann für alle Schritte darin gelten.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Gemeinsame Übung als Brücke zur Hausaufgabe. Durchführung: 10 Minuten in Zweiergruppen, anschließend ein bis zwei Lösungen am Beamer zeigen lassen und mit der Musterlösung auf der nächsten Folie vergleichen. Typische Diskussionspunkte: Ist „Nachweis vollständig?“ eine Entscheidung (XOR) – ja. Laufen Status setzen und Bescheinigung versenden parallel – ja, laut Text „gleichzeitig“, also AND. Woher kommt der Antrag – von außen, also Nachrichten-Startereignis und zugeklappter Pool „Studierende“.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Mögliche Varianten, die ebenfalls korrekt sind: Statt der Sendeaufgabe „Antrag ablehnen“ eine Aufgabe „Antrag ablehnen“ plus Nachrichten-Endereignis „Ablehnung versendet“. Die Lane kann entfallen, wenn der Pool selbst „Studierendensekretariat“ heißt. Fehlerhaft wären dagegen: Sequenzfluss vom Pool Studierende in den Prozess, ein XOR statt AND zum Zusammenführen oder ein fehlendes Endereignis auf dem Nein-Pfad. Die .bpmn-Datei dieser Lösung kann im Camunda Modeler geöffnet und live verändert werden.</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Das Aufgabenblatt enthält die vollständige Fallbeschreibung in acht Schritten, eine Analysetabelle für Aufgabe 1, die Checkliste der Pflichtelemente für Aufgabe 2, die Beschreibung des Teilprozesses für Aufgabe 3, fünf Reflexionsfragen und eine optionale Zusatzaufgabe (Rücknahme des Antrags mit unterbrechendem Ereignis). Bezüge zu heute: ereignisbasiertes Gateway bei der Nachforderung (Folie 14), nicht unterbrechendes Zeit-Randereignis bei der Erinnerung (Folie 15), inklusives Gateway bei teilweiser Anerkennung (Folie 9), Mehrfachinstanz-Teilprozess je Modul (Folien 19 und 20).</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Abschlussfolie als Spickzettel – eignet sich auch zum Ausdrucken für die Bearbeitung der Übungsaufgabe. Zum Abschluss offene Fragen sammeln und auf das Aufgabenblatt sowie das Werkzeug (Camunda Modeler oder demo.bpmn.io) hinweisen.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36A8AF7-6C5A-B7A3-228A-06BE6235F8B2}"/>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ED87DB94-4577-DDF8-ED6E-89983784456A}"/>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5" name="Fußzeilenplatzhalter 4">
            <a:extLst>
              <a:ext uri="{FF2B5EF4-FFF2-40B4-BE49-F238E27FC236}">
                <a16:creationId xmlns:a16="http://schemas.microsoft.com/office/drawing/2014/main" id="{74DAB219-B5FF-AC35-6C7A-D65D6BC8F1AD}"/>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FE690F92-37A9-CD08-7EB8-649066B0E0C7}"/>
              </a:ext>
            </a:extLst>
          </p:cNvPr>
          <p:cNvSpPr>
            <a:spLocks noGrp="1"/>
          </p:cNvSpPr>
          <p:nvPr>
            <p:ph type="sldNum" sz="quarter" idx="12"/>
          </p:nvPr>
        </p:nvSpPr>
        <p:spPr/>
        <p:txBody>
          <a:bodyPr/>
          <a:lstStyle/>
          <a:p>
            <a:fld id="{10939345-BF37-7940-A564-825B7904D7BD}" type="slidenum">
              <a:rPr lang="de-DE" smtClean="0"/>
              <a:t>‹Nr.›</a:t>
            </a:fld>
            <a:endParaRPr lang="de-DE"/>
          </a:p>
        </p:txBody>
      </p:sp>
    </p:spTree>
    <p:extLst>
      <p:ext uri="{BB962C8B-B14F-4D97-AF65-F5344CB8AC3E}">
        <p14:creationId xmlns:p14="http://schemas.microsoft.com/office/powerpoint/2010/main" val="52499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842AFC7-A1DB-8752-4860-D70B76B78C3D}"/>
              </a:ext>
            </a:extLst>
          </p:cNvPr>
          <p:cNvSpPr>
            <a:spLocks noGrp="1"/>
          </p:cNvSpPr>
          <p:nvPr>
            <p:ph type="title"/>
          </p:nvPr>
        </p:nvSpPr>
        <p:spPr>
          <a:xfrm>
            <a:off x="838200" y="365125"/>
            <a:ext cx="9386232" cy="1325563"/>
          </a:xfrm>
          <a:prstGeom prst="rect">
            <a:avLst/>
          </a:prstGeom>
        </p:spPr>
        <p:txBody>
          <a:bodyPr/>
          <a:lstStyle/>
          <a:p>
            <a:r>
              <a:rPr lang="de-DE"/>
              <a:t>Mastertitelformat bearbeiten</a:t>
            </a:r>
          </a:p>
        </p:txBody>
      </p:sp>
      <p:sp>
        <p:nvSpPr>
          <p:cNvPr id="3" name="Inhaltsplatzhalter 2">
            <a:extLst>
              <a:ext uri="{FF2B5EF4-FFF2-40B4-BE49-F238E27FC236}">
                <a16:creationId xmlns:a16="http://schemas.microsoft.com/office/drawing/2014/main" id="{7AD4B24D-886F-7631-F7F8-FA1FEE7F8434}"/>
              </a:ext>
            </a:extLst>
          </p:cNvPr>
          <p:cNvSpPr>
            <a:spLocks noGrp="1"/>
          </p:cNvSpPr>
          <p:nvPr>
            <p:ph idx="1"/>
          </p:nvPr>
        </p:nvSpPr>
        <p:spPr>
          <a:xfrm>
            <a:off x="838200" y="1825625"/>
            <a:ext cx="10515600" cy="4351338"/>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a:extLst>
              <a:ext uri="{FF2B5EF4-FFF2-40B4-BE49-F238E27FC236}">
                <a16:creationId xmlns:a16="http://schemas.microsoft.com/office/drawing/2014/main" id="{F7803170-E38E-EBB6-763B-2F7896E5B757}"/>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F6D08564-DD23-F945-669B-02140F847630}"/>
              </a:ext>
            </a:extLst>
          </p:cNvPr>
          <p:cNvSpPr>
            <a:spLocks noGrp="1"/>
          </p:cNvSpPr>
          <p:nvPr>
            <p:ph type="sldNum" sz="quarter" idx="12"/>
          </p:nvPr>
        </p:nvSpPr>
        <p:spPr/>
        <p:txBody>
          <a:bodyPr/>
          <a:lstStyle/>
          <a:p>
            <a:fld id="{10939345-BF37-7940-A564-825B7904D7BD}" type="slidenum">
              <a:rPr lang="de-DE" smtClean="0"/>
              <a:t>‹Nr.›</a:t>
            </a:fld>
            <a:endParaRPr lang="de-DE"/>
          </a:p>
        </p:txBody>
      </p:sp>
    </p:spTree>
    <p:extLst>
      <p:ext uri="{BB962C8B-B14F-4D97-AF65-F5344CB8AC3E}">
        <p14:creationId xmlns:p14="http://schemas.microsoft.com/office/powerpoint/2010/main" val="2820003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0B8B351-F430-BF85-483A-8885A936C78D}"/>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E14D1982-07EF-D427-D9DF-3575F8416F84}"/>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5" name="Fußzeilenplatzhalter 4">
            <a:extLst>
              <a:ext uri="{FF2B5EF4-FFF2-40B4-BE49-F238E27FC236}">
                <a16:creationId xmlns:a16="http://schemas.microsoft.com/office/drawing/2014/main" id="{1EDA4D47-24E6-E7AF-5227-563F5ADF3AEE}"/>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01F97777-1EF3-28C3-E177-A5607DE8B2B3}"/>
              </a:ext>
            </a:extLst>
          </p:cNvPr>
          <p:cNvSpPr>
            <a:spLocks noGrp="1"/>
          </p:cNvSpPr>
          <p:nvPr>
            <p:ph type="sldNum" sz="quarter" idx="12"/>
          </p:nvPr>
        </p:nvSpPr>
        <p:spPr/>
        <p:txBody>
          <a:bodyPr/>
          <a:lstStyle/>
          <a:p>
            <a:fld id="{10939345-BF37-7940-A564-825B7904D7BD}" type="slidenum">
              <a:rPr lang="de-DE" smtClean="0"/>
              <a:t>‹Nr.›</a:t>
            </a:fld>
            <a:endParaRPr lang="de-DE"/>
          </a:p>
        </p:txBody>
      </p:sp>
    </p:spTree>
    <p:extLst>
      <p:ext uri="{BB962C8B-B14F-4D97-AF65-F5344CB8AC3E}">
        <p14:creationId xmlns:p14="http://schemas.microsoft.com/office/powerpoint/2010/main" val="2221566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A7B21-A353-52F6-C33F-14E73DCE382F}"/>
              </a:ext>
            </a:extLst>
          </p:cNvPr>
          <p:cNvSpPr>
            <a:spLocks noGrp="1"/>
          </p:cNvSpPr>
          <p:nvPr>
            <p:ph type="title"/>
          </p:nvPr>
        </p:nvSpPr>
        <p:spPr>
          <a:xfrm>
            <a:off x="838200" y="365125"/>
            <a:ext cx="9386232" cy="1325563"/>
          </a:xfrm>
          <a:prstGeom prst="rect">
            <a:avLst/>
          </a:prstGeom>
        </p:spPr>
        <p:txBody>
          <a:bodyPr/>
          <a:lstStyle/>
          <a:p>
            <a:r>
              <a:rPr lang="de-DE"/>
              <a:t>Mastertitelformat bearbeiten</a:t>
            </a:r>
          </a:p>
        </p:txBody>
      </p:sp>
      <p:sp>
        <p:nvSpPr>
          <p:cNvPr id="3" name="Inhaltsplatzhalter 2">
            <a:extLst>
              <a:ext uri="{FF2B5EF4-FFF2-40B4-BE49-F238E27FC236}">
                <a16:creationId xmlns:a16="http://schemas.microsoft.com/office/drawing/2014/main" id="{E2CDA3FD-6354-F6CB-9A9B-1454B82AE025}"/>
              </a:ext>
            </a:extLst>
          </p:cNvPr>
          <p:cNvSpPr>
            <a:spLocks noGrp="1"/>
          </p:cNvSpPr>
          <p:nvPr>
            <p:ph sz="half" idx="1"/>
          </p:nvPr>
        </p:nvSpPr>
        <p:spPr>
          <a:xfrm>
            <a:off x="838200" y="1825625"/>
            <a:ext cx="5181600" cy="4351338"/>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02E73D33-F78F-1B0E-E6B0-5560326F6E44}"/>
              </a:ext>
            </a:extLst>
          </p:cNvPr>
          <p:cNvSpPr>
            <a:spLocks noGrp="1"/>
          </p:cNvSpPr>
          <p:nvPr>
            <p:ph sz="half" idx="2"/>
          </p:nvPr>
        </p:nvSpPr>
        <p:spPr>
          <a:xfrm>
            <a:off x="6172200" y="1825625"/>
            <a:ext cx="5181600" cy="4351338"/>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a:extLst>
              <a:ext uri="{FF2B5EF4-FFF2-40B4-BE49-F238E27FC236}">
                <a16:creationId xmlns:a16="http://schemas.microsoft.com/office/drawing/2014/main" id="{1980C628-CAF5-0DF1-7F67-85B0F18A3508}"/>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E4F009A0-0746-FE15-1FCD-E59BDF9DA58A}"/>
              </a:ext>
            </a:extLst>
          </p:cNvPr>
          <p:cNvSpPr>
            <a:spLocks noGrp="1"/>
          </p:cNvSpPr>
          <p:nvPr>
            <p:ph type="sldNum" sz="quarter" idx="12"/>
          </p:nvPr>
        </p:nvSpPr>
        <p:spPr/>
        <p:txBody>
          <a:bodyPr/>
          <a:lstStyle/>
          <a:p>
            <a:fld id="{10939345-BF37-7940-A564-825B7904D7BD}" type="slidenum">
              <a:rPr lang="de-DE" smtClean="0"/>
              <a:t>‹Nr.›</a:t>
            </a:fld>
            <a:endParaRPr lang="de-DE"/>
          </a:p>
        </p:txBody>
      </p:sp>
    </p:spTree>
    <p:extLst>
      <p:ext uri="{BB962C8B-B14F-4D97-AF65-F5344CB8AC3E}">
        <p14:creationId xmlns:p14="http://schemas.microsoft.com/office/powerpoint/2010/main" val="7537986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CCE1005-4450-785C-01C2-D92431C639BD}"/>
              </a:ext>
            </a:extLst>
          </p:cNvPr>
          <p:cNvSpPr>
            <a:spLocks noGrp="1"/>
          </p:cNvSpPr>
          <p:nvPr>
            <p:ph type="title"/>
          </p:nvPr>
        </p:nvSpPr>
        <p:spPr>
          <a:xfrm>
            <a:off x="839788" y="365125"/>
            <a:ext cx="9386232" cy="1325563"/>
          </a:xfrm>
          <a:prstGeom prst="rect">
            <a:avLst/>
          </a:prstGeom>
        </p:spPr>
        <p:txBody>
          <a:bodyPr/>
          <a:lstStyle/>
          <a:p>
            <a:r>
              <a:rPr lang="de-DE"/>
              <a:t>Mastertitelformat bearbeiten</a:t>
            </a:r>
          </a:p>
        </p:txBody>
      </p:sp>
      <p:sp>
        <p:nvSpPr>
          <p:cNvPr id="3" name="Textplatzhalter 2">
            <a:extLst>
              <a:ext uri="{FF2B5EF4-FFF2-40B4-BE49-F238E27FC236}">
                <a16:creationId xmlns:a16="http://schemas.microsoft.com/office/drawing/2014/main" id="{9D8093C1-F898-005C-BF99-6E9CDD2994CE}"/>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F8461D08-BD51-0299-374E-A31253913390}"/>
              </a:ext>
            </a:extLst>
          </p:cNvPr>
          <p:cNvSpPr>
            <a:spLocks noGrp="1"/>
          </p:cNvSpPr>
          <p:nvPr>
            <p:ph sz="half" idx="2"/>
          </p:nvPr>
        </p:nvSpPr>
        <p:spPr>
          <a:xfrm>
            <a:off x="839788" y="2505075"/>
            <a:ext cx="5157787" cy="3684588"/>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213A42F0-629C-717A-FF53-9B2FB9C0D463}"/>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88CE6BE4-1E59-E2AC-222A-9C3B054B46EA}"/>
              </a:ext>
            </a:extLst>
          </p:cNvPr>
          <p:cNvSpPr>
            <a:spLocks noGrp="1"/>
          </p:cNvSpPr>
          <p:nvPr>
            <p:ph sz="quarter" idx="4"/>
          </p:nvPr>
        </p:nvSpPr>
        <p:spPr>
          <a:xfrm>
            <a:off x="6172200" y="2505075"/>
            <a:ext cx="5183188" cy="3684588"/>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Fußzeilenplatzhalter 7">
            <a:extLst>
              <a:ext uri="{FF2B5EF4-FFF2-40B4-BE49-F238E27FC236}">
                <a16:creationId xmlns:a16="http://schemas.microsoft.com/office/drawing/2014/main" id="{2C53963D-FC1E-F387-FD56-081CD22CE9EF}"/>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42160118-76DB-B772-2E32-4AB8D9297005}"/>
              </a:ext>
            </a:extLst>
          </p:cNvPr>
          <p:cNvSpPr>
            <a:spLocks noGrp="1"/>
          </p:cNvSpPr>
          <p:nvPr>
            <p:ph type="sldNum" sz="quarter" idx="12"/>
          </p:nvPr>
        </p:nvSpPr>
        <p:spPr/>
        <p:txBody>
          <a:bodyPr/>
          <a:lstStyle/>
          <a:p>
            <a:fld id="{10939345-BF37-7940-A564-825B7904D7BD}" type="slidenum">
              <a:rPr lang="de-DE" smtClean="0"/>
              <a:t>‹Nr.›</a:t>
            </a:fld>
            <a:endParaRPr lang="de-DE"/>
          </a:p>
        </p:txBody>
      </p:sp>
    </p:spTree>
    <p:extLst>
      <p:ext uri="{BB962C8B-B14F-4D97-AF65-F5344CB8AC3E}">
        <p14:creationId xmlns:p14="http://schemas.microsoft.com/office/powerpoint/2010/main" val="1148383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10AD011-955A-C198-1A7C-5521D0B37003}"/>
              </a:ext>
            </a:extLst>
          </p:cNvPr>
          <p:cNvSpPr>
            <a:spLocks noGrp="1"/>
          </p:cNvSpPr>
          <p:nvPr>
            <p:ph type="title"/>
          </p:nvPr>
        </p:nvSpPr>
        <p:spPr>
          <a:xfrm>
            <a:off x="838200" y="365125"/>
            <a:ext cx="9386232" cy="1325563"/>
          </a:xfrm>
          <a:prstGeom prst="rect">
            <a:avLst/>
          </a:prstGeom>
        </p:spPr>
        <p:txBody>
          <a:bodyPr/>
          <a:lstStyle/>
          <a:p>
            <a:r>
              <a:rPr lang="de-DE"/>
              <a:t>Mastertitelformat bearbeiten</a:t>
            </a:r>
          </a:p>
        </p:txBody>
      </p:sp>
      <p:sp>
        <p:nvSpPr>
          <p:cNvPr id="4" name="Fußzeilenplatzhalter 3">
            <a:extLst>
              <a:ext uri="{FF2B5EF4-FFF2-40B4-BE49-F238E27FC236}">
                <a16:creationId xmlns:a16="http://schemas.microsoft.com/office/drawing/2014/main" id="{FC5F3CD8-EC60-2361-1D7D-D106BCC7B2DC}"/>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212431F3-14A8-70AD-D9D5-73D64C59C169}"/>
              </a:ext>
            </a:extLst>
          </p:cNvPr>
          <p:cNvSpPr>
            <a:spLocks noGrp="1"/>
          </p:cNvSpPr>
          <p:nvPr>
            <p:ph type="sldNum" sz="quarter" idx="12"/>
          </p:nvPr>
        </p:nvSpPr>
        <p:spPr/>
        <p:txBody>
          <a:bodyPr/>
          <a:lstStyle/>
          <a:p>
            <a:fld id="{10939345-BF37-7940-A564-825B7904D7BD}" type="slidenum">
              <a:rPr lang="de-DE" smtClean="0"/>
              <a:t>‹Nr.›</a:t>
            </a:fld>
            <a:endParaRPr lang="de-DE"/>
          </a:p>
        </p:txBody>
      </p:sp>
    </p:spTree>
    <p:extLst>
      <p:ext uri="{BB962C8B-B14F-4D97-AF65-F5344CB8AC3E}">
        <p14:creationId xmlns:p14="http://schemas.microsoft.com/office/powerpoint/2010/main" val="900640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FCDEA539-0099-B174-2B6C-450DAB984E87}"/>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0EEEEEDF-7469-BDF3-E0F9-D04BF7DB01AA}"/>
              </a:ext>
            </a:extLst>
          </p:cNvPr>
          <p:cNvSpPr>
            <a:spLocks noGrp="1"/>
          </p:cNvSpPr>
          <p:nvPr>
            <p:ph type="sldNum" sz="quarter" idx="12"/>
          </p:nvPr>
        </p:nvSpPr>
        <p:spPr/>
        <p:txBody>
          <a:bodyPr/>
          <a:lstStyle/>
          <a:p>
            <a:fld id="{10939345-BF37-7940-A564-825B7904D7BD}" type="slidenum">
              <a:rPr lang="de-DE" smtClean="0"/>
              <a:t>‹Nr.›</a:t>
            </a:fld>
            <a:endParaRPr lang="de-DE"/>
          </a:p>
        </p:txBody>
      </p:sp>
    </p:spTree>
    <p:extLst>
      <p:ext uri="{BB962C8B-B14F-4D97-AF65-F5344CB8AC3E}">
        <p14:creationId xmlns:p14="http://schemas.microsoft.com/office/powerpoint/2010/main" val="13848854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AB3A27-EBCB-9974-7D8E-58F086049727}"/>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D688E2BF-FBAE-5747-C4C3-19F244D8DE6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B3AFD6EE-532F-3036-880D-4B7A3A57FA72}"/>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6" name="Fußzeilenplatzhalter 5">
            <a:extLst>
              <a:ext uri="{FF2B5EF4-FFF2-40B4-BE49-F238E27FC236}">
                <a16:creationId xmlns:a16="http://schemas.microsoft.com/office/drawing/2014/main" id="{E10DA90B-31C4-EC20-C188-E81764333618}"/>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DE8B76EB-2F0D-A273-7605-728B46E1FC1B}"/>
              </a:ext>
            </a:extLst>
          </p:cNvPr>
          <p:cNvSpPr>
            <a:spLocks noGrp="1"/>
          </p:cNvSpPr>
          <p:nvPr>
            <p:ph type="sldNum" sz="quarter" idx="12"/>
          </p:nvPr>
        </p:nvSpPr>
        <p:spPr/>
        <p:txBody>
          <a:bodyPr/>
          <a:lstStyle/>
          <a:p>
            <a:fld id="{10939345-BF37-7940-A564-825B7904D7BD}" type="slidenum">
              <a:rPr lang="de-DE" smtClean="0"/>
              <a:t>‹Nr.›</a:t>
            </a:fld>
            <a:endParaRPr lang="de-DE"/>
          </a:p>
        </p:txBody>
      </p:sp>
    </p:spTree>
    <p:extLst>
      <p:ext uri="{BB962C8B-B14F-4D97-AF65-F5344CB8AC3E}">
        <p14:creationId xmlns:p14="http://schemas.microsoft.com/office/powerpoint/2010/main" val="1595160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355B82-4198-CCBF-8C63-5E3ADE23B53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E9759987-474E-2461-E155-7910AF99621E}"/>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a:t>Bild durch Klicken auf Symbol hinzufügen</a:t>
            </a:r>
          </a:p>
        </p:txBody>
      </p:sp>
      <p:sp>
        <p:nvSpPr>
          <p:cNvPr id="4" name="Textplatzhalter 3">
            <a:extLst>
              <a:ext uri="{FF2B5EF4-FFF2-40B4-BE49-F238E27FC236}">
                <a16:creationId xmlns:a16="http://schemas.microsoft.com/office/drawing/2014/main" id="{F6E80114-9560-D23D-CE85-736E69F2911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6" name="Fußzeilenplatzhalter 5">
            <a:extLst>
              <a:ext uri="{FF2B5EF4-FFF2-40B4-BE49-F238E27FC236}">
                <a16:creationId xmlns:a16="http://schemas.microsoft.com/office/drawing/2014/main" id="{17903219-4654-F9C7-1AFC-6923281ACBE7}"/>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EAC1122B-7417-4967-D78B-8EFF1B208E91}"/>
              </a:ext>
            </a:extLst>
          </p:cNvPr>
          <p:cNvSpPr>
            <a:spLocks noGrp="1"/>
          </p:cNvSpPr>
          <p:nvPr>
            <p:ph type="sldNum" sz="quarter" idx="12"/>
          </p:nvPr>
        </p:nvSpPr>
        <p:spPr/>
        <p:txBody>
          <a:bodyPr/>
          <a:lstStyle/>
          <a:p>
            <a:fld id="{10939345-BF37-7940-A564-825B7904D7BD}" type="slidenum">
              <a:rPr lang="de-DE" smtClean="0"/>
              <a:t>‹Nr.›</a:t>
            </a:fld>
            <a:endParaRPr lang="de-DE"/>
          </a:p>
        </p:txBody>
      </p:sp>
    </p:spTree>
    <p:extLst>
      <p:ext uri="{BB962C8B-B14F-4D97-AF65-F5344CB8AC3E}">
        <p14:creationId xmlns:p14="http://schemas.microsoft.com/office/powerpoint/2010/main" val="1729021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02C447-BD8B-EF92-B3C8-5146164322B0}"/>
              </a:ext>
            </a:extLst>
          </p:cNvPr>
          <p:cNvSpPr>
            <a:spLocks noGrp="1"/>
          </p:cNvSpPr>
          <p:nvPr>
            <p:ph type="title"/>
          </p:nvPr>
        </p:nvSpPr>
        <p:spPr>
          <a:xfrm>
            <a:off x="838200" y="365125"/>
            <a:ext cx="9386232" cy="1325563"/>
          </a:xfrm>
          <a:prstGeom prst="rect">
            <a:avLst/>
          </a:prstGeom>
        </p:spPr>
        <p:txBody>
          <a:bodyPr/>
          <a:lstStyle/>
          <a:p>
            <a:r>
              <a:rPr lang="de-DE"/>
              <a:t>Mastertitelformat bearbeiten</a:t>
            </a:r>
          </a:p>
        </p:txBody>
      </p:sp>
      <p:sp>
        <p:nvSpPr>
          <p:cNvPr id="3" name="Vertikaler Textplatzhalter 2">
            <a:extLst>
              <a:ext uri="{FF2B5EF4-FFF2-40B4-BE49-F238E27FC236}">
                <a16:creationId xmlns:a16="http://schemas.microsoft.com/office/drawing/2014/main" id="{2C028236-1B83-E942-7A5B-A1DDD16398B0}"/>
              </a:ext>
            </a:extLst>
          </p:cNvPr>
          <p:cNvSpPr>
            <a:spLocks noGrp="1"/>
          </p:cNvSpPr>
          <p:nvPr>
            <p:ph type="body" orient="vert" idx="1"/>
          </p:nvPr>
        </p:nvSpPr>
        <p:spPr>
          <a:xfrm>
            <a:off x="838200" y="1825625"/>
            <a:ext cx="10515600" cy="4351338"/>
          </a:xfrm>
          <a:prstGeom prst="rect">
            <a:avLst/>
          </a:prstGeo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a:extLst>
              <a:ext uri="{FF2B5EF4-FFF2-40B4-BE49-F238E27FC236}">
                <a16:creationId xmlns:a16="http://schemas.microsoft.com/office/drawing/2014/main" id="{250F62DB-359B-033D-96A6-E07BA281D287}"/>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618404FD-4083-DCD7-902E-58F7A25529FE}"/>
              </a:ext>
            </a:extLst>
          </p:cNvPr>
          <p:cNvSpPr>
            <a:spLocks noGrp="1"/>
          </p:cNvSpPr>
          <p:nvPr>
            <p:ph type="sldNum" sz="quarter" idx="12"/>
          </p:nvPr>
        </p:nvSpPr>
        <p:spPr/>
        <p:txBody>
          <a:bodyPr/>
          <a:lstStyle/>
          <a:p>
            <a:fld id="{10939345-BF37-7940-A564-825B7904D7BD}" type="slidenum">
              <a:rPr lang="de-DE" smtClean="0"/>
              <a:t>‹Nr.›</a:t>
            </a:fld>
            <a:endParaRPr lang="de-DE"/>
          </a:p>
        </p:txBody>
      </p:sp>
    </p:spTree>
    <p:extLst>
      <p:ext uri="{BB962C8B-B14F-4D97-AF65-F5344CB8AC3E}">
        <p14:creationId xmlns:p14="http://schemas.microsoft.com/office/powerpoint/2010/main" val="1271801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6434FE2E-F9EA-0438-4E72-EB1A9CA96A71}"/>
              </a:ext>
            </a:extLst>
          </p:cNvPr>
          <p:cNvSpPr>
            <a:spLocks noGrp="1"/>
          </p:cNvSpPr>
          <p:nvPr>
            <p:ph type="title" orient="vert"/>
          </p:nvPr>
        </p:nvSpPr>
        <p:spPr>
          <a:xfrm>
            <a:off x="8724900" y="365125"/>
            <a:ext cx="2628900" cy="5811838"/>
          </a:xfrm>
          <a:prstGeom prst="rect">
            <a:avLst/>
          </a:prstGeo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24622F5E-39FA-54FB-91B3-217B567D15A8}"/>
              </a:ext>
            </a:extLst>
          </p:cNvPr>
          <p:cNvSpPr>
            <a:spLocks noGrp="1"/>
          </p:cNvSpPr>
          <p:nvPr>
            <p:ph type="body" orient="vert" idx="1"/>
          </p:nvPr>
        </p:nvSpPr>
        <p:spPr>
          <a:xfrm>
            <a:off x="838200" y="365125"/>
            <a:ext cx="7734300" cy="5811838"/>
          </a:xfrm>
          <a:prstGeom prst="rect">
            <a:avLst/>
          </a:prstGeo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a:extLst>
              <a:ext uri="{FF2B5EF4-FFF2-40B4-BE49-F238E27FC236}">
                <a16:creationId xmlns:a16="http://schemas.microsoft.com/office/drawing/2014/main" id="{A863F912-236D-842A-0C4A-0574171C400B}"/>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7E37E454-4DB8-1D6E-E4BF-99A23BA60477}"/>
              </a:ext>
            </a:extLst>
          </p:cNvPr>
          <p:cNvSpPr>
            <a:spLocks noGrp="1"/>
          </p:cNvSpPr>
          <p:nvPr>
            <p:ph type="sldNum" sz="quarter" idx="12"/>
          </p:nvPr>
        </p:nvSpPr>
        <p:spPr/>
        <p:txBody>
          <a:bodyPr/>
          <a:lstStyle/>
          <a:p>
            <a:fld id="{10939345-BF37-7940-A564-825B7904D7BD}" type="slidenum">
              <a:rPr lang="de-DE" smtClean="0"/>
              <a:t>‹Nr.›</a:t>
            </a:fld>
            <a:endParaRPr lang="de-DE"/>
          </a:p>
        </p:txBody>
      </p:sp>
    </p:spTree>
    <p:extLst>
      <p:ext uri="{BB962C8B-B14F-4D97-AF65-F5344CB8AC3E}">
        <p14:creationId xmlns:p14="http://schemas.microsoft.com/office/powerpoint/2010/main" val="32764460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D49E5DA8-DD1C-29B4-B29D-42784C915576}"/>
              </a:ext>
            </a:extLst>
          </p:cNvPr>
          <p:cNvPicPr>
            <a:picLocks noChangeAspect="1"/>
          </p:cNvPicPr>
          <p:nvPr userDrawn="1"/>
        </p:nvPicPr>
        <p:blipFill>
          <a:blip r:embed="rId13"/>
          <a:stretch>
            <a:fillRect/>
          </a:stretch>
        </p:blipFill>
        <p:spPr>
          <a:xfrm>
            <a:off x="11288485" y="380997"/>
            <a:ext cx="465365" cy="465365"/>
          </a:xfrm>
          <a:prstGeom prst="rect">
            <a:avLst/>
          </a:prstGeom>
        </p:spPr>
      </p:pic>
      <p:pic>
        <p:nvPicPr>
          <p:cNvPr id="8" name="Grafik 7">
            <a:extLst>
              <a:ext uri="{FF2B5EF4-FFF2-40B4-BE49-F238E27FC236}">
                <a16:creationId xmlns:a16="http://schemas.microsoft.com/office/drawing/2014/main" id="{3BFB212E-4C43-137A-9D18-145CB06DC33E}"/>
              </a:ext>
            </a:extLst>
          </p:cNvPr>
          <p:cNvPicPr>
            <a:picLocks noChangeAspect="1"/>
          </p:cNvPicPr>
          <p:nvPr userDrawn="1"/>
        </p:nvPicPr>
        <p:blipFill>
          <a:blip>
            <a:extLst>
              <a:ext uri="{96DAC541-7B7A-43D3-8B79-37D633B846F1}">
                <asvg:svgBlip xmlns:asvg="http://schemas.microsoft.com/office/drawing/2016/SVG/main" r:embed="rId14"/>
              </a:ext>
            </a:extLst>
          </a:blip>
          <a:stretch>
            <a:fillRect/>
          </a:stretch>
        </p:blipFill>
        <p:spPr>
          <a:xfrm>
            <a:off x="10424432" y="359552"/>
            <a:ext cx="552450" cy="508254"/>
          </a:xfrm>
          <a:prstGeom prst="rect">
            <a:avLst/>
          </a:prstGeom>
        </p:spPr>
      </p:pic>
      <p:sp>
        <p:nvSpPr>
          <p:cNvPr id="9" name="Textfeld 8">
            <a:extLst>
              <a:ext uri="{FF2B5EF4-FFF2-40B4-BE49-F238E27FC236}">
                <a16:creationId xmlns:a16="http://schemas.microsoft.com/office/drawing/2014/main" id="{F7A077C5-0756-8180-EC95-DE76402F624A}"/>
              </a:ext>
            </a:extLst>
          </p:cNvPr>
          <p:cNvSpPr txBox="1"/>
          <p:nvPr userDrawn="1"/>
        </p:nvSpPr>
        <p:spPr>
          <a:xfrm>
            <a:off x="239486" y="6370349"/>
            <a:ext cx="2263761" cy="276999"/>
          </a:xfrm>
          <a:prstGeom prst="rect">
            <a:avLst/>
          </a:prstGeom>
          <a:noFill/>
        </p:spPr>
        <p:txBody>
          <a:bodyPr wrap="none" rtlCol="0">
            <a:spAutoFit/>
          </a:bodyPr>
          <a:lstStyle/>
          <a:p>
            <a:r>
              <a:rPr lang="de-DE" sz="1200" dirty="0"/>
              <a:t>© 2026 - Hochschule der Medien</a:t>
            </a:r>
          </a:p>
        </p:txBody>
      </p:sp>
      <p:sp>
        <p:nvSpPr>
          <p:cNvPr id="20" name="Fußzeilenplatzhalter"/>
          <p:cNvSpPr>
            <a:spLocks noGrp="1"/>
          </p:cNvSpPr>
          <p:nvPr>
            <p:ph type="ftr" sz="quarter" idx="3"/>
          </p:nvPr>
        </p:nvSpPr>
        <p:spPr>
          <a:xfrm>
            <a:off x="4038600" y="6370349"/>
            <a:ext cx="4114800" cy="276999"/>
          </a:xfrm>
          <a:prstGeom prst="rect">
            <a:avLst/>
          </a:prstGeom>
        </p:spPr>
        <p:txBody>
          <a:bodyPr vert="horz" lIns="91440" tIns="45720" rIns="91440" bIns="45720" rtlCol="0" anchor="t"/>
          <a:lstStyle>
            <a:lvl1pPr algn="ctr">
              <a:defRPr sz="1200">
                <a:solidFill>
                  <a:schemeClr val="tx1"/>
                </a:solidFill>
                <a:latin typeface="+mn-lt"/>
                <a:ea typeface="+mn-ea"/>
                <a:cs typeface="+mn-cs"/>
              </a:defRPr>
            </a:lvl1pPr>
          </a:lstStyle>
          <a:p>
            <a:endParaRPr lang="de-DE"/>
          </a:p>
        </p:txBody>
      </p:sp>
      <p:sp>
        <p:nvSpPr>
          <p:cNvPr id="21" name="Foliennummernplatzhalter"/>
          <p:cNvSpPr>
            <a:spLocks noGrp="1"/>
          </p:cNvSpPr>
          <p:nvPr>
            <p:ph type="sldNum" sz="quarter" idx="4"/>
          </p:nvPr>
        </p:nvSpPr>
        <p:spPr>
          <a:xfrm>
            <a:off x="9209314" y="6370349"/>
            <a:ext cx="2743200" cy="276999"/>
          </a:xfrm>
          <a:prstGeom prst="rect">
            <a:avLst/>
          </a:prstGeom>
        </p:spPr>
        <p:txBody>
          <a:bodyPr vert="horz" lIns="91440" tIns="45720" rIns="91440" bIns="45720" rtlCol="0" anchor="t"/>
          <a:lstStyle>
            <a:lvl1pPr algn="r">
              <a:defRPr sz="1200">
                <a:solidFill>
                  <a:schemeClr val="tx1"/>
                </a:solidFill>
                <a:latin typeface="+mn-lt"/>
                <a:ea typeface="+mn-ea"/>
                <a:cs typeface="+mn-cs"/>
              </a:defRPr>
            </a:lvl1pPr>
          </a:lstStyle>
          <a:p>
            <a:fld id="{10939345-BF37-7940-A564-825B7904D7BD}" type="slidenum">
              <a:rPr lang="de-DE"/>
              <a:t>‹Nr.›</a:t>
            </a:fld>
            <a:endParaRPr lang="de-DE"/>
          </a:p>
        </p:txBody>
      </p:sp>
    </p:spTree>
    <p:extLst>
      <p:ext uri="{BB962C8B-B14F-4D97-AF65-F5344CB8AC3E}">
        <p14:creationId xmlns:p14="http://schemas.microsoft.com/office/powerpoint/2010/main" val="31207978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37.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4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image" Target="../media/image55.png"/><Relationship Id="rId3" Type="http://schemas.openxmlformats.org/officeDocument/2006/relationships/image" Target="../media/image45.png"/><Relationship Id="rId7" Type="http://schemas.openxmlformats.org/officeDocument/2006/relationships/image" Target="../media/image49.png"/><Relationship Id="rId12" Type="http://schemas.openxmlformats.org/officeDocument/2006/relationships/image" Target="../media/image54.png"/><Relationship Id="rId17" Type="http://schemas.openxmlformats.org/officeDocument/2006/relationships/image" Target="../media/image59.png"/><Relationship Id="rId2" Type="http://schemas.openxmlformats.org/officeDocument/2006/relationships/notesSlide" Target="../notesSlides/notesSlide24.xml"/><Relationship Id="rId16" Type="http://schemas.openxmlformats.org/officeDocument/2006/relationships/image" Target="../media/image58.png"/><Relationship Id="rId1" Type="http://schemas.openxmlformats.org/officeDocument/2006/relationships/slideLayout" Target="../slideLayouts/slideLayout6.xml"/><Relationship Id="rId6" Type="http://schemas.openxmlformats.org/officeDocument/2006/relationships/image" Target="../media/image48.png"/><Relationship Id="rId11" Type="http://schemas.openxmlformats.org/officeDocument/2006/relationships/image" Target="../media/image53.png"/><Relationship Id="rId5" Type="http://schemas.openxmlformats.org/officeDocument/2006/relationships/image" Target="../media/image47.png"/><Relationship Id="rId15" Type="http://schemas.openxmlformats.org/officeDocument/2006/relationships/image" Target="../media/image57.png"/><Relationship Id="rId10" Type="http://schemas.openxmlformats.org/officeDocument/2006/relationships/image" Target="../media/image52.png"/><Relationship Id="rId4" Type="http://schemas.openxmlformats.org/officeDocument/2006/relationships/image" Target="../media/image46.png"/><Relationship Id="rId9" Type="http://schemas.openxmlformats.org/officeDocument/2006/relationships/image" Target="../media/image51.png"/><Relationship Id="rId14"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err="1"/>
              <a:t>Prozesse</a:t>
            </a:r>
            <a:r>
              <a:rPr dirty="0"/>
              <a:t> </a:t>
            </a:r>
            <a:r>
              <a:rPr dirty="0" err="1"/>
              <a:t>modellieren</a:t>
            </a:r>
            <a:r>
              <a:rPr dirty="0"/>
              <a:t> </a:t>
            </a:r>
            <a:r>
              <a:rPr dirty="0" err="1"/>
              <a:t>mit</a:t>
            </a:r>
            <a:r>
              <a:rPr dirty="0"/>
              <a:t> BPMN 2.0</a:t>
            </a:r>
          </a:p>
        </p:txBody>
      </p:sp>
      <p:sp>
        <p:nvSpPr>
          <p:cNvPr id="3" name="Subtitle 2"/>
          <p:cNvSpPr>
            <a:spLocks noGrp="1"/>
          </p:cNvSpPr>
          <p:nvPr>
            <p:ph type="subTitle" idx="1"/>
          </p:nvPr>
        </p:nvSpPr>
        <p:spPr/>
        <p:txBody>
          <a:bodyPr/>
          <a:lstStyle/>
          <a:p>
            <a:r>
              <a:rPr dirty="0"/>
              <a:t>Die </a:t>
            </a:r>
            <a:r>
              <a:rPr dirty="0" err="1"/>
              <a:t>wichtigsten</a:t>
            </a:r>
            <a:r>
              <a:rPr dirty="0"/>
              <a:t> </a:t>
            </a:r>
            <a:r>
              <a:rPr dirty="0" err="1"/>
              <a:t>Elemente</a:t>
            </a:r>
            <a:r>
              <a:rPr dirty="0"/>
              <a:t> an </a:t>
            </a:r>
            <a:r>
              <a:rPr dirty="0" err="1"/>
              <a:t>Beispielen</a:t>
            </a:r>
            <a:r>
              <a:rPr dirty="0"/>
              <a:t> </a:t>
            </a:r>
            <a:r>
              <a:rPr dirty="0" err="1"/>
              <a:t>aus</a:t>
            </a:r>
            <a:r>
              <a:rPr dirty="0"/>
              <a:t> der </a:t>
            </a:r>
            <a:r>
              <a:rPr dirty="0" err="1"/>
              <a:t>Hochschulverwaltung</a:t>
            </a:r>
            <a:endParaRPr dirty="0"/>
          </a:p>
          <a:p>
            <a:endParaRPr lang="de-DE" sz="1800" dirty="0"/>
          </a:p>
          <a:p>
            <a:endParaRPr lang="de-DE" sz="1800" dirty="0"/>
          </a:p>
          <a:p>
            <a:r>
              <a:rPr lang="de-DE" sz="1800" dirty="0"/>
              <a:t>Projekt „KI und Verwaltung“</a:t>
            </a:r>
          </a:p>
          <a:p>
            <a:endParaRPr lang="de-DE" sz="1800" dirty="0"/>
          </a:p>
          <a:p>
            <a:r>
              <a:rPr lang="de-DE" sz="1800" dirty="0"/>
              <a:t>Prof. Dr. Jan </a:t>
            </a:r>
            <a:r>
              <a:rPr lang="de-DE" sz="1800" dirty="0" err="1"/>
              <a:t>Kirenz</a:t>
            </a:r>
            <a:r>
              <a:rPr lang="de-DE" sz="1800" dirty="0"/>
              <a:t> / Prof. Dr. Stephan Wilczek</a:t>
            </a:r>
          </a:p>
        </p:txBody>
      </p:sp>
      <p:pic>
        <p:nvPicPr>
          <p:cNvPr id="4" name="BPMN-Schmuckgrafik" descr="cover_0.png"/>
          <p:cNvPicPr>
            <a:picLocks noChangeAspect="1"/>
          </p:cNvPicPr>
          <p:nvPr/>
        </p:nvPicPr>
        <p:blipFill>
          <a:blip r:embed="rId3"/>
          <a:stretch>
            <a:fillRect/>
          </a:stretch>
        </p:blipFill>
        <p:spPr>
          <a:xfrm>
            <a:off x="4451048" y="1111250"/>
            <a:ext cx="3289905" cy="863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90000"/>
          <a:lstStyle/>
          <a:p>
            <a:r>
              <a:rPr dirty="0" err="1"/>
              <a:t>Lernziele</a:t>
            </a:r>
            <a:endParaRPr dirty="0"/>
          </a:p>
        </p:txBody>
      </p:sp>
      <p:sp>
        <p:nvSpPr>
          <p:cNvPr id="3" name="Dachzeile"/>
          <p:cNvSpPr txBox="1"/>
          <p:nvPr/>
        </p:nvSpPr>
        <p:spPr>
          <a:xfrm>
            <a:off x="976968" y="1003300"/>
            <a:ext cx="9386232" cy="215444"/>
          </a:xfrm>
          <a:prstGeom prst="rect">
            <a:avLst/>
          </a:prstGeom>
          <a:noFill/>
        </p:spPr>
        <p:txBody>
          <a:bodyPr wrap="square" lIns="0" tIns="0" rIns="0" bIns="0" anchor="t">
            <a:spAutoFit/>
          </a:bodyPr>
          <a:lstStyle/>
          <a:p>
            <a:pPr algn="l"/>
            <a:r>
              <a:rPr sz="1400" b="1" dirty="0">
                <a:solidFill>
                  <a:srgbClr val="A65200"/>
                </a:solidFill>
              </a:rPr>
              <a:t>Was Sie </a:t>
            </a:r>
            <a:r>
              <a:rPr sz="1400" b="1" dirty="0" err="1">
                <a:solidFill>
                  <a:srgbClr val="A65200"/>
                </a:solidFill>
              </a:rPr>
              <a:t>nach</a:t>
            </a:r>
            <a:r>
              <a:rPr sz="1400" b="1" dirty="0">
                <a:solidFill>
                  <a:srgbClr val="A65200"/>
                </a:solidFill>
              </a:rPr>
              <a:t> </a:t>
            </a:r>
            <a:r>
              <a:rPr sz="1400" b="1" dirty="0" err="1">
                <a:solidFill>
                  <a:srgbClr val="A65200"/>
                </a:solidFill>
              </a:rPr>
              <a:t>dieser</a:t>
            </a:r>
            <a:r>
              <a:rPr sz="1400" b="1" dirty="0">
                <a:solidFill>
                  <a:srgbClr val="A65200"/>
                </a:solidFill>
              </a:rPr>
              <a:t> </a:t>
            </a:r>
            <a:r>
              <a:rPr sz="1400" b="1" dirty="0" err="1">
                <a:solidFill>
                  <a:srgbClr val="A65200"/>
                </a:solidFill>
              </a:rPr>
              <a:t>Sitzung</a:t>
            </a:r>
            <a:r>
              <a:rPr sz="1400" b="1" dirty="0">
                <a:solidFill>
                  <a:srgbClr val="A65200"/>
                </a:solidFill>
              </a:rPr>
              <a:t> </a:t>
            </a:r>
            <a:r>
              <a:rPr sz="1400" b="1" dirty="0" err="1">
                <a:solidFill>
                  <a:srgbClr val="A65200"/>
                </a:solidFill>
              </a:rPr>
              <a:t>können</a:t>
            </a:r>
            <a:endParaRPr sz="1400" b="1" dirty="0">
              <a:solidFill>
                <a:srgbClr val="A65200"/>
              </a:solidFill>
            </a:endParaRPr>
          </a:p>
        </p:txBody>
      </p:sp>
      <p:sp>
        <p:nvSpPr>
          <p:cNvPr id="1001" name="Fußzeilenplatzhalter 3">
            <a:extLst>
              <a:ext uri="{FF2B5EF4-FFF2-40B4-BE49-F238E27FC236}">
                <a16:creationId xmlns:a16="http://schemas.microsoft.com/office/drawing/2014/main" id="{FC5F3CD8-EC60-2361-1D7D-D106BCC7B2DC}"/>
              </a:ext>
            </a:extLst>
          </p:cNvPr>
          <p:cNvSpPr>
            <a:spLocks noGrp="1"/>
          </p:cNvSpPr>
          <p:nvPr>
            <p:ph type="ftr" sz="quarter" idx="11"/>
          </p:nvPr>
        </p:nvSpPr>
        <p:spPr/>
        <p:txBody>
          <a:bodyPr/>
          <a:lstStyle/>
          <a:p>
            <a:r>
              <a:rPr lang="de-DE">
                <a:latin typeface="+mn-lt"/>
              </a:rPr>
              <a:t>Einführung in BPMN 2.0</a:t>
            </a:r>
          </a:p>
        </p:txBody>
      </p:sp>
      <p:sp>
        <p:nvSpPr>
          <p:cNvPr id="1002" name="Foliennummernplatzhalter 4">
            <a:extLst>
              <a:ext uri="{FF2B5EF4-FFF2-40B4-BE49-F238E27FC236}">
                <a16:creationId xmlns:a16="http://schemas.microsoft.com/office/drawing/2014/main" id="{212431F3-14A8-70AD-D9D5-73D64C59C169}"/>
              </a:ext>
            </a:extLst>
          </p:cNvPr>
          <p:cNvSpPr>
            <a:spLocks noGrp="1"/>
          </p:cNvSpPr>
          <p:nvPr>
            <p:ph type="sldNum" sz="quarter" idx="12"/>
          </p:nvPr>
        </p:nvSpPr>
        <p:spPr/>
        <p:txBody>
          <a:bodyPr/>
          <a:lstStyle/>
          <a:p>
            <a:fld id="{10939345-BF37-7940-A564-825B7904D7BD}" type="slidenum">
              <a:rPr lang="de-DE" smtClean="0">
                <a:latin typeface="+mn-lt"/>
              </a:rPr>
              <a:t>2</a:t>
            </a:fld>
            <a:endParaRPr lang="de-DE"/>
          </a:p>
        </p:txBody>
      </p:sp>
      <p:sp>
        <p:nvSpPr>
          <p:cNvPr id="1003" name="Ziel 1"/>
          <p:cNvSpPr/>
          <p:nvPr/>
        </p:nvSpPr>
        <p:spPr>
          <a:xfrm>
            <a:off x="838200" y="1384300"/>
            <a:ext cx="5156200" cy="1905000"/>
          </a:xfrm>
          <a:prstGeom prst="roundRect">
            <a:avLst>
              <a:gd name="adj" fmla="val 5333"/>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sp>
        <p:nvSpPr>
          <p:cNvPr id="1004" name="TextBox 1003"/>
          <p:cNvSpPr txBox="1"/>
          <p:nvPr/>
        </p:nvSpPr>
        <p:spPr>
          <a:xfrm>
            <a:off x="1066800" y="1384300"/>
            <a:ext cx="444500" cy="1905000"/>
          </a:xfrm>
          <a:prstGeom prst="rect">
            <a:avLst/>
          </a:prstGeom>
          <a:noFill/>
        </p:spPr>
        <p:txBody>
          <a:bodyPr wrap="square" lIns="0" tIns="0" rIns="0" bIns="0" anchor="ctr">
            <a:spAutoFit/>
          </a:bodyPr>
          <a:lstStyle/>
          <a:p>
            <a:pPr algn="l"/>
            <a:r>
              <a:rPr sz="4000" b="1">
                <a:solidFill>
                  <a:srgbClr val="A65200"/>
                </a:solidFill>
              </a:rPr>
              <a:t>1</a:t>
            </a:r>
          </a:p>
        </p:txBody>
      </p:sp>
      <p:sp>
        <p:nvSpPr>
          <p:cNvPr id="1005" name="TextBox 1004"/>
          <p:cNvSpPr txBox="1"/>
          <p:nvPr/>
        </p:nvSpPr>
        <p:spPr>
          <a:xfrm>
            <a:off x="1600200" y="1384300"/>
            <a:ext cx="4165600" cy="1905000"/>
          </a:xfrm>
          <a:prstGeom prst="rect">
            <a:avLst/>
          </a:prstGeom>
          <a:noFill/>
        </p:spPr>
        <p:txBody>
          <a:bodyPr wrap="square" lIns="0" tIns="0" rIns="0" bIns="0" anchor="ctr">
            <a:spAutoFit/>
          </a:bodyPr>
          <a:lstStyle/>
          <a:p>
            <a:pPr algn="l">
              <a:lnSpc>
                <a:spcPct val="110000"/>
              </a:lnSpc>
            </a:pPr>
            <a:r>
              <a:rPr sz="2000" b="0">
                <a:solidFill>
                  <a:srgbClr val="000057"/>
                </a:solidFill>
              </a:rPr>
              <a:t>Eine Prozessbeschreibung lesen und in BPMN-Elemente übersetzen</a:t>
            </a:r>
          </a:p>
        </p:txBody>
      </p:sp>
      <p:sp>
        <p:nvSpPr>
          <p:cNvPr id="1006" name="Ziel 2"/>
          <p:cNvSpPr/>
          <p:nvPr/>
        </p:nvSpPr>
        <p:spPr>
          <a:xfrm>
            <a:off x="6197600" y="1384300"/>
            <a:ext cx="5156200" cy="1905000"/>
          </a:xfrm>
          <a:prstGeom prst="roundRect">
            <a:avLst>
              <a:gd name="adj" fmla="val 5333"/>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sp>
        <p:nvSpPr>
          <p:cNvPr id="1007" name="TextBox 1006"/>
          <p:cNvSpPr txBox="1"/>
          <p:nvPr/>
        </p:nvSpPr>
        <p:spPr>
          <a:xfrm>
            <a:off x="6426200" y="1384300"/>
            <a:ext cx="444500" cy="1905000"/>
          </a:xfrm>
          <a:prstGeom prst="rect">
            <a:avLst/>
          </a:prstGeom>
          <a:noFill/>
        </p:spPr>
        <p:txBody>
          <a:bodyPr wrap="square" lIns="0" tIns="0" rIns="0" bIns="0" anchor="ctr">
            <a:spAutoFit/>
          </a:bodyPr>
          <a:lstStyle/>
          <a:p>
            <a:pPr algn="l"/>
            <a:r>
              <a:rPr sz="4000" b="1">
                <a:solidFill>
                  <a:srgbClr val="A65200"/>
                </a:solidFill>
              </a:rPr>
              <a:t>2</a:t>
            </a:r>
          </a:p>
        </p:txBody>
      </p:sp>
      <p:sp>
        <p:nvSpPr>
          <p:cNvPr id="1008" name="TextBox 1007"/>
          <p:cNvSpPr txBox="1"/>
          <p:nvPr/>
        </p:nvSpPr>
        <p:spPr>
          <a:xfrm>
            <a:off x="6959600" y="1384300"/>
            <a:ext cx="4165600" cy="1905000"/>
          </a:xfrm>
          <a:prstGeom prst="rect">
            <a:avLst/>
          </a:prstGeom>
          <a:noFill/>
        </p:spPr>
        <p:txBody>
          <a:bodyPr wrap="square" lIns="0" tIns="0" rIns="0" bIns="0" anchor="ctr">
            <a:spAutoFit/>
          </a:bodyPr>
          <a:lstStyle/>
          <a:p>
            <a:pPr algn="l">
              <a:lnSpc>
                <a:spcPct val="110000"/>
              </a:lnSpc>
            </a:pPr>
            <a:r>
              <a:rPr sz="2000" b="0">
                <a:solidFill>
                  <a:srgbClr val="000057"/>
                </a:solidFill>
              </a:rPr>
              <a:t>Aktivitäten, Ereignisse und Gateways fachlich korrekt einsetzen</a:t>
            </a:r>
          </a:p>
        </p:txBody>
      </p:sp>
      <p:sp>
        <p:nvSpPr>
          <p:cNvPr id="1009" name="Ziel 3"/>
          <p:cNvSpPr/>
          <p:nvPr/>
        </p:nvSpPr>
        <p:spPr>
          <a:xfrm>
            <a:off x="838200" y="3492500"/>
            <a:ext cx="5156200" cy="1905000"/>
          </a:xfrm>
          <a:prstGeom prst="roundRect">
            <a:avLst>
              <a:gd name="adj" fmla="val 5333"/>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sp>
        <p:nvSpPr>
          <p:cNvPr id="1010" name="TextBox 1009"/>
          <p:cNvSpPr txBox="1"/>
          <p:nvPr/>
        </p:nvSpPr>
        <p:spPr>
          <a:xfrm>
            <a:off x="1066800" y="3492500"/>
            <a:ext cx="444500" cy="1905000"/>
          </a:xfrm>
          <a:prstGeom prst="rect">
            <a:avLst/>
          </a:prstGeom>
          <a:noFill/>
        </p:spPr>
        <p:txBody>
          <a:bodyPr wrap="square" lIns="0" tIns="0" rIns="0" bIns="0" anchor="ctr">
            <a:spAutoFit/>
          </a:bodyPr>
          <a:lstStyle/>
          <a:p>
            <a:pPr algn="l"/>
            <a:r>
              <a:rPr sz="4000" b="1">
                <a:solidFill>
                  <a:srgbClr val="A65200"/>
                </a:solidFill>
              </a:rPr>
              <a:t>3</a:t>
            </a:r>
          </a:p>
        </p:txBody>
      </p:sp>
      <p:sp>
        <p:nvSpPr>
          <p:cNvPr id="1011" name="TextBox 1010"/>
          <p:cNvSpPr txBox="1"/>
          <p:nvPr/>
        </p:nvSpPr>
        <p:spPr>
          <a:xfrm>
            <a:off x="1600200" y="3492500"/>
            <a:ext cx="4165600" cy="1905000"/>
          </a:xfrm>
          <a:prstGeom prst="rect">
            <a:avLst/>
          </a:prstGeom>
          <a:noFill/>
        </p:spPr>
        <p:txBody>
          <a:bodyPr wrap="square" lIns="0" tIns="0" rIns="0" bIns="0" anchor="ctr">
            <a:spAutoFit/>
          </a:bodyPr>
          <a:lstStyle/>
          <a:p>
            <a:pPr algn="l">
              <a:lnSpc>
                <a:spcPct val="110000"/>
              </a:lnSpc>
            </a:pPr>
            <a:r>
              <a:rPr sz="2000" b="0">
                <a:solidFill>
                  <a:srgbClr val="000057"/>
                </a:solidFill>
              </a:rPr>
              <a:t>Zuständigkeiten mit Pools und Lanes, Kommunikation mit Nachrichtenflüssen abbilden</a:t>
            </a:r>
          </a:p>
        </p:txBody>
      </p:sp>
      <p:sp>
        <p:nvSpPr>
          <p:cNvPr id="1012" name="Ziel 4"/>
          <p:cNvSpPr/>
          <p:nvPr/>
        </p:nvSpPr>
        <p:spPr>
          <a:xfrm>
            <a:off x="6197600" y="3492500"/>
            <a:ext cx="5156200" cy="1905000"/>
          </a:xfrm>
          <a:prstGeom prst="roundRect">
            <a:avLst>
              <a:gd name="adj" fmla="val 5333"/>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sp>
        <p:nvSpPr>
          <p:cNvPr id="1013" name="TextBox 1012"/>
          <p:cNvSpPr txBox="1"/>
          <p:nvPr/>
        </p:nvSpPr>
        <p:spPr>
          <a:xfrm>
            <a:off x="6426200" y="3492500"/>
            <a:ext cx="444500" cy="1905000"/>
          </a:xfrm>
          <a:prstGeom prst="rect">
            <a:avLst/>
          </a:prstGeom>
          <a:noFill/>
        </p:spPr>
        <p:txBody>
          <a:bodyPr wrap="square" lIns="0" tIns="0" rIns="0" bIns="0" anchor="ctr">
            <a:spAutoFit/>
          </a:bodyPr>
          <a:lstStyle/>
          <a:p>
            <a:pPr algn="l"/>
            <a:r>
              <a:rPr sz="4000" b="1">
                <a:solidFill>
                  <a:srgbClr val="A65200"/>
                </a:solidFill>
              </a:rPr>
              <a:t>4</a:t>
            </a:r>
          </a:p>
        </p:txBody>
      </p:sp>
      <p:sp>
        <p:nvSpPr>
          <p:cNvPr id="1014" name="TextBox 1013"/>
          <p:cNvSpPr txBox="1"/>
          <p:nvPr/>
        </p:nvSpPr>
        <p:spPr>
          <a:xfrm>
            <a:off x="6959600" y="3492500"/>
            <a:ext cx="4165600" cy="1905000"/>
          </a:xfrm>
          <a:prstGeom prst="rect">
            <a:avLst/>
          </a:prstGeom>
          <a:noFill/>
        </p:spPr>
        <p:txBody>
          <a:bodyPr wrap="square" lIns="0" tIns="0" rIns="0" bIns="0" anchor="ctr">
            <a:spAutoFit/>
          </a:bodyPr>
          <a:lstStyle/>
          <a:p>
            <a:pPr algn="l">
              <a:lnSpc>
                <a:spcPct val="110000"/>
              </a:lnSpc>
            </a:pPr>
            <a:r>
              <a:rPr sz="2000" b="0">
                <a:solidFill>
                  <a:srgbClr val="000057"/>
                </a:solidFill>
              </a:rPr>
              <a:t>Ein eigenes Kollaborationsdiagramm im Modellierungswerkzeug erstellen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Warum</a:t>
            </a:r>
            <a:r>
              <a:rPr dirty="0"/>
              <a:t> BPMN?</a:t>
            </a:r>
          </a:p>
        </p:txBody>
      </p:sp>
      <p:sp>
        <p:nvSpPr>
          <p:cNvPr id="3" name="Dachzeile"/>
          <p:cNvSpPr txBox="1"/>
          <p:nvPr/>
        </p:nvSpPr>
        <p:spPr>
          <a:xfrm>
            <a:off x="976968" y="1003300"/>
            <a:ext cx="9386232" cy="215444"/>
          </a:xfrm>
          <a:prstGeom prst="rect">
            <a:avLst/>
          </a:prstGeom>
          <a:noFill/>
        </p:spPr>
        <p:txBody>
          <a:bodyPr wrap="square" lIns="0" tIns="0" rIns="0" bIns="0" anchor="t">
            <a:spAutoFit/>
          </a:bodyPr>
          <a:lstStyle/>
          <a:p>
            <a:pPr algn="l"/>
            <a:r>
              <a:rPr sz="1400" b="1" dirty="0">
                <a:solidFill>
                  <a:srgbClr val="A65200"/>
                </a:solidFill>
              </a:rPr>
              <a:t>Eine </a:t>
            </a:r>
            <a:r>
              <a:rPr sz="1400" b="1" dirty="0" err="1">
                <a:solidFill>
                  <a:srgbClr val="A65200"/>
                </a:solidFill>
              </a:rPr>
              <a:t>gemeinsame</a:t>
            </a:r>
            <a:r>
              <a:rPr sz="1400" b="1" dirty="0">
                <a:solidFill>
                  <a:srgbClr val="A65200"/>
                </a:solidFill>
              </a:rPr>
              <a:t> </a:t>
            </a:r>
            <a:r>
              <a:rPr sz="1400" b="1" dirty="0" err="1">
                <a:solidFill>
                  <a:srgbClr val="A65200"/>
                </a:solidFill>
              </a:rPr>
              <a:t>Sprache</a:t>
            </a:r>
            <a:r>
              <a:rPr sz="1400" b="1" dirty="0">
                <a:solidFill>
                  <a:srgbClr val="A65200"/>
                </a:solidFill>
              </a:rPr>
              <a:t> für </a:t>
            </a:r>
            <a:r>
              <a:rPr sz="1400" b="1" dirty="0" err="1">
                <a:solidFill>
                  <a:srgbClr val="A65200"/>
                </a:solidFill>
              </a:rPr>
              <a:t>Fachbereich</a:t>
            </a:r>
            <a:r>
              <a:rPr sz="1400" b="1" dirty="0">
                <a:solidFill>
                  <a:srgbClr val="A65200"/>
                </a:solidFill>
              </a:rPr>
              <a:t> und IT</a:t>
            </a:r>
          </a:p>
        </p:txBody>
      </p:sp>
      <p:sp>
        <p:nvSpPr>
          <p:cNvPr id="1003" name="Fußzeilenplatzhalter 3">
            <a:extLst>
              <a:ext uri="{FF2B5EF4-FFF2-40B4-BE49-F238E27FC236}">
                <a16:creationId xmlns:a16="http://schemas.microsoft.com/office/drawing/2014/main" id="{FC5F3CD8-EC60-2361-1D7D-D106BCC7B2DC}"/>
              </a:ext>
            </a:extLst>
          </p:cNvPr>
          <p:cNvSpPr>
            <a:spLocks noGrp="1"/>
          </p:cNvSpPr>
          <p:nvPr>
            <p:ph type="ftr" sz="quarter" idx="11"/>
          </p:nvPr>
        </p:nvSpPr>
        <p:spPr/>
        <p:txBody>
          <a:bodyPr/>
          <a:lstStyle/>
          <a:p>
            <a:r>
              <a:rPr lang="de-DE">
                <a:latin typeface="+mn-lt"/>
              </a:rPr>
              <a:t>Einführung in BPMN 2.0</a:t>
            </a:r>
          </a:p>
        </p:txBody>
      </p:sp>
      <p:sp>
        <p:nvSpPr>
          <p:cNvPr id="1004" name="Foliennummernplatzhalter 4">
            <a:extLst>
              <a:ext uri="{FF2B5EF4-FFF2-40B4-BE49-F238E27FC236}">
                <a16:creationId xmlns:a16="http://schemas.microsoft.com/office/drawing/2014/main" id="{212431F3-14A8-70AD-D9D5-73D64C59C169}"/>
              </a:ext>
            </a:extLst>
          </p:cNvPr>
          <p:cNvSpPr>
            <a:spLocks noGrp="1"/>
          </p:cNvSpPr>
          <p:nvPr>
            <p:ph type="sldNum" sz="quarter" idx="12"/>
          </p:nvPr>
        </p:nvSpPr>
        <p:spPr/>
        <p:txBody>
          <a:bodyPr/>
          <a:lstStyle/>
          <a:p>
            <a:fld id="{10939345-BF37-7940-A564-825B7904D7BD}" type="slidenum">
              <a:rPr lang="de-DE" smtClean="0">
                <a:latin typeface="+mn-lt"/>
              </a:rPr>
              <a:t>3</a:t>
            </a:fld>
            <a:endParaRPr lang="de-DE"/>
          </a:p>
        </p:txBody>
      </p:sp>
      <p:sp>
        <p:nvSpPr>
          <p:cNvPr id="1005" name="Standardisiert"/>
          <p:cNvSpPr/>
          <p:nvPr/>
        </p:nvSpPr>
        <p:spPr>
          <a:xfrm>
            <a:off x="838200" y="1384300"/>
            <a:ext cx="3369733" cy="2095500"/>
          </a:xfrm>
          <a:prstGeom prst="roundRect">
            <a:avLst>
              <a:gd name="adj" fmla="val 4848"/>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l">
              <a:spcAft>
                <a:spcPts val="400"/>
              </a:spcAft>
            </a:pPr>
            <a:r>
              <a:rPr sz="2000" b="1" dirty="0" err="1">
                <a:solidFill>
                  <a:srgbClr val="000057"/>
                </a:solidFill>
              </a:rPr>
              <a:t>Standardisiert</a:t>
            </a:r>
            <a:endParaRPr sz="2000" b="1" dirty="0">
              <a:solidFill>
                <a:srgbClr val="000057"/>
              </a:solidFill>
            </a:endParaRPr>
          </a:p>
          <a:p>
            <a:pPr algn="l">
              <a:lnSpc>
                <a:spcPct val="110000"/>
              </a:lnSpc>
              <a:spcAft>
                <a:spcPts val="400"/>
              </a:spcAft>
            </a:pPr>
            <a:r>
              <a:rPr sz="1600" b="0" dirty="0" err="1">
                <a:solidFill>
                  <a:srgbClr val="3F4847"/>
                </a:solidFill>
              </a:rPr>
              <a:t>Gepflegt</a:t>
            </a:r>
            <a:r>
              <a:rPr sz="1600" b="0" dirty="0">
                <a:solidFill>
                  <a:srgbClr val="3F4847"/>
                </a:solidFill>
              </a:rPr>
              <a:t> von der Object Management Group (OMG). Version 2.0 </a:t>
            </a:r>
            <a:r>
              <a:rPr sz="1600" b="0" dirty="0" err="1">
                <a:solidFill>
                  <a:srgbClr val="3F4847"/>
                </a:solidFill>
              </a:rPr>
              <a:t>gibt</a:t>
            </a:r>
            <a:r>
              <a:rPr sz="1600" b="0" dirty="0">
                <a:solidFill>
                  <a:srgbClr val="3F4847"/>
                </a:solidFill>
              </a:rPr>
              <a:t> es </a:t>
            </a:r>
            <a:r>
              <a:rPr sz="1600" b="0" dirty="0" err="1">
                <a:solidFill>
                  <a:srgbClr val="3F4847"/>
                </a:solidFill>
              </a:rPr>
              <a:t>seit</a:t>
            </a:r>
            <a:r>
              <a:rPr sz="1600" b="0" dirty="0">
                <a:solidFill>
                  <a:srgbClr val="3F4847"/>
                </a:solidFill>
              </a:rPr>
              <a:t> 2011, </a:t>
            </a:r>
            <a:r>
              <a:rPr sz="1600" b="0" dirty="0" err="1">
                <a:solidFill>
                  <a:srgbClr val="3F4847"/>
                </a:solidFill>
              </a:rPr>
              <a:t>sie</a:t>
            </a:r>
            <a:r>
              <a:rPr sz="1600" b="0" dirty="0">
                <a:solidFill>
                  <a:srgbClr val="3F4847"/>
                </a:solidFill>
              </a:rPr>
              <a:t> </a:t>
            </a:r>
            <a:r>
              <a:rPr sz="1600" b="0" dirty="0" err="1">
                <a:solidFill>
                  <a:srgbClr val="3F4847"/>
                </a:solidFill>
              </a:rPr>
              <a:t>ist</a:t>
            </a:r>
            <a:r>
              <a:rPr sz="1600" b="0" dirty="0">
                <a:solidFill>
                  <a:srgbClr val="3F4847"/>
                </a:solidFill>
              </a:rPr>
              <a:t> </a:t>
            </a:r>
            <a:r>
              <a:rPr sz="1600" b="0" dirty="0" err="1">
                <a:solidFill>
                  <a:srgbClr val="3F4847"/>
                </a:solidFill>
              </a:rPr>
              <a:t>auch</a:t>
            </a:r>
            <a:r>
              <a:rPr sz="1600" b="0" dirty="0">
                <a:solidFill>
                  <a:srgbClr val="3F4847"/>
                </a:solidFill>
              </a:rPr>
              <a:t> </a:t>
            </a:r>
            <a:r>
              <a:rPr sz="1600" b="0" dirty="0" err="1">
                <a:solidFill>
                  <a:srgbClr val="3F4847"/>
                </a:solidFill>
              </a:rPr>
              <a:t>als</a:t>
            </a:r>
            <a:r>
              <a:rPr sz="1600" b="0" dirty="0">
                <a:solidFill>
                  <a:srgbClr val="3F4847"/>
                </a:solidFill>
              </a:rPr>
              <a:t> ISO/IEC 19510 </a:t>
            </a:r>
            <a:r>
              <a:rPr sz="1600" b="0" dirty="0" err="1">
                <a:solidFill>
                  <a:srgbClr val="3F4847"/>
                </a:solidFill>
              </a:rPr>
              <a:t>genormt</a:t>
            </a:r>
            <a:r>
              <a:rPr sz="1600" b="0" dirty="0">
                <a:solidFill>
                  <a:srgbClr val="3F4847"/>
                </a:solidFill>
              </a:rPr>
              <a:t>.</a:t>
            </a:r>
          </a:p>
        </p:txBody>
      </p:sp>
      <p:sp>
        <p:nvSpPr>
          <p:cNvPr id="1006" name="Verständlich"/>
          <p:cNvSpPr/>
          <p:nvPr/>
        </p:nvSpPr>
        <p:spPr>
          <a:xfrm>
            <a:off x="4411133" y="1384300"/>
            <a:ext cx="3369733" cy="2095500"/>
          </a:xfrm>
          <a:prstGeom prst="roundRect">
            <a:avLst>
              <a:gd name="adj" fmla="val 4848"/>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l">
              <a:spcAft>
                <a:spcPts val="400"/>
              </a:spcAft>
            </a:pPr>
            <a:r>
              <a:rPr sz="2000" b="1">
                <a:solidFill>
                  <a:srgbClr val="000057"/>
                </a:solidFill>
              </a:rPr>
              <a:t>Verständlich</a:t>
            </a:r>
          </a:p>
          <a:p>
            <a:pPr algn="l">
              <a:lnSpc>
                <a:spcPct val="110000"/>
              </a:lnSpc>
              <a:spcAft>
                <a:spcPts val="400"/>
              </a:spcAft>
            </a:pPr>
            <a:r>
              <a:rPr sz="1600" b="0">
                <a:solidFill>
                  <a:srgbClr val="3F4847"/>
                </a:solidFill>
              </a:rPr>
              <a:t>Eine überschaubare Grundnotation reicht für die meisten fachlichen Modelle. Details kommen nur bei Bedarf hinzu.</a:t>
            </a:r>
          </a:p>
        </p:txBody>
      </p:sp>
      <p:sp>
        <p:nvSpPr>
          <p:cNvPr id="1007" name="Ausführbar"/>
          <p:cNvSpPr/>
          <p:nvPr/>
        </p:nvSpPr>
        <p:spPr>
          <a:xfrm>
            <a:off x="7984067" y="1384300"/>
            <a:ext cx="3369733" cy="2095500"/>
          </a:xfrm>
          <a:prstGeom prst="roundRect">
            <a:avLst>
              <a:gd name="adj" fmla="val 4848"/>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l">
              <a:spcAft>
                <a:spcPts val="400"/>
              </a:spcAft>
            </a:pPr>
            <a:r>
              <a:rPr sz="2000" b="1">
                <a:solidFill>
                  <a:srgbClr val="000057"/>
                </a:solidFill>
              </a:rPr>
              <a:t>Ausführbar</a:t>
            </a:r>
          </a:p>
          <a:p>
            <a:pPr algn="l">
              <a:lnSpc>
                <a:spcPct val="110000"/>
              </a:lnSpc>
              <a:spcAft>
                <a:spcPts val="400"/>
              </a:spcAft>
            </a:pPr>
            <a:r>
              <a:rPr sz="1600" b="0">
                <a:solidFill>
                  <a:srgbClr val="3F4847"/>
                </a:solidFill>
              </a:rPr>
              <a:t>Prozess-Engines wie Camunda führen BPMN-Modelle direkt aus. Das Fachmodell wird zur Grundlage der Automatisierung.</a:t>
            </a:r>
          </a:p>
        </p:txBody>
      </p:sp>
      <p:sp>
        <p:nvSpPr>
          <p:cNvPr id="1008" name="Anwendungsfeld"/>
          <p:cNvSpPr/>
          <p:nvPr/>
        </p:nvSpPr>
        <p:spPr>
          <a:xfrm>
            <a:off x="838200" y="5048250"/>
            <a:ext cx="10515600" cy="952500"/>
          </a:xfrm>
          <a:prstGeom prst="roundRect">
            <a:avLst>
              <a:gd name="adj" fmla="val 10666"/>
            </a:avLst>
          </a:prstGeom>
          <a:solidFill>
            <a:srgbClr val="000057"/>
          </a:solidFill>
          <a:ln>
            <a:noFill/>
          </a:ln>
          <a:effectLst/>
        </p:spPr>
        <p:style>
          <a:lnRef idx="1">
            <a:schemeClr val="accent1"/>
          </a:lnRef>
          <a:fillRef idx="3">
            <a:schemeClr val="accent1"/>
          </a:fillRef>
          <a:effectRef idx="2">
            <a:schemeClr val="accent1"/>
          </a:effectRef>
          <a:fontRef idx="minor">
            <a:schemeClr val="lt1"/>
          </a:fontRef>
        </p:style>
        <p:txBody>
          <a:bodyPr wrap="square" lIns="254000" tIns="127000" rIns="254000" bIns="127000" rtlCol="0" anchor="ctr"/>
          <a:lstStyle/>
          <a:p>
            <a:pPr algn="l"/>
            <a:r>
              <a:rPr sz="2000" b="0">
                <a:solidFill>
                  <a:srgbClr val="FFFFFF"/>
                </a:solidFill>
              </a:rPr>
              <a:t>Unser Anwendungsfeld heute: die Hochschulverwaltung – viele Beteiligte, Fristen und Bescheide, aus dem Studium vertraut.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Vier Gruppen von </a:t>
            </a:r>
            <a:r>
              <a:rPr dirty="0" err="1"/>
              <a:t>Elementen</a:t>
            </a:r>
            <a:endParaRPr dirty="0"/>
          </a:p>
        </p:txBody>
      </p:sp>
      <p:sp>
        <p:nvSpPr>
          <p:cNvPr id="3" name="Dachzeile"/>
          <p:cNvSpPr txBox="1"/>
          <p:nvPr/>
        </p:nvSpPr>
        <p:spPr>
          <a:xfrm>
            <a:off x="976968" y="1003300"/>
            <a:ext cx="9386232" cy="215444"/>
          </a:xfrm>
          <a:prstGeom prst="rect">
            <a:avLst/>
          </a:prstGeom>
          <a:noFill/>
        </p:spPr>
        <p:txBody>
          <a:bodyPr wrap="square" lIns="0" tIns="0" rIns="0" bIns="0" anchor="t">
            <a:spAutoFit/>
          </a:bodyPr>
          <a:lstStyle/>
          <a:p>
            <a:pPr algn="l"/>
            <a:r>
              <a:rPr sz="1400" b="1" dirty="0" err="1">
                <a:solidFill>
                  <a:srgbClr val="A65200"/>
                </a:solidFill>
              </a:rPr>
              <a:t>Überblick</a:t>
            </a:r>
            <a:endParaRPr sz="1400" b="1" dirty="0">
              <a:solidFill>
                <a:srgbClr val="A65200"/>
              </a:solidFill>
            </a:endParaRPr>
          </a:p>
        </p:txBody>
      </p:sp>
      <p:sp>
        <p:nvSpPr>
          <p:cNvPr id="1005" name="Fußzeilenplatzhalter 3">
            <a:extLst>
              <a:ext uri="{FF2B5EF4-FFF2-40B4-BE49-F238E27FC236}">
                <a16:creationId xmlns:a16="http://schemas.microsoft.com/office/drawing/2014/main" id="{FC5F3CD8-EC60-2361-1D7D-D106BCC7B2DC}"/>
              </a:ext>
            </a:extLst>
          </p:cNvPr>
          <p:cNvSpPr>
            <a:spLocks noGrp="1"/>
          </p:cNvSpPr>
          <p:nvPr>
            <p:ph type="ftr" sz="quarter" idx="11"/>
          </p:nvPr>
        </p:nvSpPr>
        <p:spPr/>
        <p:txBody>
          <a:bodyPr/>
          <a:lstStyle/>
          <a:p>
            <a:r>
              <a:rPr lang="de-DE">
                <a:latin typeface="+mn-lt"/>
              </a:rPr>
              <a:t>Einführung in BPMN 2.0</a:t>
            </a:r>
          </a:p>
        </p:txBody>
      </p:sp>
      <p:sp>
        <p:nvSpPr>
          <p:cNvPr id="1006" name="Foliennummernplatzhalter 4">
            <a:extLst>
              <a:ext uri="{FF2B5EF4-FFF2-40B4-BE49-F238E27FC236}">
                <a16:creationId xmlns:a16="http://schemas.microsoft.com/office/drawing/2014/main" id="{212431F3-14A8-70AD-D9D5-73D64C59C169}"/>
              </a:ext>
            </a:extLst>
          </p:cNvPr>
          <p:cNvSpPr>
            <a:spLocks noGrp="1"/>
          </p:cNvSpPr>
          <p:nvPr>
            <p:ph type="sldNum" sz="quarter" idx="12"/>
          </p:nvPr>
        </p:nvSpPr>
        <p:spPr/>
        <p:txBody>
          <a:bodyPr/>
          <a:lstStyle/>
          <a:p>
            <a:fld id="{10939345-BF37-7940-A564-825B7904D7BD}" type="slidenum">
              <a:rPr lang="de-DE" smtClean="0">
                <a:latin typeface="+mn-lt"/>
              </a:rPr>
              <a:t>4</a:t>
            </a:fld>
            <a:endParaRPr lang="de-DE"/>
          </a:p>
        </p:txBody>
      </p:sp>
      <p:sp>
        <p:nvSpPr>
          <p:cNvPr id="1007" name="Flussobjekte"/>
          <p:cNvSpPr/>
          <p:nvPr/>
        </p:nvSpPr>
        <p:spPr>
          <a:xfrm>
            <a:off x="838200" y="1384300"/>
            <a:ext cx="2495550" cy="3556000"/>
          </a:xfrm>
          <a:prstGeom prst="roundRect">
            <a:avLst>
              <a:gd name="adj" fmla="val 4071"/>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sp>
        <p:nvSpPr>
          <p:cNvPr id="1008" name="TextBox 1007"/>
          <p:cNvSpPr txBox="1"/>
          <p:nvPr/>
        </p:nvSpPr>
        <p:spPr>
          <a:xfrm>
            <a:off x="1016000" y="1562100"/>
            <a:ext cx="2139950" cy="254000"/>
          </a:xfrm>
          <a:prstGeom prst="rect">
            <a:avLst/>
          </a:prstGeom>
          <a:noFill/>
        </p:spPr>
        <p:txBody>
          <a:bodyPr wrap="square" lIns="0" tIns="0" rIns="0" bIns="0" anchor="t">
            <a:spAutoFit/>
          </a:bodyPr>
          <a:lstStyle/>
          <a:p>
            <a:pPr algn="l"/>
            <a:r>
              <a:rPr sz="1800" b="1">
                <a:solidFill>
                  <a:srgbClr val="A65200"/>
                </a:solidFill>
              </a:rPr>
              <a:t>Flussobjekte</a:t>
            </a:r>
          </a:p>
        </p:txBody>
      </p:sp>
      <p:pic>
        <p:nvPicPr>
          <p:cNvPr id="1009" name="Ereignis" descr="gruppen_0.png"/>
          <p:cNvPicPr>
            <a:picLocks noChangeAspect="1"/>
          </p:cNvPicPr>
          <p:nvPr/>
        </p:nvPicPr>
        <p:blipFill>
          <a:blip r:embed="rId3"/>
          <a:stretch>
            <a:fillRect/>
          </a:stretch>
        </p:blipFill>
        <p:spPr>
          <a:xfrm>
            <a:off x="990600" y="2019300"/>
            <a:ext cx="609600" cy="387350"/>
          </a:xfrm>
          <a:prstGeom prst="rect">
            <a:avLst/>
          </a:prstGeom>
        </p:spPr>
      </p:pic>
      <p:sp>
        <p:nvSpPr>
          <p:cNvPr id="1010" name="TextBox 1009"/>
          <p:cNvSpPr txBox="1"/>
          <p:nvPr/>
        </p:nvSpPr>
        <p:spPr>
          <a:xfrm>
            <a:off x="1676400" y="2019300"/>
            <a:ext cx="1555750" cy="387350"/>
          </a:xfrm>
          <a:prstGeom prst="rect">
            <a:avLst/>
          </a:prstGeom>
          <a:noFill/>
        </p:spPr>
        <p:txBody>
          <a:bodyPr wrap="square" lIns="0" tIns="0" rIns="0" bIns="0" anchor="ctr">
            <a:spAutoFit/>
          </a:bodyPr>
          <a:lstStyle/>
          <a:p>
            <a:pPr algn="l"/>
            <a:r>
              <a:rPr sz="1500" b="0">
                <a:solidFill>
                  <a:srgbClr val="000057"/>
                </a:solidFill>
              </a:rPr>
              <a:t>Ereignis</a:t>
            </a:r>
          </a:p>
        </p:txBody>
      </p:sp>
      <p:pic>
        <p:nvPicPr>
          <p:cNvPr id="1011" name="Aktivität" descr="gruppen_1.png"/>
          <p:cNvPicPr>
            <a:picLocks noChangeAspect="1"/>
          </p:cNvPicPr>
          <p:nvPr/>
        </p:nvPicPr>
        <p:blipFill>
          <a:blip r:embed="rId4"/>
          <a:stretch>
            <a:fillRect/>
          </a:stretch>
        </p:blipFill>
        <p:spPr>
          <a:xfrm>
            <a:off x="990600" y="2844800"/>
            <a:ext cx="609600" cy="387350"/>
          </a:xfrm>
          <a:prstGeom prst="rect">
            <a:avLst/>
          </a:prstGeom>
        </p:spPr>
      </p:pic>
      <p:sp>
        <p:nvSpPr>
          <p:cNvPr id="1012" name="TextBox 1011"/>
          <p:cNvSpPr txBox="1"/>
          <p:nvPr/>
        </p:nvSpPr>
        <p:spPr>
          <a:xfrm>
            <a:off x="1676400" y="2844800"/>
            <a:ext cx="1555750" cy="387350"/>
          </a:xfrm>
          <a:prstGeom prst="rect">
            <a:avLst/>
          </a:prstGeom>
          <a:noFill/>
        </p:spPr>
        <p:txBody>
          <a:bodyPr wrap="square" lIns="0" tIns="0" rIns="0" bIns="0" anchor="ctr">
            <a:spAutoFit/>
          </a:bodyPr>
          <a:lstStyle/>
          <a:p>
            <a:pPr algn="l"/>
            <a:r>
              <a:rPr sz="1500" b="0">
                <a:solidFill>
                  <a:srgbClr val="000057"/>
                </a:solidFill>
              </a:rPr>
              <a:t>Aktivität</a:t>
            </a:r>
          </a:p>
        </p:txBody>
      </p:sp>
      <p:pic>
        <p:nvPicPr>
          <p:cNvPr id="1013" name="Gateway" descr="gruppen_2.png"/>
          <p:cNvPicPr>
            <a:picLocks noChangeAspect="1"/>
          </p:cNvPicPr>
          <p:nvPr/>
        </p:nvPicPr>
        <p:blipFill>
          <a:blip r:embed="rId5"/>
          <a:stretch>
            <a:fillRect/>
          </a:stretch>
        </p:blipFill>
        <p:spPr>
          <a:xfrm>
            <a:off x="990600" y="3670300"/>
            <a:ext cx="609600" cy="387350"/>
          </a:xfrm>
          <a:prstGeom prst="rect">
            <a:avLst/>
          </a:prstGeom>
        </p:spPr>
      </p:pic>
      <p:sp>
        <p:nvSpPr>
          <p:cNvPr id="1014" name="TextBox 1013"/>
          <p:cNvSpPr txBox="1"/>
          <p:nvPr/>
        </p:nvSpPr>
        <p:spPr>
          <a:xfrm>
            <a:off x="1676400" y="3670300"/>
            <a:ext cx="1555750" cy="387350"/>
          </a:xfrm>
          <a:prstGeom prst="rect">
            <a:avLst/>
          </a:prstGeom>
          <a:noFill/>
        </p:spPr>
        <p:txBody>
          <a:bodyPr wrap="square" lIns="0" tIns="0" rIns="0" bIns="0" anchor="ctr">
            <a:spAutoFit/>
          </a:bodyPr>
          <a:lstStyle/>
          <a:p>
            <a:pPr algn="l"/>
            <a:r>
              <a:rPr sz="1500" b="0">
                <a:solidFill>
                  <a:srgbClr val="000057"/>
                </a:solidFill>
              </a:rPr>
              <a:t>Gateway</a:t>
            </a:r>
          </a:p>
        </p:txBody>
      </p:sp>
      <p:sp>
        <p:nvSpPr>
          <p:cNvPr id="1015" name="Verbindungen"/>
          <p:cNvSpPr/>
          <p:nvPr/>
        </p:nvSpPr>
        <p:spPr>
          <a:xfrm>
            <a:off x="3511550" y="1384300"/>
            <a:ext cx="2495550" cy="3556000"/>
          </a:xfrm>
          <a:prstGeom prst="roundRect">
            <a:avLst>
              <a:gd name="adj" fmla="val 4071"/>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sp>
        <p:nvSpPr>
          <p:cNvPr id="1016" name="TextBox 1015"/>
          <p:cNvSpPr txBox="1"/>
          <p:nvPr/>
        </p:nvSpPr>
        <p:spPr>
          <a:xfrm>
            <a:off x="3689350" y="1562100"/>
            <a:ext cx="2139950" cy="254000"/>
          </a:xfrm>
          <a:prstGeom prst="rect">
            <a:avLst/>
          </a:prstGeom>
          <a:noFill/>
        </p:spPr>
        <p:txBody>
          <a:bodyPr wrap="square" lIns="0" tIns="0" rIns="0" bIns="0" anchor="t">
            <a:spAutoFit/>
          </a:bodyPr>
          <a:lstStyle/>
          <a:p>
            <a:pPr algn="l"/>
            <a:r>
              <a:rPr sz="1800" b="1">
                <a:solidFill>
                  <a:srgbClr val="A65200"/>
                </a:solidFill>
              </a:rPr>
              <a:t>Verbindungen</a:t>
            </a:r>
          </a:p>
        </p:txBody>
      </p:sp>
      <p:pic>
        <p:nvPicPr>
          <p:cNvPr id="1017" name="Sequenzfluss" descr="gruppen_3.png"/>
          <p:cNvPicPr>
            <a:picLocks noChangeAspect="1"/>
          </p:cNvPicPr>
          <p:nvPr/>
        </p:nvPicPr>
        <p:blipFill>
          <a:blip r:embed="rId6"/>
          <a:stretch>
            <a:fillRect/>
          </a:stretch>
        </p:blipFill>
        <p:spPr>
          <a:xfrm>
            <a:off x="3663950" y="2019300"/>
            <a:ext cx="609600" cy="387350"/>
          </a:xfrm>
          <a:prstGeom prst="rect">
            <a:avLst/>
          </a:prstGeom>
        </p:spPr>
      </p:pic>
      <p:sp>
        <p:nvSpPr>
          <p:cNvPr id="1018" name="TextBox 1017"/>
          <p:cNvSpPr txBox="1"/>
          <p:nvPr/>
        </p:nvSpPr>
        <p:spPr>
          <a:xfrm>
            <a:off x="4349750" y="2019300"/>
            <a:ext cx="1555750" cy="387350"/>
          </a:xfrm>
          <a:prstGeom prst="rect">
            <a:avLst/>
          </a:prstGeom>
          <a:noFill/>
        </p:spPr>
        <p:txBody>
          <a:bodyPr wrap="square" lIns="0" tIns="0" rIns="0" bIns="0" anchor="ctr">
            <a:spAutoFit/>
          </a:bodyPr>
          <a:lstStyle/>
          <a:p>
            <a:pPr algn="l"/>
            <a:r>
              <a:rPr sz="1500" b="0">
                <a:solidFill>
                  <a:srgbClr val="000057"/>
                </a:solidFill>
              </a:rPr>
              <a:t>Sequenzfluss</a:t>
            </a:r>
          </a:p>
        </p:txBody>
      </p:sp>
      <p:pic>
        <p:nvPicPr>
          <p:cNvPr id="1019" name="Nachrichtenfluss" descr="gruppen_4.png"/>
          <p:cNvPicPr>
            <a:picLocks noChangeAspect="1"/>
          </p:cNvPicPr>
          <p:nvPr/>
        </p:nvPicPr>
        <p:blipFill>
          <a:blip r:embed="rId7"/>
          <a:stretch>
            <a:fillRect/>
          </a:stretch>
        </p:blipFill>
        <p:spPr>
          <a:xfrm>
            <a:off x="3663950" y="2844800"/>
            <a:ext cx="609600" cy="387350"/>
          </a:xfrm>
          <a:prstGeom prst="rect">
            <a:avLst/>
          </a:prstGeom>
        </p:spPr>
      </p:pic>
      <p:sp>
        <p:nvSpPr>
          <p:cNvPr id="1020" name="TextBox 1019"/>
          <p:cNvSpPr txBox="1"/>
          <p:nvPr/>
        </p:nvSpPr>
        <p:spPr>
          <a:xfrm>
            <a:off x="4349750" y="2844800"/>
            <a:ext cx="1555750" cy="387350"/>
          </a:xfrm>
          <a:prstGeom prst="rect">
            <a:avLst/>
          </a:prstGeom>
          <a:noFill/>
        </p:spPr>
        <p:txBody>
          <a:bodyPr wrap="square" lIns="0" tIns="0" rIns="0" bIns="0" anchor="ctr">
            <a:spAutoFit/>
          </a:bodyPr>
          <a:lstStyle/>
          <a:p>
            <a:pPr algn="l"/>
            <a:r>
              <a:rPr sz="1500" b="0">
                <a:solidFill>
                  <a:srgbClr val="000057"/>
                </a:solidFill>
              </a:rPr>
              <a:t>Nachrichtenfluss</a:t>
            </a:r>
          </a:p>
        </p:txBody>
      </p:sp>
      <p:pic>
        <p:nvPicPr>
          <p:cNvPr id="1021" name="Assoziation" descr="gruppen_5.png"/>
          <p:cNvPicPr>
            <a:picLocks noChangeAspect="1"/>
          </p:cNvPicPr>
          <p:nvPr/>
        </p:nvPicPr>
        <p:blipFill>
          <a:blip r:embed="rId8"/>
          <a:stretch>
            <a:fillRect/>
          </a:stretch>
        </p:blipFill>
        <p:spPr>
          <a:xfrm>
            <a:off x="3663950" y="3670300"/>
            <a:ext cx="609600" cy="387350"/>
          </a:xfrm>
          <a:prstGeom prst="rect">
            <a:avLst/>
          </a:prstGeom>
        </p:spPr>
      </p:pic>
      <p:sp>
        <p:nvSpPr>
          <p:cNvPr id="1022" name="TextBox 1021"/>
          <p:cNvSpPr txBox="1"/>
          <p:nvPr/>
        </p:nvSpPr>
        <p:spPr>
          <a:xfrm>
            <a:off x="4349750" y="3670300"/>
            <a:ext cx="1555750" cy="387350"/>
          </a:xfrm>
          <a:prstGeom prst="rect">
            <a:avLst/>
          </a:prstGeom>
          <a:noFill/>
        </p:spPr>
        <p:txBody>
          <a:bodyPr wrap="square" lIns="0" tIns="0" rIns="0" bIns="0" anchor="ctr">
            <a:spAutoFit/>
          </a:bodyPr>
          <a:lstStyle/>
          <a:p>
            <a:pPr algn="l"/>
            <a:r>
              <a:rPr sz="1500" b="0">
                <a:solidFill>
                  <a:srgbClr val="000057"/>
                </a:solidFill>
              </a:rPr>
              <a:t>Assoziation</a:t>
            </a:r>
          </a:p>
        </p:txBody>
      </p:sp>
      <p:sp>
        <p:nvSpPr>
          <p:cNvPr id="1023" name="Teilnehmer"/>
          <p:cNvSpPr/>
          <p:nvPr/>
        </p:nvSpPr>
        <p:spPr>
          <a:xfrm>
            <a:off x="6184900" y="1384300"/>
            <a:ext cx="2495550" cy="3556000"/>
          </a:xfrm>
          <a:prstGeom prst="roundRect">
            <a:avLst>
              <a:gd name="adj" fmla="val 4071"/>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sp>
        <p:nvSpPr>
          <p:cNvPr id="1024" name="TextBox 1023"/>
          <p:cNvSpPr txBox="1"/>
          <p:nvPr/>
        </p:nvSpPr>
        <p:spPr>
          <a:xfrm>
            <a:off x="6362700" y="1562100"/>
            <a:ext cx="2139950" cy="254000"/>
          </a:xfrm>
          <a:prstGeom prst="rect">
            <a:avLst/>
          </a:prstGeom>
          <a:noFill/>
        </p:spPr>
        <p:txBody>
          <a:bodyPr wrap="square" lIns="0" tIns="0" rIns="0" bIns="0" anchor="t">
            <a:spAutoFit/>
          </a:bodyPr>
          <a:lstStyle/>
          <a:p>
            <a:pPr algn="l"/>
            <a:r>
              <a:rPr sz="1800" b="1">
                <a:solidFill>
                  <a:srgbClr val="A65200"/>
                </a:solidFill>
              </a:rPr>
              <a:t>Teilnehmer</a:t>
            </a:r>
          </a:p>
        </p:txBody>
      </p:sp>
      <p:pic>
        <p:nvPicPr>
          <p:cNvPr id="1025" name="Pool" descr="gruppen_6.png"/>
          <p:cNvPicPr>
            <a:picLocks noChangeAspect="1"/>
          </p:cNvPicPr>
          <p:nvPr/>
        </p:nvPicPr>
        <p:blipFill>
          <a:blip r:embed="rId9"/>
          <a:stretch>
            <a:fillRect/>
          </a:stretch>
        </p:blipFill>
        <p:spPr>
          <a:xfrm>
            <a:off x="6337300" y="2019300"/>
            <a:ext cx="609600" cy="387350"/>
          </a:xfrm>
          <a:prstGeom prst="rect">
            <a:avLst/>
          </a:prstGeom>
        </p:spPr>
      </p:pic>
      <p:sp>
        <p:nvSpPr>
          <p:cNvPr id="1026" name="TextBox 1025"/>
          <p:cNvSpPr txBox="1"/>
          <p:nvPr/>
        </p:nvSpPr>
        <p:spPr>
          <a:xfrm>
            <a:off x="7023100" y="2019300"/>
            <a:ext cx="1555750" cy="387350"/>
          </a:xfrm>
          <a:prstGeom prst="rect">
            <a:avLst/>
          </a:prstGeom>
          <a:noFill/>
        </p:spPr>
        <p:txBody>
          <a:bodyPr wrap="square" lIns="0" tIns="0" rIns="0" bIns="0" anchor="ctr">
            <a:spAutoFit/>
          </a:bodyPr>
          <a:lstStyle/>
          <a:p>
            <a:pPr algn="l"/>
            <a:r>
              <a:rPr sz="1500" b="0">
                <a:solidFill>
                  <a:srgbClr val="000057"/>
                </a:solidFill>
              </a:rPr>
              <a:t>Pool</a:t>
            </a:r>
          </a:p>
        </p:txBody>
      </p:sp>
      <p:pic>
        <p:nvPicPr>
          <p:cNvPr id="1027" name="Lane" descr="gruppen_7.png"/>
          <p:cNvPicPr>
            <a:picLocks noChangeAspect="1"/>
          </p:cNvPicPr>
          <p:nvPr/>
        </p:nvPicPr>
        <p:blipFill>
          <a:blip r:embed="rId10"/>
          <a:stretch>
            <a:fillRect/>
          </a:stretch>
        </p:blipFill>
        <p:spPr>
          <a:xfrm>
            <a:off x="6337300" y="2844800"/>
            <a:ext cx="609600" cy="387350"/>
          </a:xfrm>
          <a:prstGeom prst="rect">
            <a:avLst/>
          </a:prstGeom>
        </p:spPr>
      </p:pic>
      <p:sp>
        <p:nvSpPr>
          <p:cNvPr id="1028" name="TextBox 1027"/>
          <p:cNvSpPr txBox="1"/>
          <p:nvPr/>
        </p:nvSpPr>
        <p:spPr>
          <a:xfrm>
            <a:off x="7023100" y="2844800"/>
            <a:ext cx="1555750" cy="387350"/>
          </a:xfrm>
          <a:prstGeom prst="rect">
            <a:avLst/>
          </a:prstGeom>
          <a:noFill/>
        </p:spPr>
        <p:txBody>
          <a:bodyPr wrap="square" lIns="0" tIns="0" rIns="0" bIns="0" anchor="ctr">
            <a:spAutoFit/>
          </a:bodyPr>
          <a:lstStyle/>
          <a:p>
            <a:pPr algn="l"/>
            <a:r>
              <a:rPr sz="1500" b="0">
                <a:solidFill>
                  <a:srgbClr val="000057"/>
                </a:solidFill>
              </a:rPr>
              <a:t>Lane</a:t>
            </a:r>
          </a:p>
        </p:txBody>
      </p:sp>
      <p:sp>
        <p:nvSpPr>
          <p:cNvPr id="1029" name="Daten und Artefakte"/>
          <p:cNvSpPr/>
          <p:nvPr/>
        </p:nvSpPr>
        <p:spPr>
          <a:xfrm>
            <a:off x="8858250" y="1384300"/>
            <a:ext cx="2495550" cy="3556000"/>
          </a:xfrm>
          <a:prstGeom prst="roundRect">
            <a:avLst>
              <a:gd name="adj" fmla="val 4071"/>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sp>
        <p:nvSpPr>
          <p:cNvPr id="1030" name="TextBox 1029"/>
          <p:cNvSpPr txBox="1"/>
          <p:nvPr/>
        </p:nvSpPr>
        <p:spPr>
          <a:xfrm>
            <a:off x="9036050" y="1562100"/>
            <a:ext cx="2139950" cy="254000"/>
          </a:xfrm>
          <a:prstGeom prst="rect">
            <a:avLst/>
          </a:prstGeom>
          <a:noFill/>
        </p:spPr>
        <p:txBody>
          <a:bodyPr wrap="square" lIns="0" tIns="0" rIns="0" bIns="0" anchor="t">
            <a:spAutoFit/>
          </a:bodyPr>
          <a:lstStyle/>
          <a:p>
            <a:pPr algn="l"/>
            <a:r>
              <a:rPr sz="1800" b="1">
                <a:solidFill>
                  <a:srgbClr val="A65200"/>
                </a:solidFill>
              </a:rPr>
              <a:t>Daten und Artefakte</a:t>
            </a:r>
          </a:p>
        </p:txBody>
      </p:sp>
      <p:pic>
        <p:nvPicPr>
          <p:cNvPr id="1031" name="Datenobjekt" descr="gruppen_8.png"/>
          <p:cNvPicPr>
            <a:picLocks noChangeAspect="1"/>
          </p:cNvPicPr>
          <p:nvPr/>
        </p:nvPicPr>
        <p:blipFill>
          <a:blip r:embed="rId11"/>
          <a:stretch>
            <a:fillRect/>
          </a:stretch>
        </p:blipFill>
        <p:spPr>
          <a:xfrm>
            <a:off x="9010650" y="2019300"/>
            <a:ext cx="609600" cy="387350"/>
          </a:xfrm>
          <a:prstGeom prst="rect">
            <a:avLst/>
          </a:prstGeom>
        </p:spPr>
      </p:pic>
      <p:sp>
        <p:nvSpPr>
          <p:cNvPr id="1032" name="TextBox 1031"/>
          <p:cNvSpPr txBox="1"/>
          <p:nvPr/>
        </p:nvSpPr>
        <p:spPr>
          <a:xfrm>
            <a:off x="9696450" y="2019300"/>
            <a:ext cx="1555750" cy="387350"/>
          </a:xfrm>
          <a:prstGeom prst="rect">
            <a:avLst/>
          </a:prstGeom>
          <a:noFill/>
        </p:spPr>
        <p:txBody>
          <a:bodyPr wrap="square" lIns="0" tIns="0" rIns="0" bIns="0" anchor="ctr">
            <a:spAutoFit/>
          </a:bodyPr>
          <a:lstStyle/>
          <a:p>
            <a:pPr algn="l"/>
            <a:r>
              <a:rPr sz="1500" b="0">
                <a:solidFill>
                  <a:srgbClr val="000057"/>
                </a:solidFill>
              </a:rPr>
              <a:t>Datenobjekt</a:t>
            </a:r>
          </a:p>
        </p:txBody>
      </p:sp>
      <p:pic>
        <p:nvPicPr>
          <p:cNvPr id="1033" name="Datenspeicher" descr="gruppen_9.png"/>
          <p:cNvPicPr>
            <a:picLocks noChangeAspect="1"/>
          </p:cNvPicPr>
          <p:nvPr/>
        </p:nvPicPr>
        <p:blipFill>
          <a:blip r:embed="rId12"/>
          <a:stretch>
            <a:fillRect/>
          </a:stretch>
        </p:blipFill>
        <p:spPr>
          <a:xfrm>
            <a:off x="9010650" y="2844800"/>
            <a:ext cx="609600" cy="387350"/>
          </a:xfrm>
          <a:prstGeom prst="rect">
            <a:avLst/>
          </a:prstGeom>
        </p:spPr>
      </p:pic>
      <p:sp>
        <p:nvSpPr>
          <p:cNvPr id="1034" name="TextBox 1033"/>
          <p:cNvSpPr txBox="1"/>
          <p:nvPr/>
        </p:nvSpPr>
        <p:spPr>
          <a:xfrm>
            <a:off x="9696450" y="2844800"/>
            <a:ext cx="1555750" cy="387350"/>
          </a:xfrm>
          <a:prstGeom prst="rect">
            <a:avLst/>
          </a:prstGeom>
          <a:noFill/>
        </p:spPr>
        <p:txBody>
          <a:bodyPr wrap="square" lIns="0" tIns="0" rIns="0" bIns="0" anchor="ctr">
            <a:spAutoFit/>
          </a:bodyPr>
          <a:lstStyle/>
          <a:p>
            <a:pPr algn="l"/>
            <a:r>
              <a:rPr sz="1500" b="0">
                <a:solidFill>
                  <a:srgbClr val="000057"/>
                </a:solidFill>
              </a:rPr>
              <a:t>Datenspeicher</a:t>
            </a:r>
          </a:p>
        </p:txBody>
      </p:sp>
      <p:pic>
        <p:nvPicPr>
          <p:cNvPr id="1035" name="Textanmerkung" descr="gruppen_10.png"/>
          <p:cNvPicPr>
            <a:picLocks noChangeAspect="1"/>
          </p:cNvPicPr>
          <p:nvPr/>
        </p:nvPicPr>
        <p:blipFill>
          <a:blip r:embed="rId13"/>
          <a:stretch>
            <a:fillRect/>
          </a:stretch>
        </p:blipFill>
        <p:spPr>
          <a:xfrm>
            <a:off x="9010650" y="3670300"/>
            <a:ext cx="609600" cy="387350"/>
          </a:xfrm>
          <a:prstGeom prst="rect">
            <a:avLst/>
          </a:prstGeom>
        </p:spPr>
      </p:pic>
      <p:sp>
        <p:nvSpPr>
          <p:cNvPr id="1036" name="TextBox 1035"/>
          <p:cNvSpPr txBox="1"/>
          <p:nvPr/>
        </p:nvSpPr>
        <p:spPr>
          <a:xfrm>
            <a:off x="9696450" y="3670300"/>
            <a:ext cx="1555750" cy="387350"/>
          </a:xfrm>
          <a:prstGeom prst="rect">
            <a:avLst/>
          </a:prstGeom>
          <a:noFill/>
        </p:spPr>
        <p:txBody>
          <a:bodyPr wrap="square" lIns="0" tIns="0" rIns="0" bIns="0" anchor="ctr">
            <a:spAutoFit/>
          </a:bodyPr>
          <a:lstStyle/>
          <a:p>
            <a:pPr algn="l"/>
            <a:r>
              <a:rPr sz="1500" b="0">
                <a:solidFill>
                  <a:srgbClr val="000057"/>
                </a:solidFill>
              </a:rPr>
              <a:t>Textanmerkung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9386233" cy="1325563"/>
          </a:xfrm>
        </p:spPr>
        <p:txBody>
          <a:bodyPr lIns="90000"/>
          <a:lstStyle/>
          <a:p>
            <a:pPr marL="9525"/>
            <a:r>
              <a:rPr dirty="0"/>
              <a:t>Start, </a:t>
            </a:r>
            <a:r>
              <a:rPr dirty="0" err="1"/>
              <a:t>Aufgaben</a:t>
            </a:r>
            <a:r>
              <a:rPr dirty="0"/>
              <a:t>, Ende</a:t>
            </a:r>
          </a:p>
        </p:txBody>
      </p:sp>
      <p:sp>
        <p:nvSpPr>
          <p:cNvPr id="3" name="Dachzeile"/>
          <p:cNvSpPr txBox="1"/>
          <p:nvPr/>
        </p:nvSpPr>
        <p:spPr>
          <a:xfrm>
            <a:off x="976966" y="1003300"/>
            <a:ext cx="9386233" cy="215444"/>
          </a:xfrm>
          <a:prstGeom prst="rect">
            <a:avLst/>
          </a:prstGeom>
          <a:noFill/>
        </p:spPr>
        <p:txBody>
          <a:bodyPr wrap="square" lIns="0" tIns="0" rIns="0" bIns="0" anchor="t">
            <a:spAutoFit/>
          </a:bodyPr>
          <a:lstStyle/>
          <a:p>
            <a:pPr algn="l"/>
            <a:r>
              <a:rPr sz="1400" b="1" dirty="0" err="1">
                <a:solidFill>
                  <a:srgbClr val="A65200"/>
                </a:solidFill>
              </a:rPr>
              <a:t>Grundelemente</a:t>
            </a:r>
            <a:r>
              <a:rPr sz="1400" b="1" dirty="0">
                <a:solidFill>
                  <a:srgbClr val="A65200"/>
                </a:solidFill>
              </a:rPr>
              <a:t> · </a:t>
            </a:r>
            <a:r>
              <a:rPr sz="1400" b="1" dirty="0" err="1">
                <a:solidFill>
                  <a:srgbClr val="A65200"/>
                </a:solidFill>
              </a:rPr>
              <a:t>Beispiel</a:t>
            </a:r>
            <a:r>
              <a:rPr sz="1400" b="1" dirty="0">
                <a:solidFill>
                  <a:srgbClr val="A65200"/>
                </a:solidFill>
              </a:rPr>
              <a:t>: </a:t>
            </a:r>
            <a:r>
              <a:rPr sz="1400" b="1" dirty="0" err="1">
                <a:solidFill>
                  <a:srgbClr val="A65200"/>
                </a:solidFill>
              </a:rPr>
              <a:t>Studierendenausweis</a:t>
            </a:r>
            <a:r>
              <a:rPr sz="1400" b="1" dirty="0">
                <a:solidFill>
                  <a:srgbClr val="A65200"/>
                </a:solidFill>
              </a:rPr>
              <a:t> </a:t>
            </a:r>
            <a:r>
              <a:rPr sz="1400" b="1" dirty="0" err="1">
                <a:solidFill>
                  <a:srgbClr val="A65200"/>
                </a:solidFill>
              </a:rPr>
              <a:t>ersetzen</a:t>
            </a:r>
            <a:endParaRPr sz="1400" b="1" dirty="0">
              <a:solidFill>
                <a:srgbClr val="A65200"/>
              </a:solidFill>
            </a:endParaRPr>
          </a:p>
        </p:txBody>
      </p:sp>
      <p:sp>
        <p:nvSpPr>
          <p:cNvPr id="1007" name="Fußzeilenplatzhalter 3">
            <a:extLst>
              <a:ext uri="{FF2B5EF4-FFF2-40B4-BE49-F238E27FC236}">
                <a16:creationId xmlns:a16="http://schemas.microsoft.com/office/drawing/2014/main" id="{FC5F3CD8-EC60-2361-1D7D-D106BCC7B2DC}"/>
              </a:ext>
            </a:extLst>
          </p:cNvPr>
          <p:cNvSpPr>
            <a:spLocks noGrp="1"/>
          </p:cNvSpPr>
          <p:nvPr>
            <p:ph type="ftr" sz="quarter" idx="11"/>
          </p:nvPr>
        </p:nvSpPr>
        <p:spPr/>
        <p:txBody>
          <a:bodyPr/>
          <a:lstStyle/>
          <a:p>
            <a:r>
              <a:rPr lang="de-DE">
                <a:latin typeface="+mn-lt"/>
              </a:rPr>
              <a:t>Einführung in BPMN 2.0</a:t>
            </a:r>
          </a:p>
        </p:txBody>
      </p:sp>
      <p:sp>
        <p:nvSpPr>
          <p:cNvPr id="1008" name="Foliennummernplatzhalter 4">
            <a:extLst>
              <a:ext uri="{FF2B5EF4-FFF2-40B4-BE49-F238E27FC236}">
                <a16:creationId xmlns:a16="http://schemas.microsoft.com/office/drawing/2014/main" id="{212431F3-14A8-70AD-D9D5-73D64C59C169}"/>
              </a:ext>
            </a:extLst>
          </p:cNvPr>
          <p:cNvSpPr>
            <a:spLocks noGrp="1"/>
          </p:cNvSpPr>
          <p:nvPr>
            <p:ph type="sldNum" sz="quarter" idx="12"/>
          </p:nvPr>
        </p:nvSpPr>
        <p:spPr/>
        <p:txBody>
          <a:bodyPr/>
          <a:lstStyle/>
          <a:p>
            <a:fld id="{10939345-BF37-7940-A564-825B7904D7BD}" type="slidenum">
              <a:rPr lang="de-DE" smtClean="0">
                <a:latin typeface="+mn-lt"/>
              </a:rPr>
              <a:t>5</a:t>
            </a:fld>
            <a:endParaRPr lang="de-DE"/>
          </a:p>
        </p:txBody>
      </p:sp>
      <p:sp>
        <p:nvSpPr>
          <p:cNvPr id="1009" name="Diagrammfläche"/>
          <p:cNvSpPr/>
          <p:nvPr/>
        </p:nvSpPr>
        <p:spPr>
          <a:xfrm>
            <a:off x="838200" y="1384300"/>
            <a:ext cx="10515600" cy="1905000"/>
          </a:xfrm>
          <a:prstGeom prst="roundRect">
            <a:avLst>
              <a:gd name="adj" fmla="val 5333"/>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10" name="Diagramm" descr="01_ausweis_ersetzen.png"/>
          <p:cNvPicPr>
            <a:picLocks noChangeAspect="1"/>
          </p:cNvPicPr>
          <p:nvPr/>
        </p:nvPicPr>
        <p:blipFill>
          <a:blip r:embed="rId3"/>
          <a:stretch>
            <a:fillRect/>
          </a:stretch>
        </p:blipFill>
        <p:spPr>
          <a:xfrm>
            <a:off x="1432485" y="1638300"/>
            <a:ext cx="9327029" cy="1397000"/>
          </a:xfrm>
          <a:prstGeom prst="rect">
            <a:avLst/>
          </a:prstGeom>
        </p:spPr>
      </p:pic>
      <p:sp>
        <p:nvSpPr>
          <p:cNvPr id="1011" name="Startereignis"/>
          <p:cNvSpPr/>
          <p:nvPr/>
        </p:nvSpPr>
        <p:spPr>
          <a:xfrm>
            <a:off x="838200" y="3467100"/>
            <a:ext cx="2495550" cy="1587500"/>
          </a:xfrm>
          <a:prstGeom prst="roundRect">
            <a:avLst>
              <a:gd name="adj" fmla="val 6400"/>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l">
              <a:spcAft>
                <a:spcPts val="400"/>
              </a:spcAft>
            </a:pPr>
            <a:r>
              <a:rPr sz="1600" b="1">
                <a:solidFill>
                  <a:srgbClr val="000057"/>
                </a:solidFill>
              </a:rPr>
              <a:t>Startereignis</a:t>
            </a:r>
          </a:p>
          <a:p>
            <a:pPr algn="l">
              <a:lnSpc>
                <a:spcPct val="110000"/>
              </a:lnSpc>
              <a:spcAft>
                <a:spcPts val="400"/>
              </a:spcAft>
            </a:pPr>
            <a:r>
              <a:rPr sz="1400" b="0">
                <a:solidFill>
                  <a:srgbClr val="3F4847"/>
                </a:solidFill>
              </a:rPr>
              <a:t>Löst den Prozess aus. Dünner Rand, benannt als eingetretener Zustand.</a:t>
            </a:r>
          </a:p>
        </p:txBody>
      </p:sp>
      <p:sp>
        <p:nvSpPr>
          <p:cNvPr id="1012" name="Aufgabe"/>
          <p:cNvSpPr/>
          <p:nvPr/>
        </p:nvSpPr>
        <p:spPr>
          <a:xfrm>
            <a:off x="3511550" y="3467100"/>
            <a:ext cx="2495550" cy="1587500"/>
          </a:xfrm>
          <a:prstGeom prst="roundRect">
            <a:avLst>
              <a:gd name="adj" fmla="val 6400"/>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l">
              <a:spcAft>
                <a:spcPts val="400"/>
              </a:spcAft>
            </a:pPr>
            <a:r>
              <a:rPr sz="1600" b="1">
                <a:solidFill>
                  <a:srgbClr val="000057"/>
                </a:solidFill>
              </a:rPr>
              <a:t>Aufgabe</a:t>
            </a:r>
          </a:p>
          <a:p>
            <a:pPr algn="l">
              <a:lnSpc>
                <a:spcPct val="110000"/>
              </a:lnSpc>
              <a:spcAft>
                <a:spcPts val="400"/>
              </a:spcAft>
            </a:pPr>
            <a:r>
              <a:rPr sz="1400" b="0">
                <a:solidFill>
                  <a:srgbClr val="3F4847"/>
                </a:solidFill>
              </a:rPr>
              <a:t>Ein Arbeitsschritt, den eine Person oder ein System ausführt.</a:t>
            </a:r>
          </a:p>
        </p:txBody>
      </p:sp>
      <p:sp>
        <p:nvSpPr>
          <p:cNvPr id="1013" name="Sequenzfluss"/>
          <p:cNvSpPr/>
          <p:nvPr/>
        </p:nvSpPr>
        <p:spPr>
          <a:xfrm>
            <a:off x="6184900" y="3467100"/>
            <a:ext cx="2495550" cy="1587500"/>
          </a:xfrm>
          <a:prstGeom prst="roundRect">
            <a:avLst>
              <a:gd name="adj" fmla="val 6400"/>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l">
              <a:spcAft>
                <a:spcPts val="400"/>
              </a:spcAft>
            </a:pPr>
            <a:r>
              <a:rPr sz="1600" b="1">
                <a:solidFill>
                  <a:srgbClr val="000057"/>
                </a:solidFill>
              </a:rPr>
              <a:t>Sequenzfluss</a:t>
            </a:r>
          </a:p>
          <a:p>
            <a:pPr algn="l">
              <a:lnSpc>
                <a:spcPct val="110000"/>
              </a:lnSpc>
              <a:spcAft>
                <a:spcPts val="400"/>
              </a:spcAft>
            </a:pPr>
            <a:r>
              <a:rPr sz="1400" b="0">
                <a:solidFill>
                  <a:srgbClr val="3F4847"/>
                </a:solidFill>
              </a:rPr>
              <a:t>Legt die Reihenfolge der Schritte innerhalb eines Prozesses fest.</a:t>
            </a:r>
          </a:p>
        </p:txBody>
      </p:sp>
      <p:sp>
        <p:nvSpPr>
          <p:cNvPr id="1014" name="Endereignis"/>
          <p:cNvSpPr/>
          <p:nvPr/>
        </p:nvSpPr>
        <p:spPr>
          <a:xfrm>
            <a:off x="8858250" y="3467100"/>
            <a:ext cx="2495550" cy="1587500"/>
          </a:xfrm>
          <a:prstGeom prst="roundRect">
            <a:avLst>
              <a:gd name="adj" fmla="val 6400"/>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l">
              <a:spcAft>
                <a:spcPts val="400"/>
              </a:spcAft>
            </a:pPr>
            <a:r>
              <a:rPr sz="1600" b="1">
                <a:solidFill>
                  <a:srgbClr val="000057"/>
                </a:solidFill>
              </a:rPr>
              <a:t>Endereignis</a:t>
            </a:r>
          </a:p>
          <a:p>
            <a:pPr algn="l">
              <a:lnSpc>
                <a:spcPct val="110000"/>
              </a:lnSpc>
              <a:spcAft>
                <a:spcPts val="400"/>
              </a:spcAft>
            </a:pPr>
            <a:r>
              <a:rPr sz="1400" b="0">
                <a:solidFill>
                  <a:srgbClr val="3F4847"/>
                </a:solidFill>
              </a:rPr>
              <a:t>Markiert ein Ergebnis. Dicker Rand; ein Prozess darf mehrere Enden haben.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Gute Namen</a:t>
            </a:r>
          </a:p>
        </p:txBody>
      </p:sp>
      <p:sp>
        <p:nvSpPr>
          <p:cNvPr id="3" name="Dachzeile"/>
          <p:cNvSpPr txBox="1"/>
          <p:nvPr/>
        </p:nvSpPr>
        <p:spPr>
          <a:xfrm>
            <a:off x="976968" y="1003299"/>
            <a:ext cx="9386232" cy="215444"/>
          </a:xfrm>
          <a:prstGeom prst="rect">
            <a:avLst/>
          </a:prstGeom>
          <a:noFill/>
        </p:spPr>
        <p:txBody>
          <a:bodyPr wrap="square" lIns="0" tIns="0" rIns="0" bIns="0" anchor="t">
            <a:spAutoFit/>
          </a:bodyPr>
          <a:lstStyle/>
          <a:p>
            <a:pPr algn="l"/>
            <a:r>
              <a:rPr sz="1400" b="1" dirty="0" err="1">
                <a:solidFill>
                  <a:srgbClr val="A65200"/>
                </a:solidFill>
              </a:rPr>
              <a:t>Grundelemente</a:t>
            </a:r>
            <a:r>
              <a:rPr sz="1400" b="1" dirty="0">
                <a:solidFill>
                  <a:srgbClr val="A65200"/>
                </a:solidFill>
              </a:rPr>
              <a:t> · </a:t>
            </a:r>
            <a:r>
              <a:rPr sz="1400" b="1" dirty="0" err="1">
                <a:solidFill>
                  <a:srgbClr val="A65200"/>
                </a:solidFill>
              </a:rPr>
              <a:t>Benennung</a:t>
            </a:r>
            <a:r>
              <a:rPr sz="1400" b="1" dirty="0">
                <a:solidFill>
                  <a:srgbClr val="A65200"/>
                </a:solidFill>
              </a:rPr>
              <a:t>: So </a:t>
            </a:r>
            <a:r>
              <a:rPr sz="1400" b="1" dirty="0" err="1">
                <a:solidFill>
                  <a:srgbClr val="A65200"/>
                </a:solidFill>
              </a:rPr>
              <a:t>wird</a:t>
            </a:r>
            <a:r>
              <a:rPr sz="1400" b="1" dirty="0">
                <a:solidFill>
                  <a:srgbClr val="A65200"/>
                </a:solidFill>
              </a:rPr>
              <a:t> </a:t>
            </a:r>
            <a:r>
              <a:rPr sz="1400" b="1" dirty="0" err="1">
                <a:solidFill>
                  <a:srgbClr val="A65200"/>
                </a:solidFill>
              </a:rPr>
              <a:t>ein</a:t>
            </a:r>
            <a:r>
              <a:rPr sz="1400" b="1" dirty="0">
                <a:solidFill>
                  <a:srgbClr val="A65200"/>
                </a:solidFill>
              </a:rPr>
              <a:t> Modell </a:t>
            </a:r>
            <a:r>
              <a:rPr sz="1400" b="1" dirty="0" err="1">
                <a:solidFill>
                  <a:srgbClr val="A65200"/>
                </a:solidFill>
              </a:rPr>
              <a:t>lesbar</a:t>
            </a:r>
            <a:endParaRPr sz="1400" b="1" dirty="0">
              <a:solidFill>
                <a:srgbClr val="A65200"/>
              </a:solidFill>
            </a:endParaRPr>
          </a:p>
        </p:txBody>
      </p:sp>
      <p:sp>
        <p:nvSpPr>
          <p:cNvPr id="1009" name="Fußzeilenplatzhalter 3">
            <a:extLst>
              <a:ext uri="{FF2B5EF4-FFF2-40B4-BE49-F238E27FC236}">
                <a16:creationId xmlns:a16="http://schemas.microsoft.com/office/drawing/2014/main" id="{FC5F3CD8-EC60-2361-1D7D-D106BCC7B2DC}"/>
              </a:ext>
            </a:extLst>
          </p:cNvPr>
          <p:cNvSpPr>
            <a:spLocks noGrp="1"/>
          </p:cNvSpPr>
          <p:nvPr>
            <p:ph type="ftr" sz="quarter" idx="11"/>
          </p:nvPr>
        </p:nvSpPr>
        <p:spPr/>
        <p:txBody>
          <a:bodyPr/>
          <a:lstStyle/>
          <a:p>
            <a:r>
              <a:rPr lang="de-DE">
                <a:latin typeface="+mn-lt"/>
              </a:rPr>
              <a:t>Einführung in BPMN 2.0</a:t>
            </a:r>
          </a:p>
        </p:txBody>
      </p:sp>
      <p:sp>
        <p:nvSpPr>
          <p:cNvPr id="1010" name="Foliennummernplatzhalter 4">
            <a:extLst>
              <a:ext uri="{FF2B5EF4-FFF2-40B4-BE49-F238E27FC236}">
                <a16:creationId xmlns:a16="http://schemas.microsoft.com/office/drawing/2014/main" id="{212431F3-14A8-70AD-D9D5-73D64C59C169}"/>
              </a:ext>
            </a:extLst>
          </p:cNvPr>
          <p:cNvSpPr>
            <a:spLocks noGrp="1"/>
          </p:cNvSpPr>
          <p:nvPr>
            <p:ph type="sldNum" sz="quarter" idx="12"/>
          </p:nvPr>
        </p:nvSpPr>
        <p:spPr/>
        <p:txBody>
          <a:bodyPr/>
          <a:lstStyle/>
          <a:p>
            <a:fld id="{10939345-BF37-7940-A564-825B7904D7BD}" type="slidenum">
              <a:rPr lang="de-DE" smtClean="0">
                <a:latin typeface="+mn-lt"/>
              </a:rPr>
              <a:t>6</a:t>
            </a:fld>
            <a:endParaRPr lang="de-DE"/>
          </a:p>
        </p:txBody>
      </p:sp>
      <p:graphicFrame>
        <p:nvGraphicFramePr>
          <p:cNvPr id="1011" name="Table 1010"/>
          <p:cNvGraphicFramePr>
            <a:graphicFrameLocks noGrp="1"/>
          </p:cNvGraphicFramePr>
          <p:nvPr/>
        </p:nvGraphicFramePr>
        <p:xfrm>
          <a:off x="838200" y="1384300"/>
          <a:ext cx="10515600" cy="2286000"/>
        </p:xfrm>
        <a:graphic>
          <a:graphicData uri="http://schemas.openxmlformats.org/drawingml/2006/table">
            <a:tbl>
              <a:tblPr firstRow="1" bandRow="1">
                <a:tableStyleId>{5C22544A-7EE6-4342-B048-85BDC9FD1C3A}</a:tableStyleId>
              </a:tblPr>
              <a:tblGrid>
                <a:gridCol w="1892808">
                  <a:extLst>
                    <a:ext uri="{9D8B030D-6E8A-4147-A177-3AD203B41FA5}">
                      <a16:colId xmlns:a16="http://schemas.microsoft.com/office/drawing/2014/main" val="20000"/>
                    </a:ext>
                  </a:extLst>
                </a:gridCol>
                <a:gridCol w="3364992">
                  <a:extLst>
                    <a:ext uri="{9D8B030D-6E8A-4147-A177-3AD203B41FA5}">
                      <a16:colId xmlns:a16="http://schemas.microsoft.com/office/drawing/2014/main" val="20001"/>
                    </a:ext>
                  </a:extLst>
                </a:gridCol>
                <a:gridCol w="2523744">
                  <a:extLst>
                    <a:ext uri="{9D8B030D-6E8A-4147-A177-3AD203B41FA5}">
                      <a16:colId xmlns:a16="http://schemas.microsoft.com/office/drawing/2014/main" val="20002"/>
                    </a:ext>
                  </a:extLst>
                </a:gridCol>
                <a:gridCol w="2734056">
                  <a:extLst>
                    <a:ext uri="{9D8B030D-6E8A-4147-A177-3AD203B41FA5}">
                      <a16:colId xmlns:a16="http://schemas.microsoft.com/office/drawing/2014/main" val="20003"/>
                    </a:ext>
                  </a:extLst>
                </a:gridCol>
              </a:tblGrid>
              <a:tr h="457200">
                <a:tc>
                  <a:txBody>
                    <a:bodyPr/>
                    <a:lstStyle/>
                    <a:p>
                      <a:r>
                        <a:rPr sz="1600" b="1">
                          <a:solidFill>
                            <a:srgbClr val="FFFFFF"/>
                          </a:solidFill>
                        </a:rPr>
                        <a:t>Element</a:t>
                      </a:r>
                    </a:p>
                  </a:txBody>
                  <a:tcPr marL="101600" marR="101600" anchor="ctr">
                    <a:solidFill>
                      <a:srgbClr val="000057"/>
                    </a:solidFill>
                  </a:tcPr>
                </a:tc>
                <a:tc>
                  <a:txBody>
                    <a:bodyPr/>
                    <a:lstStyle/>
                    <a:p>
                      <a:r>
                        <a:rPr sz="1600" b="1">
                          <a:solidFill>
                            <a:srgbClr val="FFFFFF"/>
                          </a:solidFill>
                        </a:rPr>
                        <a:t>Regel</a:t>
                      </a:r>
                    </a:p>
                  </a:txBody>
                  <a:tcPr marL="101600" marR="101600" anchor="ctr">
                    <a:solidFill>
                      <a:srgbClr val="000057"/>
                    </a:solidFill>
                  </a:tcPr>
                </a:tc>
                <a:tc>
                  <a:txBody>
                    <a:bodyPr/>
                    <a:lstStyle/>
                    <a:p>
                      <a:r>
                        <a:rPr sz="1600" b="1">
                          <a:solidFill>
                            <a:srgbClr val="FFFFFF"/>
                          </a:solidFill>
                        </a:rPr>
                        <a:t>Gut</a:t>
                      </a:r>
                    </a:p>
                  </a:txBody>
                  <a:tcPr marL="101600" marR="101600" anchor="ctr">
                    <a:solidFill>
                      <a:srgbClr val="000057"/>
                    </a:solidFill>
                  </a:tcPr>
                </a:tc>
                <a:tc>
                  <a:txBody>
                    <a:bodyPr/>
                    <a:lstStyle/>
                    <a:p>
                      <a:r>
                        <a:rPr sz="1600" b="1">
                          <a:solidFill>
                            <a:srgbClr val="FFFFFF"/>
                          </a:solidFill>
                        </a:rPr>
                        <a:t>Ungünstig</a:t>
                      </a:r>
                    </a:p>
                  </a:txBody>
                  <a:tcPr marL="101600" marR="101600" anchor="ctr">
                    <a:solidFill>
                      <a:srgbClr val="000057"/>
                    </a:solidFill>
                  </a:tcPr>
                </a:tc>
                <a:extLst>
                  <a:ext uri="{0D108BD9-81ED-4DB2-BD59-A6C34878D82A}">
                    <a16:rowId xmlns:a16="http://schemas.microsoft.com/office/drawing/2014/main" val="10000"/>
                  </a:ext>
                </a:extLst>
              </a:tr>
              <a:tr h="457200">
                <a:tc>
                  <a:txBody>
                    <a:bodyPr/>
                    <a:lstStyle/>
                    <a:p>
                      <a:r>
                        <a:rPr sz="1600" b="0">
                          <a:solidFill>
                            <a:srgbClr val="000057"/>
                          </a:solidFill>
                        </a:rPr>
                        <a:t>Aufgabe</a:t>
                      </a:r>
                    </a:p>
                  </a:txBody>
                  <a:tcPr marL="101600" marR="101600" anchor="ctr">
                    <a:solidFill>
                      <a:srgbClr val="FFFFFF"/>
                    </a:solidFill>
                  </a:tcPr>
                </a:tc>
                <a:tc>
                  <a:txBody>
                    <a:bodyPr/>
                    <a:lstStyle/>
                    <a:p>
                      <a:r>
                        <a:rPr sz="1600" b="0">
                          <a:solidFill>
                            <a:srgbClr val="000057"/>
                          </a:solidFill>
                        </a:rPr>
                        <a:t>Objekt + Verb im Infinitiv</a:t>
                      </a:r>
                    </a:p>
                  </a:txBody>
                  <a:tcPr marL="101600" marR="101600" anchor="ctr">
                    <a:solidFill>
                      <a:srgbClr val="FFFFFF"/>
                    </a:solidFill>
                  </a:tcPr>
                </a:tc>
                <a:tc>
                  <a:txBody>
                    <a:bodyPr/>
                    <a:lstStyle/>
                    <a:p>
                      <a:r>
                        <a:rPr sz="1600" b="0">
                          <a:solidFill>
                            <a:srgbClr val="000057"/>
                          </a:solidFill>
                        </a:rPr>
                        <a:t>Antrag prüfen</a:t>
                      </a:r>
                    </a:p>
                  </a:txBody>
                  <a:tcPr marL="101600" marR="101600" anchor="ctr">
                    <a:solidFill>
                      <a:srgbClr val="FFFFFF"/>
                    </a:solidFill>
                  </a:tcPr>
                </a:tc>
                <a:tc>
                  <a:txBody>
                    <a:bodyPr/>
                    <a:lstStyle/>
                    <a:p>
                      <a:r>
                        <a:rPr sz="1600" b="0">
                          <a:solidFill>
                            <a:srgbClr val="8A4300"/>
                          </a:solidFill>
                        </a:rPr>
                        <a:t>Prüfung</a:t>
                      </a:r>
                    </a:p>
                  </a:txBody>
                  <a:tcPr marL="101600" marR="101600" anchor="ctr">
                    <a:solidFill>
                      <a:srgbClr val="FFFFFF"/>
                    </a:solidFill>
                  </a:tcPr>
                </a:tc>
                <a:extLst>
                  <a:ext uri="{0D108BD9-81ED-4DB2-BD59-A6C34878D82A}">
                    <a16:rowId xmlns:a16="http://schemas.microsoft.com/office/drawing/2014/main" val="10001"/>
                  </a:ext>
                </a:extLst>
              </a:tr>
              <a:tr h="457200">
                <a:tc>
                  <a:txBody>
                    <a:bodyPr/>
                    <a:lstStyle/>
                    <a:p>
                      <a:r>
                        <a:rPr sz="1600" b="0">
                          <a:solidFill>
                            <a:srgbClr val="000057"/>
                          </a:solidFill>
                        </a:rPr>
                        <a:t>Ereignis</a:t>
                      </a:r>
                    </a:p>
                  </a:txBody>
                  <a:tcPr marL="101600" marR="101600" anchor="ctr">
                    <a:solidFill>
                      <a:srgbClr val="F5F6FA"/>
                    </a:solidFill>
                  </a:tcPr>
                </a:tc>
                <a:tc>
                  <a:txBody>
                    <a:bodyPr/>
                    <a:lstStyle/>
                    <a:p>
                      <a:r>
                        <a:rPr sz="1600" b="0">
                          <a:solidFill>
                            <a:srgbClr val="000057"/>
                          </a:solidFill>
                        </a:rPr>
                        <a:t>Objekt + Partizip (Zustand)</a:t>
                      </a:r>
                    </a:p>
                  </a:txBody>
                  <a:tcPr marL="101600" marR="101600" anchor="ctr">
                    <a:solidFill>
                      <a:srgbClr val="F5F6FA"/>
                    </a:solidFill>
                  </a:tcPr>
                </a:tc>
                <a:tc>
                  <a:txBody>
                    <a:bodyPr/>
                    <a:lstStyle/>
                    <a:p>
                      <a:r>
                        <a:rPr sz="1600" b="0">
                          <a:solidFill>
                            <a:srgbClr val="000057"/>
                          </a:solidFill>
                        </a:rPr>
                        <a:t>Antrag eingegangen</a:t>
                      </a:r>
                    </a:p>
                  </a:txBody>
                  <a:tcPr marL="101600" marR="101600" anchor="ctr">
                    <a:solidFill>
                      <a:srgbClr val="F5F6FA"/>
                    </a:solidFill>
                  </a:tcPr>
                </a:tc>
                <a:tc>
                  <a:txBody>
                    <a:bodyPr/>
                    <a:lstStyle/>
                    <a:p>
                      <a:r>
                        <a:rPr sz="1600" b="0">
                          <a:solidFill>
                            <a:srgbClr val="8A4300"/>
                          </a:solidFill>
                        </a:rPr>
                        <a:t>Eingang</a:t>
                      </a:r>
                    </a:p>
                  </a:txBody>
                  <a:tcPr marL="101600" marR="101600" anchor="ctr">
                    <a:solidFill>
                      <a:srgbClr val="F5F6FA"/>
                    </a:solidFill>
                  </a:tcPr>
                </a:tc>
                <a:extLst>
                  <a:ext uri="{0D108BD9-81ED-4DB2-BD59-A6C34878D82A}">
                    <a16:rowId xmlns:a16="http://schemas.microsoft.com/office/drawing/2014/main" val="10002"/>
                  </a:ext>
                </a:extLst>
              </a:tr>
              <a:tr h="457200">
                <a:tc>
                  <a:txBody>
                    <a:bodyPr/>
                    <a:lstStyle/>
                    <a:p>
                      <a:r>
                        <a:rPr sz="1600" b="0">
                          <a:solidFill>
                            <a:srgbClr val="000057"/>
                          </a:solidFill>
                        </a:rPr>
                        <a:t>XOR-Gateway</a:t>
                      </a:r>
                    </a:p>
                  </a:txBody>
                  <a:tcPr marL="101600" marR="101600" anchor="ctr">
                    <a:solidFill>
                      <a:srgbClr val="FFFFFF"/>
                    </a:solidFill>
                  </a:tcPr>
                </a:tc>
                <a:tc>
                  <a:txBody>
                    <a:bodyPr/>
                    <a:lstStyle/>
                    <a:p>
                      <a:r>
                        <a:rPr sz="1600" b="0">
                          <a:solidFill>
                            <a:srgbClr val="000057"/>
                          </a:solidFill>
                        </a:rPr>
                        <a:t>Frage; Kanten tragen die Antworten</a:t>
                      </a:r>
                    </a:p>
                  </a:txBody>
                  <a:tcPr marL="101600" marR="101600" anchor="ctr">
                    <a:solidFill>
                      <a:srgbClr val="FFFFFF"/>
                    </a:solidFill>
                  </a:tcPr>
                </a:tc>
                <a:tc>
                  <a:txBody>
                    <a:bodyPr/>
                    <a:lstStyle/>
                    <a:p>
                      <a:r>
                        <a:rPr sz="1600" b="0">
                          <a:solidFill>
                            <a:srgbClr val="000057"/>
                          </a:solidFill>
                        </a:rPr>
                        <a:t>Antrag vollständig?</a:t>
                      </a:r>
                    </a:p>
                  </a:txBody>
                  <a:tcPr marL="101600" marR="101600" anchor="ctr">
                    <a:solidFill>
                      <a:srgbClr val="FFFFFF"/>
                    </a:solidFill>
                  </a:tcPr>
                </a:tc>
                <a:tc>
                  <a:txBody>
                    <a:bodyPr/>
                    <a:lstStyle/>
                    <a:p>
                      <a:r>
                        <a:rPr sz="1600" b="0">
                          <a:solidFill>
                            <a:srgbClr val="8A4300"/>
                          </a:solidFill>
                        </a:rPr>
                        <a:t>Vollständigkeit</a:t>
                      </a:r>
                    </a:p>
                  </a:txBody>
                  <a:tcPr marL="101600" marR="101600" anchor="ctr">
                    <a:solidFill>
                      <a:srgbClr val="FFFFFF"/>
                    </a:solidFill>
                  </a:tcPr>
                </a:tc>
                <a:extLst>
                  <a:ext uri="{0D108BD9-81ED-4DB2-BD59-A6C34878D82A}">
                    <a16:rowId xmlns:a16="http://schemas.microsoft.com/office/drawing/2014/main" val="10003"/>
                  </a:ext>
                </a:extLst>
              </a:tr>
              <a:tr h="457200">
                <a:tc>
                  <a:txBody>
                    <a:bodyPr/>
                    <a:lstStyle/>
                    <a:p>
                      <a:r>
                        <a:rPr sz="1600" b="0">
                          <a:solidFill>
                            <a:srgbClr val="000057"/>
                          </a:solidFill>
                        </a:rPr>
                        <a:t>Lane</a:t>
                      </a:r>
                    </a:p>
                  </a:txBody>
                  <a:tcPr marL="101600" marR="101600" anchor="ctr">
                    <a:solidFill>
                      <a:srgbClr val="F5F6FA"/>
                    </a:solidFill>
                  </a:tcPr>
                </a:tc>
                <a:tc>
                  <a:txBody>
                    <a:bodyPr/>
                    <a:lstStyle/>
                    <a:p>
                      <a:r>
                        <a:rPr sz="1600" b="0">
                          <a:solidFill>
                            <a:srgbClr val="000057"/>
                          </a:solidFill>
                        </a:rPr>
                        <a:t>Rolle oder Stelle, keine Person</a:t>
                      </a:r>
                    </a:p>
                  </a:txBody>
                  <a:tcPr marL="101600" marR="101600" anchor="ctr">
                    <a:solidFill>
                      <a:srgbClr val="F5F6FA"/>
                    </a:solidFill>
                  </a:tcPr>
                </a:tc>
                <a:tc>
                  <a:txBody>
                    <a:bodyPr/>
                    <a:lstStyle/>
                    <a:p>
                      <a:r>
                        <a:rPr sz="1600" b="0">
                          <a:solidFill>
                            <a:srgbClr val="000057"/>
                          </a:solidFill>
                        </a:rPr>
                        <a:t>Prüfungsamt</a:t>
                      </a:r>
                    </a:p>
                  </a:txBody>
                  <a:tcPr marL="101600" marR="101600" anchor="ctr">
                    <a:solidFill>
                      <a:srgbClr val="F5F6FA"/>
                    </a:solidFill>
                  </a:tcPr>
                </a:tc>
                <a:tc>
                  <a:txBody>
                    <a:bodyPr/>
                    <a:lstStyle/>
                    <a:p>
                      <a:r>
                        <a:rPr sz="1600" b="0">
                          <a:solidFill>
                            <a:srgbClr val="8A4300"/>
                          </a:solidFill>
                        </a:rPr>
                        <a:t>Frau Müller</a:t>
                      </a:r>
                    </a:p>
                  </a:txBody>
                  <a:tcPr marL="101600" marR="101600" anchor="ctr">
                    <a:solidFill>
                      <a:srgbClr val="F5F6FA"/>
                    </a:solidFill>
                  </a:tcPr>
                </a:tc>
                <a:extLst>
                  <a:ext uri="{0D108BD9-81ED-4DB2-BD59-A6C34878D82A}">
                    <a16:rowId xmlns:a16="http://schemas.microsoft.com/office/drawing/2014/main" val="10004"/>
                  </a:ext>
                </a:extLst>
              </a:tr>
            </a:tbl>
          </a:graphicData>
        </a:graphic>
      </p:graphicFrame>
      <p:sp>
        <p:nvSpPr>
          <p:cNvPr id="1012" name="Frage"/>
          <p:cNvSpPr/>
          <p:nvPr/>
        </p:nvSpPr>
        <p:spPr>
          <a:xfrm>
            <a:off x="838200" y="5238750"/>
            <a:ext cx="10515600" cy="762000"/>
          </a:xfrm>
          <a:prstGeom prst="roundRect">
            <a:avLst>
              <a:gd name="adj" fmla="val 13333"/>
            </a:avLst>
          </a:prstGeom>
          <a:solidFill>
            <a:srgbClr val="FFF0DC"/>
          </a:solidFill>
          <a:ln w="9525">
            <a:solidFill>
              <a:srgbClr val="FBC98A"/>
            </a:solidFill>
          </a:ln>
          <a:effectLst/>
        </p:spPr>
        <p:style>
          <a:lnRef idx="1">
            <a:schemeClr val="accent1"/>
          </a:lnRef>
          <a:fillRef idx="3">
            <a:schemeClr val="accent1"/>
          </a:fillRef>
          <a:effectRef idx="2">
            <a:schemeClr val="accent1"/>
          </a:effectRef>
          <a:fontRef idx="minor">
            <a:schemeClr val="lt1"/>
          </a:fontRef>
        </p:style>
        <p:txBody>
          <a:bodyPr wrap="square" lIns="203200" tIns="101600" rIns="203200" bIns="101600" rtlCol="0" anchor="ctr"/>
          <a:lstStyle/>
          <a:p>
            <a:pPr algn="l"/>
            <a:r>
              <a:rPr sz="1600" b="1">
                <a:solidFill>
                  <a:srgbClr val="000057"/>
                </a:solidFill>
              </a:rPr>
              <a:t>Frage an Sie:</a:t>
            </a:r>
            <a:r>
              <a:rPr sz="1600" b="0">
                <a:solidFill>
                  <a:srgbClr val="000057"/>
                </a:solidFill>
              </a:rPr>
              <a:t> Wie modellieren Sie „Das Prüfungsamt kontrolliert die Unterlagen und schickt sie gegebenenfalls zurück“?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Exklusives Gateway (XOR)</a:t>
            </a:r>
          </a:p>
        </p:txBody>
      </p:sp>
      <p:sp>
        <p:nvSpPr>
          <p:cNvPr id="3" name="Dachzeile"/>
          <p:cNvSpPr txBox="1"/>
          <p:nvPr/>
        </p:nvSpPr>
        <p:spPr>
          <a:xfrm>
            <a:off x="976968" y="1003300"/>
            <a:ext cx="9386232" cy="215444"/>
          </a:xfrm>
          <a:prstGeom prst="rect">
            <a:avLst/>
          </a:prstGeom>
          <a:noFill/>
        </p:spPr>
        <p:txBody>
          <a:bodyPr wrap="square" lIns="0" tIns="0" rIns="0" bIns="0" anchor="t">
            <a:spAutoFit/>
          </a:bodyPr>
          <a:lstStyle/>
          <a:p>
            <a:pPr algn="l"/>
            <a:r>
              <a:rPr sz="1400" b="1">
                <a:solidFill>
                  <a:srgbClr val="A65200"/>
                </a:solidFill>
              </a:rPr>
              <a:t>Genau ein Weg · Beispiel: Prüfungsanmeldung bearbeiten</a:t>
            </a:r>
          </a:p>
        </p:txBody>
      </p:sp>
      <p:sp>
        <p:nvSpPr>
          <p:cNvPr id="1011" name="Fußzeilenplatzhalter 3">
            <a:extLst>
              <a:ext uri="{FF2B5EF4-FFF2-40B4-BE49-F238E27FC236}">
                <a16:creationId xmlns:a16="http://schemas.microsoft.com/office/drawing/2014/main" id="{FC5F3CD8-EC60-2361-1D7D-D106BCC7B2DC}"/>
              </a:ext>
            </a:extLst>
          </p:cNvPr>
          <p:cNvSpPr>
            <a:spLocks noGrp="1"/>
          </p:cNvSpPr>
          <p:nvPr>
            <p:ph type="ftr" sz="quarter" idx="11"/>
          </p:nvPr>
        </p:nvSpPr>
        <p:spPr/>
        <p:txBody>
          <a:bodyPr/>
          <a:lstStyle/>
          <a:p>
            <a:r>
              <a:rPr lang="de-DE">
                <a:latin typeface="+mn-lt"/>
              </a:rPr>
              <a:t>Einführung in BPMN 2.0</a:t>
            </a:r>
          </a:p>
        </p:txBody>
      </p:sp>
      <p:sp>
        <p:nvSpPr>
          <p:cNvPr id="1012" name="Foliennummernplatzhalter 4">
            <a:extLst>
              <a:ext uri="{FF2B5EF4-FFF2-40B4-BE49-F238E27FC236}">
                <a16:creationId xmlns:a16="http://schemas.microsoft.com/office/drawing/2014/main" id="{212431F3-14A8-70AD-D9D5-73D64C59C169}"/>
              </a:ext>
            </a:extLst>
          </p:cNvPr>
          <p:cNvSpPr>
            <a:spLocks noGrp="1"/>
          </p:cNvSpPr>
          <p:nvPr>
            <p:ph type="sldNum" sz="quarter" idx="12"/>
          </p:nvPr>
        </p:nvSpPr>
        <p:spPr/>
        <p:txBody>
          <a:bodyPr/>
          <a:lstStyle/>
          <a:p>
            <a:fld id="{10939345-BF37-7940-A564-825B7904D7BD}" type="slidenum">
              <a:rPr lang="de-DE" smtClean="0">
                <a:latin typeface="+mn-lt"/>
              </a:rPr>
              <a:t>7</a:t>
            </a:fld>
            <a:endParaRPr lang="de-DE"/>
          </a:p>
        </p:txBody>
      </p:sp>
      <p:sp>
        <p:nvSpPr>
          <p:cNvPr id="1013" name="Diagrammfläche"/>
          <p:cNvSpPr/>
          <p:nvPr/>
        </p:nvSpPr>
        <p:spPr>
          <a:xfrm>
            <a:off x="838200" y="1384300"/>
            <a:ext cx="10515600" cy="2984500"/>
          </a:xfrm>
          <a:prstGeom prst="roundRect">
            <a:avLst>
              <a:gd name="adj" fmla="val 3404"/>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14" name="Diagramm" descr="02_xor_pruefungsanmeldung.png"/>
          <p:cNvPicPr>
            <a:picLocks noChangeAspect="1"/>
          </p:cNvPicPr>
          <p:nvPr/>
        </p:nvPicPr>
        <p:blipFill>
          <a:blip r:embed="rId3"/>
          <a:stretch>
            <a:fillRect/>
          </a:stretch>
        </p:blipFill>
        <p:spPr>
          <a:xfrm>
            <a:off x="1850062" y="1536700"/>
            <a:ext cx="8491877" cy="2679700"/>
          </a:xfrm>
          <a:prstGeom prst="rect">
            <a:avLst/>
          </a:prstGeom>
        </p:spPr>
      </p:pic>
      <p:sp>
        <p:nvSpPr>
          <p:cNvPr id="1015" name="Merke"/>
          <p:cNvSpPr/>
          <p:nvPr/>
        </p:nvSpPr>
        <p:spPr>
          <a:xfrm>
            <a:off x="838200" y="4546600"/>
            <a:ext cx="5156200" cy="1454150"/>
          </a:xfrm>
          <a:prstGeom prst="roundRect">
            <a:avLst>
              <a:gd name="adj" fmla="val 6986"/>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l">
              <a:spcAft>
                <a:spcPts val="400"/>
              </a:spcAft>
            </a:pPr>
            <a:r>
              <a:rPr sz="1600" b="1">
                <a:solidFill>
                  <a:srgbClr val="000057"/>
                </a:solidFill>
              </a:rPr>
              <a:t>Merke</a:t>
            </a:r>
          </a:p>
          <a:p>
            <a:pPr algn="l">
              <a:lnSpc>
                <a:spcPct val="110000"/>
              </a:lnSpc>
              <a:spcAft>
                <a:spcPts val="400"/>
              </a:spcAft>
            </a:pPr>
            <a:r>
              <a:rPr sz="1400" b="0">
                <a:solidFill>
                  <a:srgbClr val="3F4847"/>
                </a:solidFill>
              </a:rPr>
              <a:t>Genau ein ausgehender Pfad wird gewählt. Das zweite XOR-Gateway führt die Pfade wieder zusammen.</a:t>
            </a:r>
          </a:p>
        </p:txBody>
      </p:sp>
      <p:sp>
        <p:nvSpPr>
          <p:cNvPr id="1016" name="Frage an Sie"/>
          <p:cNvSpPr/>
          <p:nvPr/>
        </p:nvSpPr>
        <p:spPr>
          <a:xfrm>
            <a:off x="6197600" y="4546600"/>
            <a:ext cx="5156200" cy="1454150"/>
          </a:xfrm>
          <a:prstGeom prst="roundRect">
            <a:avLst>
              <a:gd name="adj" fmla="val 6986"/>
            </a:avLst>
          </a:prstGeom>
          <a:solidFill>
            <a:srgbClr val="FFF0DC"/>
          </a:solidFill>
          <a:ln w="9525">
            <a:solidFill>
              <a:srgbClr val="FBC98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l">
              <a:spcAft>
                <a:spcPts val="400"/>
              </a:spcAft>
            </a:pPr>
            <a:r>
              <a:rPr sz="1600" b="1">
                <a:solidFill>
                  <a:srgbClr val="8A4300"/>
                </a:solidFill>
              </a:rPr>
              <a:t>Frage an Sie</a:t>
            </a:r>
          </a:p>
          <a:p>
            <a:pPr algn="l">
              <a:lnSpc>
                <a:spcPct val="110000"/>
              </a:lnSpc>
              <a:spcAft>
                <a:spcPts val="400"/>
              </a:spcAft>
            </a:pPr>
            <a:r>
              <a:rPr sz="1400" b="0">
                <a:solidFill>
                  <a:srgbClr val="000057"/>
                </a:solidFill>
              </a:rPr>
              <a:t>Was müssten Sie ergänzen, wenn die Voraussetzungen „noch offen“ sein können?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Paralleles Gateway (AND)</a:t>
            </a:r>
          </a:p>
        </p:txBody>
      </p:sp>
      <p:sp>
        <p:nvSpPr>
          <p:cNvPr id="3" name="Dachzeile"/>
          <p:cNvSpPr txBox="1"/>
          <p:nvPr/>
        </p:nvSpPr>
        <p:spPr>
          <a:xfrm>
            <a:off x="976968" y="1003300"/>
            <a:ext cx="9386232" cy="215444"/>
          </a:xfrm>
          <a:prstGeom prst="rect">
            <a:avLst/>
          </a:prstGeom>
          <a:noFill/>
        </p:spPr>
        <p:txBody>
          <a:bodyPr wrap="square" lIns="0" tIns="0" rIns="0" bIns="0" anchor="t">
            <a:spAutoFit/>
          </a:bodyPr>
          <a:lstStyle/>
          <a:p>
            <a:pPr algn="l"/>
            <a:r>
              <a:rPr sz="1400" b="1" dirty="0">
                <a:solidFill>
                  <a:srgbClr val="A65200"/>
                </a:solidFill>
              </a:rPr>
              <a:t>Alle Wege </a:t>
            </a:r>
            <a:r>
              <a:rPr sz="1400" b="1" dirty="0" err="1">
                <a:solidFill>
                  <a:srgbClr val="A65200"/>
                </a:solidFill>
              </a:rPr>
              <a:t>zugleich</a:t>
            </a:r>
            <a:r>
              <a:rPr sz="1400" b="1" dirty="0">
                <a:solidFill>
                  <a:srgbClr val="A65200"/>
                </a:solidFill>
              </a:rPr>
              <a:t> · </a:t>
            </a:r>
            <a:r>
              <a:rPr sz="1400" b="1" dirty="0" err="1">
                <a:solidFill>
                  <a:srgbClr val="A65200"/>
                </a:solidFill>
              </a:rPr>
              <a:t>Beispiel</a:t>
            </a:r>
            <a:r>
              <a:rPr sz="1400" b="1" dirty="0">
                <a:solidFill>
                  <a:srgbClr val="A65200"/>
                </a:solidFill>
              </a:rPr>
              <a:t>: Neue </a:t>
            </a:r>
            <a:r>
              <a:rPr sz="1400" b="1" dirty="0" err="1">
                <a:solidFill>
                  <a:srgbClr val="A65200"/>
                </a:solidFill>
              </a:rPr>
              <a:t>Studierende</a:t>
            </a:r>
            <a:r>
              <a:rPr sz="1400" b="1" dirty="0">
                <a:solidFill>
                  <a:srgbClr val="A65200"/>
                </a:solidFill>
              </a:rPr>
              <a:t> </a:t>
            </a:r>
            <a:r>
              <a:rPr sz="1400" b="1" dirty="0" err="1">
                <a:solidFill>
                  <a:srgbClr val="A65200"/>
                </a:solidFill>
              </a:rPr>
              <a:t>einschreiben</a:t>
            </a:r>
            <a:endParaRPr sz="1400" b="1" dirty="0">
              <a:solidFill>
                <a:srgbClr val="A65200"/>
              </a:solidFill>
            </a:endParaRPr>
          </a:p>
        </p:txBody>
      </p:sp>
      <p:sp>
        <p:nvSpPr>
          <p:cNvPr id="1013" name="Fußzeilenplatzhalter 3">
            <a:extLst>
              <a:ext uri="{FF2B5EF4-FFF2-40B4-BE49-F238E27FC236}">
                <a16:creationId xmlns:a16="http://schemas.microsoft.com/office/drawing/2014/main" id="{FC5F3CD8-EC60-2361-1D7D-D106BCC7B2DC}"/>
              </a:ext>
            </a:extLst>
          </p:cNvPr>
          <p:cNvSpPr>
            <a:spLocks noGrp="1"/>
          </p:cNvSpPr>
          <p:nvPr>
            <p:ph type="ftr" sz="quarter" idx="11"/>
          </p:nvPr>
        </p:nvSpPr>
        <p:spPr/>
        <p:txBody>
          <a:bodyPr/>
          <a:lstStyle/>
          <a:p>
            <a:r>
              <a:rPr lang="de-DE">
                <a:latin typeface="+mn-lt"/>
              </a:rPr>
              <a:t>Einführung in BPMN 2.0</a:t>
            </a:r>
          </a:p>
        </p:txBody>
      </p:sp>
      <p:sp>
        <p:nvSpPr>
          <p:cNvPr id="1014" name="Foliennummernplatzhalter 4">
            <a:extLst>
              <a:ext uri="{FF2B5EF4-FFF2-40B4-BE49-F238E27FC236}">
                <a16:creationId xmlns:a16="http://schemas.microsoft.com/office/drawing/2014/main" id="{212431F3-14A8-70AD-D9D5-73D64C59C169}"/>
              </a:ext>
            </a:extLst>
          </p:cNvPr>
          <p:cNvSpPr>
            <a:spLocks noGrp="1"/>
          </p:cNvSpPr>
          <p:nvPr>
            <p:ph type="sldNum" sz="quarter" idx="12"/>
          </p:nvPr>
        </p:nvSpPr>
        <p:spPr/>
        <p:txBody>
          <a:bodyPr/>
          <a:lstStyle/>
          <a:p>
            <a:fld id="{10939345-BF37-7940-A564-825B7904D7BD}" type="slidenum">
              <a:rPr lang="de-DE" smtClean="0">
                <a:latin typeface="+mn-lt"/>
              </a:rPr>
              <a:t>8</a:t>
            </a:fld>
            <a:endParaRPr lang="de-DE"/>
          </a:p>
        </p:txBody>
      </p:sp>
      <p:sp>
        <p:nvSpPr>
          <p:cNvPr id="1015" name="Diagrammfläche"/>
          <p:cNvSpPr/>
          <p:nvPr/>
        </p:nvSpPr>
        <p:spPr>
          <a:xfrm>
            <a:off x="838200" y="1384300"/>
            <a:ext cx="10515600" cy="2984500"/>
          </a:xfrm>
          <a:prstGeom prst="roundRect">
            <a:avLst>
              <a:gd name="adj" fmla="val 3404"/>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16" name="Diagramm" descr="03_and_einschreibung.png"/>
          <p:cNvPicPr>
            <a:picLocks noChangeAspect="1"/>
          </p:cNvPicPr>
          <p:nvPr/>
        </p:nvPicPr>
        <p:blipFill>
          <a:blip r:embed="rId3"/>
          <a:stretch>
            <a:fillRect/>
          </a:stretch>
        </p:blipFill>
        <p:spPr>
          <a:xfrm>
            <a:off x="2063484" y="1536700"/>
            <a:ext cx="8065033" cy="2679700"/>
          </a:xfrm>
          <a:prstGeom prst="rect">
            <a:avLst/>
          </a:prstGeom>
        </p:spPr>
      </p:pic>
      <p:sp>
        <p:nvSpPr>
          <p:cNvPr id="1017" name="Merke"/>
          <p:cNvSpPr/>
          <p:nvPr/>
        </p:nvSpPr>
        <p:spPr>
          <a:xfrm>
            <a:off x="838200" y="4546600"/>
            <a:ext cx="5156200" cy="1454150"/>
          </a:xfrm>
          <a:prstGeom prst="roundRect">
            <a:avLst>
              <a:gd name="adj" fmla="val 6986"/>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l">
              <a:spcAft>
                <a:spcPts val="400"/>
              </a:spcAft>
            </a:pPr>
            <a:r>
              <a:rPr sz="1600" b="1">
                <a:solidFill>
                  <a:srgbClr val="000057"/>
                </a:solidFill>
              </a:rPr>
              <a:t>Merke</a:t>
            </a:r>
          </a:p>
          <a:p>
            <a:pPr algn="l">
              <a:lnSpc>
                <a:spcPct val="110000"/>
              </a:lnSpc>
              <a:spcAft>
                <a:spcPts val="400"/>
              </a:spcAft>
            </a:pPr>
            <a:r>
              <a:rPr sz="1400" b="0">
                <a:solidFill>
                  <a:srgbClr val="3F4847"/>
                </a:solidFill>
              </a:rPr>
              <a:t>Alle ausgehenden Pfade starten ohne Bedingung. Das zusammenführende AND wartet, bis alle angekommen sind.</a:t>
            </a:r>
          </a:p>
        </p:txBody>
      </p:sp>
      <p:sp>
        <p:nvSpPr>
          <p:cNvPr id="1018" name="Frage an Sie"/>
          <p:cNvSpPr/>
          <p:nvPr/>
        </p:nvSpPr>
        <p:spPr>
          <a:xfrm>
            <a:off x="6197600" y="4546600"/>
            <a:ext cx="5156200" cy="1454150"/>
          </a:xfrm>
          <a:prstGeom prst="roundRect">
            <a:avLst>
              <a:gd name="adj" fmla="val 6986"/>
            </a:avLst>
          </a:prstGeom>
          <a:solidFill>
            <a:srgbClr val="FFF0DC"/>
          </a:solidFill>
          <a:ln w="9525">
            <a:solidFill>
              <a:srgbClr val="FBC98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l">
              <a:spcAft>
                <a:spcPts val="400"/>
              </a:spcAft>
            </a:pPr>
            <a:r>
              <a:rPr sz="1600" b="1">
                <a:solidFill>
                  <a:srgbClr val="8A4300"/>
                </a:solidFill>
              </a:rPr>
              <a:t>Frage an Sie</a:t>
            </a:r>
          </a:p>
          <a:p>
            <a:pPr algn="l">
              <a:lnSpc>
                <a:spcPct val="110000"/>
              </a:lnSpc>
              <a:spcAft>
                <a:spcPts val="400"/>
              </a:spcAft>
            </a:pPr>
            <a:r>
              <a:rPr sz="1400" b="0">
                <a:solidFill>
                  <a:srgbClr val="000057"/>
                </a:solidFill>
              </a:rPr>
              <a:t>Was passiert, wenn rechts ein XOR- statt eines AND-Gateways zusammenführt?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Inklusives Gateway (OR)</a:t>
            </a:r>
          </a:p>
        </p:txBody>
      </p:sp>
      <p:sp>
        <p:nvSpPr>
          <p:cNvPr id="3" name="Dachzeile"/>
          <p:cNvSpPr txBox="1"/>
          <p:nvPr/>
        </p:nvSpPr>
        <p:spPr>
          <a:xfrm>
            <a:off x="976968" y="1003300"/>
            <a:ext cx="9386232" cy="215444"/>
          </a:xfrm>
          <a:prstGeom prst="rect">
            <a:avLst/>
          </a:prstGeom>
          <a:noFill/>
        </p:spPr>
        <p:txBody>
          <a:bodyPr wrap="square" lIns="0" tIns="0" rIns="0" bIns="0" anchor="t">
            <a:spAutoFit/>
          </a:bodyPr>
          <a:lstStyle/>
          <a:p>
            <a:pPr algn="l"/>
            <a:r>
              <a:rPr sz="1400" b="1" dirty="0">
                <a:solidFill>
                  <a:srgbClr val="A65200"/>
                </a:solidFill>
              </a:rPr>
              <a:t>Einer </a:t>
            </a:r>
            <a:r>
              <a:rPr sz="1400" b="1" dirty="0" err="1">
                <a:solidFill>
                  <a:srgbClr val="A65200"/>
                </a:solidFill>
              </a:rPr>
              <a:t>oder</a:t>
            </a:r>
            <a:r>
              <a:rPr sz="1400" b="1" dirty="0">
                <a:solidFill>
                  <a:srgbClr val="A65200"/>
                </a:solidFill>
              </a:rPr>
              <a:t> </a:t>
            </a:r>
            <a:r>
              <a:rPr sz="1400" b="1" dirty="0" err="1">
                <a:solidFill>
                  <a:srgbClr val="A65200"/>
                </a:solidFill>
              </a:rPr>
              <a:t>mehrere</a:t>
            </a:r>
            <a:r>
              <a:rPr sz="1400" b="1" dirty="0">
                <a:solidFill>
                  <a:srgbClr val="A65200"/>
                </a:solidFill>
              </a:rPr>
              <a:t> Wege · </a:t>
            </a:r>
            <a:r>
              <a:rPr sz="1400" b="1" dirty="0" err="1">
                <a:solidFill>
                  <a:srgbClr val="A65200"/>
                </a:solidFill>
              </a:rPr>
              <a:t>Beispiel</a:t>
            </a:r>
            <a:r>
              <a:rPr sz="1400" b="1" dirty="0">
                <a:solidFill>
                  <a:srgbClr val="A65200"/>
                </a:solidFill>
              </a:rPr>
              <a:t>: </a:t>
            </a:r>
            <a:r>
              <a:rPr sz="1400" b="1" dirty="0" err="1">
                <a:solidFill>
                  <a:srgbClr val="A65200"/>
                </a:solidFill>
              </a:rPr>
              <a:t>Bewerbung</a:t>
            </a:r>
            <a:r>
              <a:rPr sz="1400" b="1" dirty="0">
                <a:solidFill>
                  <a:srgbClr val="A65200"/>
                </a:solidFill>
              </a:rPr>
              <a:t> </a:t>
            </a:r>
            <a:r>
              <a:rPr sz="1400" b="1" dirty="0" err="1">
                <a:solidFill>
                  <a:srgbClr val="A65200"/>
                </a:solidFill>
              </a:rPr>
              <a:t>prüfen</a:t>
            </a:r>
            <a:endParaRPr sz="1400" b="1" dirty="0">
              <a:solidFill>
                <a:srgbClr val="A65200"/>
              </a:solidFill>
            </a:endParaRPr>
          </a:p>
        </p:txBody>
      </p:sp>
      <p:sp>
        <p:nvSpPr>
          <p:cNvPr id="1015" name="Fußzeilenplatzhalter 3">
            <a:extLst>
              <a:ext uri="{FF2B5EF4-FFF2-40B4-BE49-F238E27FC236}">
                <a16:creationId xmlns:a16="http://schemas.microsoft.com/office/drawing/2014/main" id="{FC5F3CD8-EC60-2361-1D7D-D106BCC7B2DC}"/>
              </a:ext>
            </a:extLst>
          </p:cNvPr>
          <p:cNvSpPr>
            <a:spLocks noGrp="1"/>
          </p:cNvSpPr>
          <p:nvPr>
            <p:ph type="ftr" sz="quarter" idx="11"/>
          </p:nvPr>
        </p:nvSpPr>
        <p:spPr/>
        <p:txBody>
          <a:bodyPr/>
          <a:lstStyle/>
          <a:p>
            <a:r>
              <a:rPr lang="de-DE">
                <a:latin typeface="+mn-lt"/>
              </a:rPr>
              <a:t>Einführung in BPMN 2.0</a:t>
            </a:r>
          </a:p>
        </p:txBody>
      </p:sp>
      <p:sp>
        <p:nvSpPr>
          <p:cNvPr id="1016" name="Foliennummernplatzhalter 4">
            <a:extLst>
              <a:ext uri="{FF2B5EF4-FFF2-40B4-BE49-F238E27FC236}">
                <a16:creationId xmlns:a16="http://schemas.microsoft.com/office/drawing/2014/main" id="{212431F3-14A8-70AD-D9D5-73D64C59C169}"/>
              </a:ext>
            </a:extLst>
          </p:cNvPr>
          <p:cNvSpPr>
            <a:spLocks noGrp="1"/>
          </p:cNvSpPr>
          <p:nvPr>
            <p:ph type="sldNum" sz="quarter" idx="12"/>
          </p:nvPr>
        </p:nvSpPr>
        <p:spPr/>
        <p:txBody>
          <a:bodyPr/>
          <a:lstStyle/>
          <a:p>
            <a:fld id="{10939345-BF37-7940-A564-825B7904D7BD}" type="slidenum">
              <a:rPr lang="de-DE" smtClean="0">
                <a:latin typeface="+mn-lt"/>
              </a:rPr>
              <a:t>9</a:t>
            </a:fld>
            <a:endParaRPr lang="de-DE"/>
          </a:p>
        </p:txBody>
      </p:sp>
      <p:sp>
        <p:nvSpPr>
          <p:cNvPr id="1017" name="Diagrammfläche"/>
          <p:cNvSpPr/>
          <p:nvPr/>
        </p:nvSpPr>
        <p:spPr>
          <a:xfrm>
            <a:off x="838200" y="1384300"/>
            <a:ext cx="10515600" cy="2984500"/>
          </a:xfrm>
          <a:prstGeom prst="roundRect">
            <a:avLst>
              <a:gd name="adj" fmla="val 3404"/>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18" name="Diagramm" descr="04_or_bewerbung.png"/>
          <p:cNvPicPr>
            <a:picLocks noChangeAspect="1"/>
          </p:cNvPicPr>
          <p:nvPr/>
        </p:nvPicPr>
        <p:blipFill>
          <a:blip r:embed="rId3"/>
          <a:stretch>
            <a:fillRect/>
          </a:stretch>
        </p:blipFill>
        <p:spPr>
          <a:xfrm>
            <a:off x="1864667" y="1536700"/>
            <a:ext cx="8462665" cy="2679700"/>
          </a:xfrm>
          <a:prstGeom prst="rect">
            <a:avLst/>
          </a:prstGeom>
        </p:spPr>
      </p:pic>
      <p:sp>
        <p:nvSpPr>
          <p:cNvPr id="1019" name="Merke"/>
          <p:cNvSpPr/>
          <p:nvPr/>
        </p:nvSpPr>
        <p:spPr>
          <a:xfrm>
            <a:off x="838200" y="4546600"/>
            <a:ext cx="5156200" cy="1454150"/>
          </a:xfrm>
          <a:prstGeom prst="roundRect">
            <a:avLst>
              <a:gd name="adj" fmla="val 6986"/>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l">
              <a:spcAft>
                <a:spcPts val="400"/>
              </a:spcAft>
            </a:pPr>
            <a:r>
              <a:rPr sz="1600" b="1">
                <a:solidFill>
                  <a:srgbClr val="000057"/>
                </a:solidFill>
              </a:rPr>
              <a:t>Merke</a:t>
            </a:r>
          </a:p>
          <a:p>
            <a:pPr algn="l">
              <a:lnSpc>
                <a:spcPct val="110000"/>
              </a:lnSpc>
              <a:spcAft>
                <a:spcPts val="400"/>
              </a:spcAft>
            </a:pPr>
            <a:r>
              <a:rPr sz="1400" b="0">
                <a:solidFill>
                  <a:srgbClr val="3F4847"/>
                </a:solidFill>
              </a:rPr>
              <a:t>Jeder Pfad mit erfüllter Bedingung startet. Der Standardfluss (Querstrich) greift nur, wenn keine Bedingung zutrifft.</a:t>
            </a:r>
          </a:p>
        </p:txBody>
      </p:sp>
      <p:sp>
        <p:nvSpPr>
          <p:cNvPr id="1020" name="Frage an Sie"/>
          <p:cNvSpPr/>
          <p:nvPr/>
        </p:nvSpPr>
        <p:spPr>
          <a:xfrm>
            <a:off x="6197600" y="4546600"/>
            <a:ext cx="5156200" cy="1454150"/>
          </a:xfrm>
          <a:prstGeom prst="roundRect">
            <a:avLst>
              <a:gd name="adj" fmla="val 6986"/>
            </a:avLst>
          </a:prstGeom>
          <a:solidFill>
            <a:srgbClr val="FFF0DC"/>
          </a:solidFill>
          <a:ln w="9525">
            <a:solidFill>
              <a:srgbClr val="FBC98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l">
              <a:spcAft>
                <a:spcPts val="400"/>
              </a:spcAft>
            </a:pPr>
            <a:r>
              <a:rPr sz="1600" b="1">
                <a:solidFill>
                  <a:srgbClr val="8A4300"/>
                </a:solidFill>
              </a:rPr>
              <a:t>Frage an Sie</a:t>
            </a:r>
          </a:p>
          <a:p>
            <a:pPr algn="l">
              <a:lnSpc>
                <a:spcPct val="110000"/>
              </a:lnSpc>
              <a:spcAft>
                <a:spcPts val="400"/>
              </a:spcAft>
            </a:pPr>
            <a:r>
              <a:rPr sz="1400" b="0">
                <a:solidFill>
                  <a:srgbClr val="000057"/>
                </a:solidFill>
              </a:rPr>
              <a:t>Welche Pfade laufen bei einer Bewerberin mit ausländischem Abschluss und Härtefallantrag?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Drei Gateways im Vergleich</a:t>
            </a:r>
          </a:p>
        </p:txBody>
      </p:sp>
      <p:sp>
        <p:nvSpPr>
          <p:cNvPr id="3" name="Dachzeile"/>
          <p:cNvSpPr txBox="1"/>
          <p:nvPr/>
        </p:nvSpPr>
        <p:spPr>
          <a:xfrm>
            <a:off x="976968" y="1003300"/>
            <a:ext cx="9386232" cy="215900"/>
          </a:xfrm>
          <a:prstGeom prst="rect">
            <a:avLst/>
          </a:prstGeom>
          <a:noFill/>
        </p:spPr>
        <p:txBody>
          <a:bodyPr wrap="square" lIns="0" tIns="0" rIns="0" bIns="0" anchor="t">
            <a:spAutoFit/>
          </a:bodyPr>
          <a:lstStyle/>
          <a:p>
            <a:pPr algn="l"/>
            <a:r>
              <a:rPr sz="1400" b="1" dirty="0">
                <a:solidFill>
                  <a:srgbClr val="A65200"/>
                </a:solidFill>
              </a:rPr>
              <a:t>Gateways · </a:t>
            </a:r>
            <a:r>
              <a:rPr sz="1400" b="1" dirty="0" err="1">
                <a:solidFill>
                  <a:srgbClr val="A65200"/>
                </a:solidFill>
              </a:rPr>
              <a:t>Zusammenfassung</a:t>
            </a:r>
            <a:endParaRPr sz="1400" b="1" dirty="0">
              <a:solidFill>
                <a:srgbClr val="A65200"/>
              </a:solidFill>
            </a:endParaRPr>
          </a:p>
        </p:txBody>
      </p:sp>
      <p:sp>
        <p:nvSpPr>
          <p:cNvPr id="1017" name="Fußzeilenplatzhalter 3">
            <a:extLst>
              <a:ext uri="{FF2B5EF4-FFF2-40B4-BE49-F238E27FC236}">
                <a16:creationId xmlns:a16="http://schemas.microsoft.com/office/drawing/2014/main" id="{FC5F3CD8-EC60-2361-1D7D-D106BCC7B2DC}"/>
              </a:ext>
            </a:extLst>
          </p:cNvPr>
          <p:cNvSpPr>
            <a:spLocks noGrp="1"/>
          </p:cNvSpPr>
          <p:nvPr>
            <p:ph type="ftr" sz="quarter" idx="11"/>
          </p:nvPr>
        </p:nvSpPr>
        <p:spPr/>
        <p:txBody>
          <a:bodyPr/>
          <a:lstStyle/>
          <a:p>
            <a:r>
              <a:rPr lang="de-DE">
                <a:latin typeface="+mn-lt"/>
              </a:rPr>
              <a:t>Einführung in BPMN 2.0</a:t>
            </a:r>
          </a:p>
        </p:txBody>
      </p:sp>
      <p:sp>
        <p:nvSpPr>
          <p:cNvPr id="1018" name="Foliennummernplatzhalter 4">
            <a:extLst>
              <a:ext uri="{FF2B5EF4-FFF2-40B4-BE49-F238E27FC236}">
                <a16:creationId xmlns:a16="http://schemas.microsoft.com/office/drawing/2014/main" id="{212431F3-14A8-70AD-D9D5-73D64C59C169}"/>
              </a:ext>
            </a:extLst>
          </p:cNvPr>
          <p:cNvSpPr>
            <a:spLocks noGrp="1"/>
          </p:cNvSpPr>
          <p:nvPr>
            <p:ph type="sldNum" sz="quarter" idx="12"/>
          </p:nvPr>
        </p:nvSpPr>
        <p:spPr/>
        <p:txBody>
          <a:bodyPr/>
          <a:lstStyle/>
          <a:p>
            <a:fld id="{10939345-BF37-7940-A564-825B7904D7BD}" type="slidenum">
              <a:rPr lang="de-DE" smtClean="0">
                <a:latin typeface="+mn-lt"/>
              </a:rPr>
              <a:t>10</a:t>
            </a:fld>
            <a:endParaRPr lang="de-DE"/>
          </a:p>
        </p:txBody>
      </p:sp>
      <p:sp>
        <p:nvSpPr>
          <p:cNvPr id="1019" name="Exklusiv (XOR)"/>
          <p:cNvSpPr/>
          <p:nvPr/>
        </p:nvSpPr>
        <p:spPr>
          <a:xfrm>
            <a:off x="838200" y="1384300"/>
            <a:ext cx="3369733" cy="3746500"/>
          </a:xfrm>
          <a:prstGeom prst="roundRect">
            <a:avLst>
              <a:gd name="adj" fmla="val 3015"/>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20" name="Exklusiv (XOR) Symbol" descr="gateways_0.png"/>
          <p:cNvPicPr>
            <a:picLocks noChangeAspect="1"/>
          </p:cNvPicPr>
          <p:nvPr/>
        </p:nvPicPr>
        <p:blipFill>
          <a:blip r:embed="rId3"/>
          <a:stretch>
            <a:fillRect/>
          </a:stretch>
        </p:blipFill>
        <p:spPr>
          <a:xfrm>
            <a:off x="1041400" y="1587500"/>
            <a:ext cx="698500" cy="698500"/>
          </a:xfrm>
          <a:prstGeom prst="rect">
            <a:avLst/>
          </a:prstGeom>
        </p:spPr>
      </p:pic>
      <p:sp>
        <p:nvSpPr>
          <p:cNvPr id="1021" name="TextBox 1020"/>
          <p:cNvSpPr txBox="1"/>
          <p:nvPr/>
        </p:nvSpPr>
        <p:spPr>
          <a:xfrm>
            <a:off x="1041400" y="2463800"/>
            <a:ext cx="2963333" cy="2413000"/>
          </a:xfrm>
          <a:prstGeom prst="rect">
            <a:avLst/>
          </a:prstGeom>
          <a:noFill/>
        </p:spPr>
        <p:txBody>
          <a:bodyPr wrap="square" lIns="0" tIns="0" rIns="0" bIns="0" anchor="t">
            <a:spAutoFit/>
          </a:bodyPr>
          <a:lstStyle/>
          <a:p>
            <a:pPr algn="l">
              <a:spcAft>
                <a:spcPts val="1000"/>
              </a:spcAft>
            </a:pPr>
            <a:r>
              <a:rPr sz="2200" b="1">
                <a:solidFill>
                  <a:srgbClr val="000057"/>
                </a:solidFill>
              </a:rPr>
              <a:t>Exklusiv (XOR)</a:t>
            </a:r>
          </a:p>
          <a:p>
            <a:pPr algn="l">
              <a:spcAft>
                <a:spcPts val="800"/>
              </a:spcAft>
            </a:pPr>
            <a:r>
              <a:rPr sz="1600" b="1">
                <a:solidFill>
                  <a:srgbClr val="3F4847"/>
                </a:solidFill>
              </a:rPr>
              <a:t>Verzweigt:</a:t>
            </a:r>
            <a:r>
              <a:rPr sz="1600" b="0">
                <a:solidFill>
                  <a:srgbClr val="3F4847"/>
                </a:solidFill>
              </a:rPr>
              <a:t> genau ein Pfad, abhängig von Daten.</a:t>
            </a:r>
          </a:p>
          <a:p>
            <a:pPr algn="l"/>
            <a:r>
              <a:rPr sz="1600" b="1">
                <a:solidFill>
                  <a:srgbClr val="3F4847"/>
                </a:solidFill>
              </a:rPr>
              <a:t>Führt zusammen:</a:t>
            </a:r>
            <a:r>
              <a:rPr sz="1600" b="0">
                <a:solidFill>
                  <a:srgbClr val="3F4847"/>
                </a:solidFill>
              </a:rPr>
              <a:t> lässt jeden ankommenden Pfad sofort durch.</a:t>
            </a:r>
          </a:p>
        </p:txBody>
      </p:sp>
      <p:sp>
        <p:nvSpPr>
          <p:cNvPr id="1022" name="Parallel (AND)"/>
          <p:cNvSpPr/>
          <p:nvPr/>
        </p:nvSpPr>
        <p:spPr>
          <a:xfrm>
            <a:off x="4411133" y="1384300"/>
            <a:ext cx="3369733" cy="3746500"/>
          </a:xfrm>
          <a:prstGeom prst="roundRect">
            <a:avLst>
              <a:gd name="adj" fmla="val 3015"/>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23" name="Parallel (AND) Symbol" descr="gateways_1.png"/>
          <p:cNvPicPr>
            <a:picLocks noChangeAspect="1"/>
          </p:cNvPicPr>
          <p:nvPr/>
        </p:nvPicPr>
        <p:blipFill>
          <a:blip r:embed="rId4"/>
          <a:stretch>
            <a:fillRect/>
          </a:stretch>
        </p:blipFill>
        <p:spPr>
          <a:xfrm>
            <a:off x="4614333" y="1587500"/>
            <a:ext cx="698500" cy="698500"/>
          </a:xfrm>
          <a:prstGeom prst="rect">
            <a:avLst/>
          </a:prstGeom>
        </p:spPr>
      </p:pic>
      <p:sp>
        <p:nvSpPr>
          <p:cNvPr id="1024" name="TextBox 1023"/>
          <p:cNvSpPr txBox="1"/>
          <p:nvPr/>
        </p:nvSpPr>
        <p:spPr>
          <a:xfrm>
            <a:off x="4614333" y="2463800"/>
            <a:ext cx="2963333" cy="2413000"/>
          </a:xfrm>
          <a:prstGeom prst="rect">
            <a:avLst/>
          </a:prstGeom>
          <a:noFill/>
        </p:spPr>
        <p:txBody>
          <a:bodyPr wrap="square" lIns="0" tIns="0" rIns="0" bIns="0" anchor="t">
            <a:spAutoFit/>
          </a:bodyPr>
          <a:lstStyle/>
          <a:p>
            <a:pPr algn="l">
              <a:spcAft>
                <a:spcPts val="1000"/>
              </a:spcAft>
            </a:pPr>
            <a:r>
              <a:rPr sz="2200" b="1">
                <a:solidFill>
                  <a:srgbClr val="000057"/>
                </a:solidFill>
              </a:rPr>
              <a:t>Parallel (AND)</a:t>
            </a:r>
          </a:p>
          <a:p>
            <a:pPr algn="l">
              <a:spcAft>
                <a:spcPts val="800"/>
              </a:spcAft>
            </a:pPr>
            <a:r>
              <a:rPr sz="1600" b="1">
                <a:solidFill>
                  <a:srgbClr val="3F4847"/>
                </a:solidFill>
              </a:rPr>
              <a:t>Verzweigt:</a:t>
            </a:r>
            <a:r>
              <a:rPr sz="1600" b="0">
                <a:solidFill>
                  <a:srgbClr val="3F4847"/>
                </a:solidFill>
              </a:rPr>
              <a:t> alle Pfade, ohne Bedingung.</a:t>
            </a:r>
          </a:p>
          <a:p>
            <a:pPr algn="l"/>
            <a:r>
              <a:rPr sz="1600" b="1">
                <a:solidFill>
                  <a:srgbClr val="3F4847"/>
                </a:solidFill>
              </a:rPr>
              <a:t>Führt zusammen:</a:t>
            </a:r>
            <a:r>
              <a:rPr sz="1600" b="0">
                <a:solidFill>
                  <a:srgbClr val="3F4847"/>
                </a:solidFill>
              </a:rPr>
              <a:t> wartet, bis alle Pfade angekommen sind.</a:t>
            </a:r>
          </a:p>
        </p:txBody>
      </p:sp>
      <p:sp>
        <p:nvSpPr>
          <p:cNvPr id="1025" name="Inklusiv (OR)"/>
          <p:cNvSpPr/>
          <p:nvPr/>
        </p:nvSpPr>
        <p:spPr>
          <a:xfrm>
            <a:off x="7984067" y="1384300"/>
            <a:ext cx="3369733" cy="3746500"/>
          </a:xfrm>
          <a:prstGeom prst="roundRect">
            <a:avLst>
              <a:gd name="adj" fmla="val 3015"/>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26" name="Inklusiv (OR) Symbol" descr="gateways_2.png"/>
          <p:cNvPicPr>
            <a:picLocks noChangeAspect="1"/>
          </p:cNvPicPr>
          <p:nvPr/>
        </p:nvPicPr>
        <p:blipFill>
          <a:blip r:embed="rId5"/>
          <a:stretch>
            <a:fillRect/>
          </a:stretch>
        </p:blipFill>
        <p:spPr>
          <a:xfrm>
            <a:off x="8187267" y="1587500"/>
            <a:ext cx="698500" cy="698500"/>
          </a:xfrm>
          <a:prstGeom prst="rect">
            <a:avLst/>
          </a:prstGeom>
        </p:spPr>
      </p:pic>
      <p:sp>
        <p:nvSpPr>
          <p:cNvPr id="1027" name="TextBox 1026"/>
          <p:cNvSpPr txBox="1"/>
          <p:nvPr/>
        </p:nvSpPr>
        <p:spPr>
          <a:xfrm>
            <a:off x="8187267" y="2463800"/>
            <a:ext cx="2963333" cy="2413000"/>
          </a:xfrm>
          <a:prstGeom prst="rect">
            <a:avLst/>
          </a:prstGeom>
          <a:noFill/>
        </p:spPr>
        <p:txBody>
          <a:bodyPr wrap="square" lIns="0" tIns="0" rIns="0" bIns="0" anchor="t">
            <a:spAutoFit/>
          </a:bodyPr>
          <a:lstStyle/>
          <a:p>
            <a:pPr algn="l">
              <a:spcAft>
                <a:spcPts val="1000"/>
              </a:spcAft>
            </a:pPr>
            <a:r>
              <a:rPr sz="2200" b="1">
                <a:solidFill>
                  <a:srgbClr val="000057"/>
                </a:solidFill>
              </a:rPr>
              <a:t>Inklusiv (OR)</a:t>
            </a:r>
          </a:p>
          <a:p>
            <a:pPr algn="l">
              <a:spcAft>
                <a:spcPts val="800"/>
              </a:spcAft>
            </a:pPr>
            <a:r>
              <a:rPr sz="1600" b="1">
                <a:solidFill>
                  <a:srgbClr val="3F4847"/>
                </a:solidFill>
              </a:rPr>
              <a:t>Verzweigt:</a:t>
            </a:r>
            <a:r>
              <a:rPr sz="1600" b="0">
                <a:solidFill>
                  <a:srgbClr val="3F4847"/>
                </a:solidFill>
              </a:rPr>
              <a:t> jeder Pfad, dessen Bedingung zutrifft.</a:t>
            </a:r>
          </a:p>
          <a:p>
            <a:pPr algn="l"/>
            <a:r>
              <a:rPr sz="1600" b="1">
                <a:solidFill>
                  <a:srgbClr val="3F4847"/>
                </a:solidFill>
              </a:rPr>
              <a:t>Führt zusammen:</a:t>
            </a:r>
            <a:r>
              <a:rPr sz="1600" b="0">
                <a:solidFill>
                  <a:srgbClr val="3F4847"/>
                </a:solidFill>
              </a:rPr>
              <a:t> wartet auf alle tatsächlich gestarteten Pfade.</a:t>
            </a:r>
          </a:p>
        </p:txBody>
      </p:sp>
      <p:sp>
        <p:nvSpPr>
          <p:cNvPr id="1028" name="TextBox 1027"/>
          <p:cNvSpPr txBox="1"/>
          <p:nvPr/>
        </p:nvSpPr>
        <p:spPr>
          <a:xfrm>
            <a:off x="838200" y="5321300"/>
            <a:ext cx="10515600" cy="317500"/>
          </a:xfrm>
          <a:prstGeom prst="rect">
            <a:avLst/>
          </a:prstGeom>
          <a:noFill/>
        </p:spPr>
        <p:txBody>
          <a:bodyPr wrap="square" lIns="0" tIns="0" rIns="0" bIns="0" anchor="t">
            <a:spAutoFit/>
          </a:bodyPr>
          <a:lstStyle/>
          <a:p>
            <a:pPr algn="l"/>
            <a:r>
              <a:rPr sz="1800" b="1">
                <a:solidFill>
                  <a:srgbClr val="000057"/>
                </a:solidFill>
              </a:rPr>
              <a:t>Faustregel:</a:t>
            </a:r>
            <a:r>
              <a:rPr sz="1800" b="0">
                <a:solidFill>
                  <a:srgbClr val="000057"/>
                </a:solidFill>
              </a:rPr>
              <a:t> Zusammenführen mit dem Gateway-Typ, mit dem verzweigt wurde.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Welches Gateway passt?</a:t>
            </a:r>
          </a:p>
        </p:txBody>
      </p:sp>
      <p:sp>
        <p:nvSpPr>
          <p:cNvPr id="3" name="Dachzeile"/>
          <p:cNvSpPr txBox="1"/>
          <p:nvPr/>
        </p:nvSpPr>
        <p:spPr>
          <a:xfrm>
            <a:off x="976968" y="1003299"/>
            <a:ext cx="9386232" cy="215444"/>
          </a:xfrm>
          <a:prstGeom prst="rect">
            <a:avLst/>
          </a:prstGeom>
          <a:noFill/>
        </p:spPr>
        <p:txBody>
          <a:bodyPr wrap="square" lIns="0" tIns="0" rIns="0" bIns="0" anchor="t">
            <a:spAutoFit/>
          </a:bodyPr>
          <a:lstStyle/>
          <a:p>
            <a:pPr algn="l"/>
            <a:r>
              <a:rPr sz="1400" b="1" dirty="0">
                <a:solidFill>
                  <a:srgbClr val="A65200"/>
                </a:solidFill>
              </a:rPr>
              <a:t>Kurzes Quiz</a:t>
            </a:r>
          </a:p>
        </p:txBody>
      </p:sp>
      <p:sp>
        <p:nvSpPr>
          <p:cNvPr id="1019" name="Fußzeilenplatzhalter 3">
            <a:extLst>
              <a:ext uri="{FF2B5EF4-FFF2-40B4-BE49-F238E27FC236}">
                <a16:creationId xmlns:a16="http://schemas.microsoft.com/office/drawing/2014/main" id="{FC5F3CD8-EC60-2361-1D7D-D106BCC7B2DC}"/>
              </a:ext>
            </a:extLst>
          </p:cNvPr>
          <p:cNvSpPr>
            <a:spLocks noGrp="1"/>
          </p:cNvSpPr>
          <p:nvPr>
            <p:ph type="ftr" sz="quarter" idx="11"/>
          </p:nvPr>
        </p:nvSpPr>
        <p:spPr/>
        <p:txBody>
          <a:bodyPr/>
          <a:lstStyle/>
          <a:p>
            <a:r>
              <a:rPr lang="de-DE">
                <a:latin typeface="+mn-lt"/>
              </a:rPr>
              <a:t>Einführung in BPMN 2.0</a:t>
            </a:r>
          </a:p>
        </p:txBody>
      </p:sp>
      <p:sp>
        <p:nvSpPr>
          <p:cNvPr id="1020" name="Foliennummernplatzhalter 4">
            <a:extLst>
              <a:ext uri="{FF2B5EF4-FFF2-40B4-BE49-F238E27FC236}">
                <a16:creationId xmlns:a16="http://schemas.microsoft.com/office/drawing/2014/main" id="{212431F3-14A8-70AD-D9D5-73D64C59C169}"/>
              </a:ext>
            </a:extLst>
          </p:cNvPr>
          <p:cNvSpPr>
            <a:spLocks noGrp="1"/>
          </p:cNvSpPr>
          <p:nvPr>
            <p:ph type="sldNum" sz="quarter" idx="12"/>
          </p:nvPr>
        </p:nvSpPr>
        <p:spPr/>
        <p:txBody>
          <a:bodyPr/>
          <a:lstStyle/>
          <a:p>
            <a:fld id="{10939345-BF37-7940-A564-825B7904D7BD}" type="slidenum">
              <a:rPr lang="de-DE" smtClean="0">
                <a:latin typeface="+mn-lt"/>
              </a:rPr>
              <a:t>11</a:t>
            </a:fld>
            <a:endParaRPr lang="de-DE"/>
          </a:p>
        </p:txBody>
      </p:sp>
      <p:sp>
        <p:nvSpPr>
          <p:cNvPr id="1021" name="Fall A"/>
          <p:cNvSpPr/>
          <p:nvPr/>
        </p:nvSpPr>
        <p:spPr>
          <a:xfrm>
            <a:off x="838200" y="1384300"/>
            <a:ext cx="3369733" cy="3810000"/>
          </a:xfrm>
          <a:prstGeom prst="roundRect">
            <a:avLst>
              <a:gd name="adj" fmla="val 3015"/>
            </a:avLst>
          </a:prstGeom>
          <a:solidFill>
            <a:srgbClr val="000057"/>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t"/>
          <a:lstStyle/>
          <a:p>
            <a:pPr algn="l">
              <a:spcAft>
                <a:spcPts val="1200"/>
              </a:spcAft>
            </a:pPr>
            <a:r>
              <a:rPr sz="4400" b="1">
                <a:solidFill>
                  <a:srgbClr val="FE951E"/>
                </a:solidFill>
              </a:rPr>
              <a:t>A</a:t>
            </a:r>
          </a:p>
          <a:p>
            <a:pPr algn="l">
              <a:lnSpc>
                <a:spcPct val="110000"/>
              </a:lnSpc>
            </a:pPr>
            <a:r>
              <a:rPr sz="2000" b="0">
                <a:solidFill>
                  <a:srgbClr val="FFFFFF"/>
                </a:solidFill>
              </a:rPr>
              <a:t>Nach der Korrektur wird eine Klausur entweder als bestanden oder als nicht bestanden verbucht.</a:t>
            </a:r>
          </a:p>
        </p:txBody>
      </p:sp>
      <p:sp>
        <p:nvSpPr>
          <p:cNvPr id="1022" name="Fall B"/>
          <p:cNvSpPr/>
          <p:nvPr/>
        </p:nvSpPr>
        <p:spPr>
          <a:xfrm>
            <a:off x="4411133" y="1384300"/>
            <a:ext cx="3369733" cy="3810000"/>
          </a:xfrm>
          <a:prstGeom prst="roundRect">
            <a:avLst>
              <a:gd name="adj" fmla="val 3015"/>
            </a:avLst>
          </a:prstGeom>
          <a:solidFill>
            <a:srgbClr val="000057"/>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t"/>
          <a:lstStyle/>
          <a:p>
            <a:pPr algn="l">
              <a:spcAft>
                <a:spcPts val="1200"/>
              </a:spcAft>
            </a:pPr>
            <a:r>
              <a:rPr sz="4400" b="1">
                <a:solidFill>
                  <a:srgbClr val="FE951E"/>
                </a:solidFill>
              </a:rPr>
              <a:t>B</a:t>
            </a:r>
          </a:p>
          <a:p>
            <a:pPr algn="l">
              <a:lnSpc>
                <a:spcPct val="110000"/>
              </a:lnSpc>
            </a:pPr>
            <a:r>
              <a:rPr sz="2000" b="0">
                <a:solidFill>
                  <a:srgbClr val="FFFFFF"/>
                </a:solidFill>
              </a:rPr>
              <a:t>Vor der Exmatrikulation bestätigen Bibliothek, Rechenzentrum und Sekretariat die Entlastung – in beliebiger Reihenfolge.</a:t>
            </a:r>
          </a:p>
        </p:txBody>
      </p:sp>
      <p:sp>
        <p:nvSpPr>
          <p:cNvPr id="1023" name="Fall C"/>
          <p:cNvSpPr/>
          <p:nvPr/>
        </p:nvSpPr>
        <p:spPr>
          <a:xfrm>
            <a:off x="7984067" y="1384300"/>
            <a:ext cx="3369733" cy="3810000"/>
          </a:xfrm>
          <a:prstGeom prst="roundRect">
            <a:avLst>
              <a:gd name="adj" fmla="val 3015"/>
            </a:avLst>
          </a:prstGeom>
          <a:solidFill>
            <a:srgbClr val="000057"/>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t"/>
          <a:lstStyle/>
          <a:p>
            <a:pPr algn="l">
              <a:spcAft>
                <a:spcPts val="1200"/>
              </a:spcAft>
            </a:pPr>
            <a:r>
              <a:rPr sz="4400" b="1">
                <a:solidFill>
                  <a:srgbClr val="FE951E"/>
                </a:solidFill>
              </a:rPr>
              <a:t>C</a:t>
            </a:r>
          </a:p>
          <a:p>
            <a:pPr algn="l">
              <a:lnSpc>
                <a:spcPct val="110000"/>
              </a:lnSpc>
            </a:pPr>
            <a:r>
              <a:rPr sz="2000" b="0">
                <a:solidFill>
                  <a:srgbClr val="FFFFFF"/>
                </a:solidFill>
              </a:rPr>
              <a:t>Für eine Exkursion werden je nach Ziel Reisemittel beantragt, eine Sicherheitsunterweisung organisiert oder beides.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Ereignisse</a:t>
            </a:r>
          </a:p>
        </p:txBody>
      </p:sp>
      <p:sp>
        <p:nvSpPr>
          <p:cNvPr id="3" name="Dachzeile"/>
          <p:cNvSpPr txBox="1"/>
          <p:nvPr/>
        </p:nvSpPr>
        <p:spPr>
          <a:xfrm>
            <a:off x="976968" y="1003300"/>
            <a:ext cx="9386232" cy="215444"/>
          </a:xfrm>
          <a:prstGeom prst="rect">
            <a:avLst/>
          </a:prstGeom>
          <a:noFill/>
        </p:spPr>
        <p:txBody>
          <a:bodyPr wrap="square" lIns="0" tIns="0" rIns="0" bIns="0" anchor="t">
            <a:spAutoFit/>
          </a:bodyPr>
          <a:lstStyle/>
          <a:p>
            <a:pPr algn="l"/>
            <a:r>
              <a:rPr sz="1400" b="1" dirty="0">
                <a:solidFill>
                  <a:srgbClr val="A65200"/>
                </a:solidFill>
              </a:rPr>
              <a:t>Der Rand </a:t>
            </a:r>
            <a:r>
              <a:rPr sz="1400" b="1" dirty="0" err="1">
                <a:solidFill>
                  <a:srgbClr val="A65200"/>
                </a:solidFill>
              </a:rPr>
              <a:t>sagt</a:t>
            </a:r>
            <a:r>
              <a:rPr sz="1400" b="1" dirty="0">
                <a:solidFill>
                  <a:srgbClr val="A65200"/>
                </a:solidFill>
              </a:rPr>
              <a:t> wo, das Symbol </a:t>
            </a:r>
            <a:r>
              <a:rPr sz="1400" b="1" dirty="0" err="1">
                <a:solidFill>
                  <a:srgbClr val="A65200"/>
                </a:solidFill>
              </a:rPr>
              <a:t>sagt</a:t>
            </a:r>
            <a:r>
              <a:rPr sz="1400" b="1" dirty="0">
                <a:solidFill>
                  <a:srgbClr val="A65200"/>
                </a:solidFill>
              </a:rPr>
              <a:t> was</a:t>
            </a:r>
          </a:p>
        </p:txBody>
      </p:sp>
      <p:sp>
        <p:nvSpPr>
          <p:cNvPr id="1021" name="Fußzeilenplatzhalter 3">
            <a:extLst>
              <a:ext uri="{FF2B5EF4-FFF2-40B4-BE49-F238E27FC236}">
                <a16:creationId xmlns:a16="http://schemas.microsoft.com/office/drawing/2014/main" id="{FC5F3CD8-EC60-2361-1D7D-D106BCC7B2DC}"/>
              </a:ext>
            </a:extLst>
          </p:cNvPr>
          <p:cNvSpPr>
            <a:spLocks noGrp="1"/>
          </p:cNvSpPr>
          <p:nvPr>
            <p:ph type="ftr" sz="quarter" idx="11"/>
          </p:nvPr>
        </p:nvSpPr>
        <p:spPr/>
        <p:txBody>
          <a:bodyPr/>
          <a:lstStyle/>
          <a:p>
            <a:r>
              <a:rPr lang="de-DE">
                <a:latin typeface="+mn-lt"/>
              </a:rPr>
              <a:t>Einführung in BPMN 2.0</a:t>
            </a:r>
          </a:p>
        </p:txBody>
      </p:sp>
      <p:sp>
        <p:nvSpPr>
          <p:cNvPr id="1022" name="Foliennummernplatzhalter 4">
            <a:extLst>
              <a:ext uri="{FF2B5EF4-FFF2-40B4-BE49-F238E27FC236}">
                <a16:creationId xmlns:a16="http://schemas.microsoft.com/office/drawing/2014/main" id="{212431F3-14A8-70AD-D9D5-73D64C59C169}"/>
              </a:ext>
            </a:extLst>
          </p:cNvPr>
          <p:cNvSpPr>
            <a:spLocks noGrp="1"/>
          </p:cNvSpPr>
          <p:nvPr>
            <p:ph type="sldNum" sz="quarter" idx="12"/>
          </p:nvPr>
        </p:nvSpPr>
        <p:spPr/>
        <p:txBody>
          <a:bodyPr/>
          <a:lstStyle/>
          <a:p>
            <a:fld id="{10939345-BF37-7940-A564-825B7904D7BD}" type="slidenum">
              <a:rPr lang="de-DE" smtClean="0">
                <a:latin typeface="+mn-lt"/>
              </a:rPr>
              <a:t>12</a:t>
            </a:fld>
            <a:endParaRPr lang="de-DE"/>
          </a:p>
        </p:txBody>
      </p:sp>
      <p:sp>
        <p:nvSpPr>
          <p:cNvPr id="1023" name="TextBox 1022"/>
          <p:cNvSpPr txBox="1"/>
          <p:nvPr/>
        </p:nvSpPr>
        <p:spPr>
          <a:xfrm>
            <a:off x="838200" y="1384300"/>
            <a:ext cx="10515600" cy="215900"/>
          </a:xfrm>
          <a:prstGeom prst="rect">
            <a:avLst/>
          </a:prstGeom>
          <a:noFill/>
        </p:spPr>
        <p:txBody>
          <a:bodyPr wrap="square" lIns="0" tIns="0" rIns="0" bIns="0" anchor="t">
            <a:spAutoFit/>
          </a:bodyPr>
          <a:lstStyle/>
          <a:p>
            <a:pPr algn="l"/>
            <a:r>
              <a:rPr sz="1600" b="1">
                <a:solidFill>
                  <a:srgbClr val="3F4847"/>
                </a:solidFill>
              </a:rPr>
              <a:t>Position im Prozess</a:t>
            </a:r>
          </a:p>
        </p:txBody>
      </p:sp>
      <p:sp>
        <p:nvSpPr>
          <p:cNvPr id="1024" name="Start"/>
          <p:cNvSpPr/>
          <p:nvPr/>
        </p:nvSpPr>
        <p:spPr>
          <a:xfrm>
            <a:off x="838200" y="1663700"/>
            <a:ext cx="3386667" cy="825500"/>
          </a:xfrm>
          <a:prstGeom prst="roundRect">
            <a:avLst>
              <a:gd name="adj" fmla="val 12307"/>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25" name="Start Symbol" descr="ereignisse_0.png"/>
          <p:cNvPicPr>
            <a:picLocks noChangeAspect="1"/>
          </p:cNvPicPr>
          <p:nvPr/>
        </p:nvPicPr>
        <p:blipFill>
          <a:blip r:embed="rId3"/>
          <a:stretch>
            <a:fillRect/>
          </a:stretch>
        </p:blipFill>
        <p:spPr>
          <a:xfrm>
            <a:off x="1016000" y="1822450"/>
            <a:ext cx="508000" cy="508000"/>
          </a:xfrm>
          <a:prstGeom prst="rect">
            <a:avLst/>
          </a:prstGeom>
        </p:spPr>
      </p:pic>
      <p:sp>
        <p:nvSpPr>
          <p:cNvPr id="1026" name="TextBox 1025"/>
          <p:cNvSpPr txBox="1"/>
          <p:nvPr/>
        </p:nvSpPr>
        <p:spPr>
          <a:xfrm>
            <a:off x="1676400" y="1663700"/>
            <a:ext cx="2370667" cy="825500"/>
          </a:xfrm>
          <a:prstGeom prst="rect">
            <a:avLst/>
          </a:prstGeom>
          <a:noFill/>
        </p:spPr>
        <p:txBody>
          <a:bodyPr wrap="square" lIns="0" tIns="0" rIns="0" bIns="0" anchor="ctr">
            <a:spAutoFit/>
          </a:bodyPr>
          <a:lstStyle/>
          <a:p>
            <a:pPr algn="l"/>
            <a:r>
              <a:rPr sz="1800" b="1">
                <a:solidFill>
                  <a:srgbClr val="000057"/>
                </a:solidFill>
              </a:rPr>
              <a:t>Start</a:t>
            </a:r>
          </a:p>
          <a:p>
            <a:pPr algn="l"/>
            <a:r>
              <a:rPr sz="1600" b="0">
                <a:solidFill>
                  <a:srgbClr val="3F4847"/>
                </a:solidFill>
              </a:rPr>
              <a:t>dünner Rand</a:t>
            </a:r>
          </a:p>
        </p:txBody>
      </p:sp>
      <p:sp>
        <p:nvSpPr>
          <p:cNvPr id="1027" name="Zwischen"/>
          <p:cNvSpPr/>
          <p:nvPr/>
        </p:nvSpPr>
        <p:spPr>
          <a:xfrm>
            <a:off x="4402667" y="1663700"/>
            <a:ext cx="3386667" cy="825500"/>
          </a:xfrm>
          <a:prstGeom prst="roundRect">
            <a:avLst>
              <a:gd name="adj" fmla="val 12307"/>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28" name="Zwischen Symbol" descr="ereignisse_1.png"/>
          <p:cNvPicPr>
            <a:picLocks noChangeAspect="1"/>
          </p:cNvPicPr>
          <p:nvPr/>
        </p:nvPicPr>
        <p:blipFill>
          <a:blip r:embed="rId4"/>
          <a:stretch>
            <a:fillRect/>
          </a:stretch>
        </p:blipFill>
        <p:spPr>
          <a:xfrm>
            <a:off x="4580467" y="1822450"/>
            <a:ext cx="508000" cy="508000"/>
          </a:xfrm>
          <a:prstGeom prst="rect">
            <a:avLst/>
          </a:prstGeom>
        </p:spPr>
      </p:pic>
      <p:sp>
        <p:nvSpPr>
          <p:cNvPr id="1029" name="TextBox 1028"/>
          <p:cNvSpPr txBox="1"/>
          <p:nvPr/>
        </p:nvSpPr>
        <p:spPr>
          <a:xfrm>
            <a:off x="5240867" y="1663700"/>
            <a:ext cx="2370667" cy="825500"/>
          </a:xfrm>
          <a:prstGeom prst="rect">
            <a:avLst/>
          </a:prstGeom>
          <a:noFill/>
        </p:spPr>
        <p:txBody>
          <a:bodyPr wrap="square" lIns="0" tIns="0" rIns="0" bIns="0" anchor="ctr">
            <a:spAutoFit/>
          </a:bodyPr>
          <a:lstStyle/>
          <a:p>
            <a:pPr algn="l"/>
            <a:r>
              <a:rPr sz="1800" b="1">
                <a:solidFill>
                  <a:srgbClr val="000057"/>
                </a:solidFill>
              </a:rPr>
              <a:t>Zwischen</a:t>
            </a:r>
          </a:p>
          <a:p>
            <a:pPr algn="l"/>
            <a:r>
              <a:rPr sz="1600" b="0">
                <a:solidFill>
                  <a:srgbClr val="3F4847"/>
                </a:solidFill>
              </a:rPr>
              <a:t>doppelter Rand</a:t>
            </a:r>
          </a:p>
        </p:txBody>
      </p:sp>
      <p:sp>
        <p:nvSpPr>
          <p:cNvPr id="1030" name="Ende"/>
          <p:cNvSpPr/>
          <p:nvPr/>
        </p:nvSpPr>
        <p:spPr>
          <a:xfrm>
            <a:off x="7967133" y="1663700"/>
            <a:ext cx="3386667" cy="825500"/>
          </a:xfrm>
          <a:prstGeom prst="roundRect">
            <a:avLst>
              <a:gd name="adj" fmla="val 12307"/>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31" name="Ende Symbol" descr="ereignisse_2.png"/>
          <p:cNvPicPr>
            <a:picLocks noChangeAspect="1"/>
          </p:cNvPicPr>
          <p:nvPr/>
        </p:nvPicPr>
        <p:blipFill>
          <a:blip r:embed="rId5"/>
          <a:stretch>
            <a:fillRect/>
          </a:stretch>
        </p:blipFill>
        <p:spPr>
          <a:xfrm>
            <a:off x="8144933" y="1822450"/>
            <a:ext cx="508000" cy="508000"/>
          </a:xfrm>
          <a:prstGeom prst="rect">
            <a:avLst/>
          </a:prstGeom>
        </p:spPr>
      </p:pic>
      <p:sp>
        <p:nvSpPr>
          <p:cNvPr id="1032" name="TextBox 1031"/>
          <p:cNvSpPr txBox="1"/>
          <p:nvPr/>
        </p:nvSpPr>
        <p:spPr>
          <a:xfrm>
            <a:off x="8805333" y="1663700"/>
            <a:ext cx="2370667" cy="825500"/>
          </a:xfrm>
          <a:prstGeom prst="rect">
            <a:avLst/>
          </a:prstGeom>
          <a:noFill/>
        </p:spPr>
        <p:txBody>
          <a:bodyPr wrap="square" lIns="0" tIns="0" rIns="0" bIns="0" anchor="ctr">
            <a:spAutoFit/>
          </a:bodyPr>
          <a:lstStyle/>
          <a:p>
            <a:pPr algn="l"/>
            <a:r>
              <a:rPr sz="1800" b="1">
                <a:solidFill>
                  <a:srgbClr val="000057"/>
                </a:solidFill>
              </a:rPr>
              <a:t>Ende</a:t>
            </a:r>
          </a:p>
          <a:p>
            <a:pPr algn="l"/>
            <a:r>
              <a:rPr sz="1600" b="0">
                <a:solidFill>
                  <a:srgbClr val="3F4847"/>
                </a:solidFill>
              </a:rPr>
              <a:t>dicker Rand</a:t>
            </a:r>
          </a:p>
        </p:txBody>
      </p:sp>
      <p:sp>
        <p:nvSpPr>
          <p:cNvPr id="1033" name="TextBox 1032"/>
          <p:cNvSpPr txBox="1"/>
          <p:nvPr/>
        </p:nvSpPr>
        <p:spPr>
          <a:xfrm>
            <a:off x="838200" y="2679700"/>
            <a:ext cx="10515600" cy="215900"/>
          </a:xfrm>
          <a:prstGeom prst="rect">
            <a:avLst/>
          </a:prstGeom>
          <a:noFill/>
        </p:spPr>
        <p:txBody>
          <a:bodyPr wrap="square" lIns="0" tIns="0" rIns="0" bIns="0" anchor="t">
            <a:spAutoFit/>
          </a:bodyPr>
          <a:lstStyle/>
          <a:p>
            <a:pPr algn="l"/>
            <a:r>
              <a:rPr sz="1600" b="1">
                <a:solidFill>
                  <a:srgbClr val="3F4847"/>
                </a:solidFill>
              </a:rPr>
              <a:t>Auslöser (Auswahl)</a:t>
            </a:r>
          </a:p>
        </p:txBody>
      </p:sp>
      <p:sp>
        <p:nvSpPr>
          <p:cNvPr id="1034" name="Nachricht"/>
          <p:cNvSpPr/>
          <p:nvPr/>
        </p:nvSpPr>
        <p:spPr>
          <a:xfrm>
            <a:off x="838200" y="2959100"/>
            <a:ext cx="2495550" cy="1905000"/>
          </a:xfrm>
          <a:prstGeom prst="roundRect">
            <a:avLst>
              <a:gd name="adj" fmla="val 5333"/>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35" name="Nachricht Symbol" descr="ereignisse_3.png"/>
          <p:cNvPicPr>
            <a:picLocks noChangeAspect="1"/>
          </p:cNvPicPr>
          <p:nvPr/>
        </p:nvPicPr>
        <p:blipFill>
          <a:blip r:embed="rId6"/>
          <a:stretch>
            <a:fillRect/>
          </a:stretch>
        </p:blipFill>
        <p:spPr>
          <a:xfrm>
            <a:off x="1016000" y="3136900"/>
            <a:ext cx="1079500" cy="508000"/>
          </a:xfrm>
          <a:prstGeom prst="rect">
            <a:avLst/>
          </a:prstGeom>
        </p:spPr>
      </p:pic>
      <p:sp>
        <p:nvSpPr>
          <p:cNvPr id="1036" name="TextBox 1035"/>
          <p:cNvSpPr txBox="1"/>
          <p:nvPr/>
        </p:nvSpPr>
        <p:spPr>
          <a:xfrm>
            <a:off x="1016000" y="3771900"/>
            <a:ext cx="2139950" cy="952500"/>
          </a:xfrm>
          <a:prstGeom prst="rect">
            <a:avLst/>
          </a:prstGeom>
          <a:noFill/>
        </p:spPr>
        <p:txBody>
          <a:bodyPr wrap="square" lIns="0" tIns="0" rIns="0" bIns="0" anchor="t">
            <a:spAutoFit/>
          </a:bodyPr>
          <a:lstStyle/>
          <a:p>
            <a:pPr algn="l">
              <a:spcAft>
                <a:spcPts val="400"/>
              </a:spcAft>
            </a:pPr>
            <a:r>
              <a:rPr sz="1800" b="1">
                <a:solidFill>
                  <a:srgbClr val="000057"/>
                </a:solidFill>
              </a:rPr>
              <a:t>Nachricht</a:t>
            </a:r>
          </a:p>
          <a:p>
            <a:pPr algn="l"/>
            <a:r>
              <a:rPr sz="1500" b="0">
                <a:solidFill>
                  <a:srgbClr val="3F4847"/>
                </a:solidFill>
              </a:rPr>
              <a:t>Hell: empfangen. Dunkel: senden.</a:t>
            </a:r>
          </a:p>
        </p:txBody>
      </p:sp>
      <p:sp>
        <p:nvSpPr>
          <p:cNvPr id="1037" name="Zeit"/>
          <p:cNvSpPr/>
          <p:nvPr/>
        </p:nvSpPr>
        <p:spPr>
          <a:xfrm>
            <a:off x="3511550" y="2959100"/>
            <a:ext cx="2495550" cy="1905000"/>
          </a:xfrm>
          <a:prstGeom prst="roundRect">
            <a:avLst>
              <a:gd name="adj" fmla="val 5333"/>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38" name="Zeit Symbol" descr="ereignisse_4.png"/>
          <p:cNvPicPr>
            <a:picLocks noChangeAspect="1"/>
          </p:cNvPicPr>
          <p:nvPr/>
        </p:nvPicPr>
        <p:blipFill>
          <a:blip r:embed="rId7"/>
          <a:stretch>
            <a:fillRect/>
          </a:stretch>
        </p:blipFill>
        <p:spPr>
          <a:xfrm>
            <a:off x="3689350" y="3136900"/>
            <a:ext cx="508000" cy="508000"/>
          </a:xfrm>
          <a:prstGeom prst="rect">
            <a:avLst/>
          </a:prstGeom>
        </p:spPr>
      </p:pic>
      <p:sp>
        <p:nvSpPr>
          <p:cNvPr id="1039" name="TextBox 1038"/>
          <p:cNvSpPr txBox="1"/>
          <p:nvPr/>
        </p:nvSpPr>
        <p:spPr>
          <a:xfrm>
            <a:off x="3689350" y="3771900"/>
            <a:ext cx="2139950" cy="952500"/>
          </a:xfrm>
          <a:prstGeom prst="rect">
            <a:avLst/>
          </a:prstGeom>
          <a:noFill/>
        </p:spPr>
        <p:txBody>
          <a:bodyPr wrap="square" lIns="0" tIns="0" rIns="0" bIns="0" anchor="t">
            <a:spAutoFit/>
          </a:bodyPr>
          <a:lstStyle/>
          <a:p>
            <a:pPr algn="l">
              <a:spcAft>
                <a:spcPts val="400"/>
              </a:spcAft>
            </a:pPr>
            <a:r>
              <a:rPr sz="1800" b="1">
                <a:solidFill>
                  <a:srgbClr val="000057"/>
                </a:solidFill>
              </a:rPr>
              <a:t>Zeit</a:t>
            </a:r>
          </a:p>
          <a:p>
            <a:pPr algn="l"/>
            <a:r>
              <a:rPr sz="1500" b="0">
                <a:solidFill>
                  <a:srgbClr val="3F4847"/>
                </a:solidFill>
              </a:rPr>
              <a:t>Termin, Frist oder Dauer.</a:t>
            </a:r>
          </a:p>
        </p:txBody>
      </p:sp>
      <p:sp>
        <p:nvSpPr>
          <p:cNvPr id="1040" name="Fehler"/>
          <p:cNvSpPr/>
          <p:nvPr/>
        </p:nvSpPr>
        <p:spPr>
          <a:xfrm>
            <a:off x="6184900" y="2959100"/>
            <a:ext cx="2495550" cy="1905000"/>
          </a:xfrm>
          <a:prstGeom prst="roundRect">
            <a:avLst>
              <a:gd name="adj" fmla="val 5333"/>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41" name="Fehler Symbol" descr="ereignisse_5.png"/>
          <p:cNvPicPr>
            <a:picLocks noChangeAspect="1"/>
          </p:cNvPicPr>
          <p:nvPr/>
        </p:nvPicPr>
        <p:blipFill>
          <a:blip r:embed="rId8"/>
          <a:stretch>
            <a:fillRect/>
          </a:stretch>
        </p:blipFill>
        <p:spPr>
          <a:xfrm>
            <a:off x="6362700" y="3136900"/>
            <a:ext cx="508000" cy="508000"/>
          </a:xfrm>
          <a:prstGeom prst="rect">
            <a:avLst/>
          </a:prstGeom>
        </p:spPr>
      </p:pic>
      <p:sp>
        <p:nvSpPr>
          <p:cNvPr id="1042" name="TextBox 1041"/>
          <p:cNvSpPr txBox="1"/>
          <p:nvPr/>
        </p:nvSpPr>
        <p:spPr>
          <a:xfrm>
            <a:off x="6362700" y="3771900"/>
            <a:ext cx="2139950" cy="952500"/>
          </a:xfrm>
          <a:prstGeom prst="rect">
            <a:avLst/>
          </a:prstGeom>
          <a:noFill/>
        </p:spPr>
        <p:txBody>
          <a:bodyPr wrap="square" lIns="0" tIns="0" rIns="0" bIns="0" anchor="t">
            <a:spAutoFit/>
          </a:bodyPr>
          <a:lstStyle/>
          <a:p>
            <a:pPr algn="l">
              <a:spcAft>
                <a:spcPts val="400"/>
              </a:spcAft>
            </a:pPr>
            <a:r>
              <a:rPr sz="1800" b="1">
                <a:solidFill>
                  <a:srgbClr val="000057"/>
                </a:solidFill>
              </a:rPr>
              <a:t>Fehler</a:t>
            </a:r>
          </a:p>
          <a:p>
            <a:pPr algn="l"/>
            <a:r>
              <a:rPr sz="1500" b="0">
                <a:solidFill>
                  <a:srgbClr val="3F4847"/>
                </a:solidFill>
              </a:rPr>
              <a:t>Fachlicher Abbruch, der behandelt wird.</a:t>
            </a:r>
          </a:p>
        </p:txBody>
      </p:sp>
      <p:sp>
        <p:nvSpPr>
          <p:cNvPr id="1043" name="Terminierung"/>
          <p:cNvSpPr/>
          <p:nvPr/>
        </p:nvSpPr>
        <p:spPr>
          <a:xfrm>
            <a:off x="8858250" y="2959100"/>
            <a:ext cx="2495550" cy="1905000"/>
          </a:xfrm>
          <a:prstGeom prst="roundRect">
            <a:avLst>
              <a:gd name="adj" fmla="val 5333"/>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44" name="Terminierung Symbol" descr="ereignisse_6.png"/>
          <p:cNvPicPr>
            <a:picLocks noChangeAspect="1"/>
          </p:cNvPicPr>
          <p:nvPr/>
        </p:nvPicPr>
        <p:blipFill>
          <a:blip r:embed="rId9"/>
          <a:stretch>
            <a:fillRect/>
          </a:stretch>
        </p:blipFill>
        <p:spPr>
          <a:xfrm>
            <a:off x="9036050" y="3136900"/>
            <a:ext cx="508000" cy="508000"/>
          </a:xfrm>
          <a:prstGeom prst="rect">
            <a:avLst/>
          </a:prstGeom>
        </p:spPr>
      </p:pic>
      <p:sp>
        <p:nvSpPr>
          <p:cNvPr id="1045" name="TextBox 1044"/>
          <p:cNvSpPr txBox="1"/>
          <p:nvPr/>
        </p:nvSpPr>
        <p:spPr>
          <a:xfrm>
            <a:off x="9036050" y="3771900"/>
            <a:ext cx="2139950" cy="952500"/>
          </a:xfrm>
          <a:prstGeom prst="rect">
            <a:avLst/>
          </a:prstGeom>
          <a:noFill/>
        </p:spPr>
        <p:txBody>
          <a:bodyPr wrap="square" lIns="0" tIns="0" rIns="0" bIns="0" anchor="t">
            <a:spAutoFit/>
          </a:bodyPr>
          <a:lstStyle/>
          <a:p>
            <a:pPr algn="l">
              <a:spcAft>
                <a:spcPts val="400"/>
              </a:spcAft>
            </a:pPr>
            <a:r>
              <a:rPr sz="1800" b="1">
                <a:solidFill>
                  <a:srgbClr val="000057"/>
                </a:solidFill>
              </a:rPr>
              <a:t>Terminierung</a:t>
            </a:r>
          </a:p>
          <a:p>
            <a:pPr algn="l"/>
            <a:r>
              <a:rPr sz="1500" b="0">
                <a:solidFill>
                  <a:srgbClr val="3F4847"/>
                </a:solidFill>
              </a:rPr>
              <a:t>Beendet sofort den ganzen Prozess.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Zeitereignisse</a:t>
            </a:r>
          </a:p>
        </p:txBody>
      </p:sp>
      <p:sp>
        <p:nvSpPr>
          <p:cNvPr id="3" name="Dachzeile"/>
          <p:cNvSpPr txBox="1"/>
          <p:nvPr/>
        </p:nvSpPr>
        <p:spPr>
          <a:xfrm>
            <a:off x="976968" y="1003300"/>
            <a:ext cx="9386232" cy="215444"/>
          </a:xfrm>
          <a:prstGeom prst="rect">
            <a:avLst/>
          </a:prstGeom>
          <a:noFill/>
        </p:spPr>
        <p:txBody>
          <a:bodyPr wrap="square" lIns="0" tIns="0" rIns="0" bIns="0" anchor="t">
            <a:spAutoFit/>
          </a:bodyPr>
          <a:lstStyle/>
          <a:p>
            <a:pPr algn="l"/>
            <a:r>
              <a:rPr sz="1400" b="1" dirty="0" err="1">
                <a:solidFill>
                  <a:srgbClr val="A65200"/>
                </a:solidFill>
              </a:rPr>
              <a:t>Starten</a:t>
            </a:r>
            <a:r>
              <a:rPr sz="1400" b="1" dirty="0">
                <a:solidFill>
                  <a:srgbClr val="A65200"/>
                </a:solidFill>
              </a:rPr>
              <a:t> und </a:t>
            </a:r>
            <a:r>
              <a:rPr sz="1400" b="1" dirty="0" err="1">
                <a:solidFill>
                  <a:srgbClr val="A65200"/>
                </a:solidFill>
              </a:rPr>
              <a:t>warten</a:t>
            </a:r>
            <a:r>
              <a:rPr sz="1400" b="1" dirty="0">
                <a:solidFill>
                  <a:srgbClr val="A65200"/>
                </a:solidFill>
              </a:rPr>
              <a:t> · </a:t>
            </a:r>
            <a:r>
              <a:rPr sz="1400" b="1" dirty="0" err="1">
                <a:solidFill>
                  <a:srgbClr val="A65200"/>
                </a:solidFill>
              </a:rPr>
              <a:t>Beispiel</a:t>
            </a:r>
            <a:r>
              <a:rPr sz="1400" b="1" dirty="0">
                <a:solidFill>
                  <a:srgbClr val="A65200"/>
                </a:solidFill>
              </a:rPr>
              <a:t>: </a:t>
            </a:r>
            <a:r>
              <a:rPr sz="1400" b="1" dirty="0" err="1">
                <a:solidFill>
                  <a:srgbClr val="A65200"/>
                </a:solidFill>
              </a:rPr>
              <a:t>Zulassungsverfahren</a:t>
            </a:r>
            <a:endParaRPr sz="1400" b="1" dirty="0">
              <a:solidFill>
                <a:srgbClr val="A65200"/>
              </a:solidFill>
            </a:endParaRPr>
          </a:p>
        </p:txBody>
      </p:sp>
      <p:sp>
        <p:nvSpPr>
          <p:cNvPr id="1023" name="Fußzeilenplatzhalter 3">
            <a:extLst>
              <a:ext uri="{FF2B5EF4-FFF2-40B4-BE49-F238E27FC236}">
                <a16:creationId xmlns:a16="http://schemas.microsoft.com/office/drawing/2014/main" id="{FC5F3CD8-EC60-2361-1D7D-D106BCC7B2DC}"/>
              </a:ext>
            </a:extLst>
          </p:cNvPr>
          <p:cNvSpPr>
            <a:spLocks noGrp="1"/>
          </p:cNvSpPr>
          <p:nvPr>
            <p:ph type="ftr" sz="quarter" idx="11"/>
          </p:nvPr>
        </p:nvSpPr>
        <p:spPr/>
        <p:txBody>
          <a:bodyPr/>
          <a:lstStyle/>
          <a:p>
            <a:r>
              <a:rPr lang="de-DE">
                <a:latin typeface="+mn-lt"/>
              </a:rPr>
              <a:t>Einführung in BPMN 2.0</a:t>
            </a:r>
          </a:p>
        </p:txBody>
      </p:sp>
      <p:sp>
        <p:nvSpPr>
          <p:cNvPr id="1024" name="Foliennummernplatzhalter 4">
            <a:extLst>
              <a:ext uri="{FF2B5EF4-FFF2-40B4-BE49-F238E27FC236}">
                <a16:creationId xmlns:a16="http://schemas.microsoft.com/office/drawing/2014/main" id="{212431F3-14A8-70AD-D9D5-73D64C59C169}"/>
              </a:ext>
            </a:extLst>
          </p:cNvPr>
          <p:cNvSpPr>
            <a:spLocks noGrp="1"/>
          </p:cNvSpPr>
          <p:nvPr>
            <p:ph type="sldNum" sz="quarter" idx="12"/>
          </p:nvPr>
        </p:nvSpPr>
        <p:spPr/>
        <p:txBody>
          <a:bodyPr/>
          <a:lstStyle/>
          <a:p>
            <a:fld id="{10939345-BF37-7940-A564-825B7904D7BD}" type="slidenum">
              <a:rPr lang="de-DE" smtClean="0">
                <a:latin typeface="+mn-lt"/>
              </a:rPr>
              <a:t>13</a:t>
            </a:fld>
            <a:endParaRPr lang="de-DE"/>
          </a:p>
        </p:txBody>
      </p:sp>
      <p:sp>
        <p:nvSpPr>
          <p:cNvPr id="1025" name="Diagrammfläche"/>
          <p:cNvSpPr/>
          <p:nvPr/>
        </p:nvSpPr>
        <p:spPr>
          <a:xfrm>
            <a:off x="838200" y="1384300"/>
            <a:ext cx="10515600" cy="1587500"/>
          </a:xfrm>
          <a:prstGeom prst="roundRect">
            <a:avLst>
              <a:gd name="adj" fmla="val 6400"/>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26" name="Diagramm" descr="05_timer_zulassung.png"/>
          <p:cNvPicPr>
            <a:picLocks noChangeAspect="1"/>
          </p:cNvPicPr>
          <p:nvPr/>
        </p:nvPicPr>
        <p:blipFill>
          <a:blip r:embed="rId3"/>
          <a:stretch>
            <a:fillRect/>
          </a:stretch>
        </p:blipFill>
        <p:spPr>
          <a:xfrm>
            <a:off x="1388969" y="1587500"/>
            <a:ext cx="9414062" cy="1181100"/>
          </a:xfrm>
          <a:prstGeom prst="rect">
            <a:avLst/>
          </a:prstGeom>
        </p:spPr>
      </p:pic>
      <p:sp>
        <p:nvSpPr>
          <p:cNvPr id="1027" name="Zeit-Startereignis"/>
          <p:cNvSpPr/>
          <p:nvPr/>
        </p:nvSpPr>
        <p:spPr>
          <a:xfrm>
            <a:off x="838200" y="3149600"/>
            <a:ext cx="3386667" cy="1270000"/>
          </a:xfrm>
          <a:prstGeom prst="roundRect">
            <a:avLst>
              <a:gd name="adj" fmla="val 8000"/>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l">
              <a:spcAft>
                <a:spcPts val="400"/>
              </a:spcAft>
            </a:pPr>
            <a:r>
              <a:rPr sz="1600" b="1">
                <a:solidFill>
                  <a:srgbClr val="000057"/>
                </a:solidFill>
              </a:rPr>
              <a:t>Zeit-Startereignis</a:t>
            </a:r>
          </a:p>
          <a:p>
            <a:pPr algn="l">
              <a:lnSpc>
                <a:spcPct val="110000"/>
              </a:lnSpc>
              <a:spcAft>
                <a:spcPts val="400"/>
              </a:spcAft>
            </a:pPr>
            <a:r>
              <a:rPr sz="1400" b="0">
                <a:solidFill>
                  <a:srgbClr val="3F4847"/>
                </a:solidFill>
              </a:rPr>
              <a:t>Der Prozess beginnt zu einem Zeitpunkt – hier, sobald die Bewerbungsfrist abgelaufen ist.</a:t>
            </a:r>
          </a:p>
        </p:txBody>
      </p:sp>
      <p:sp>
        <p:nvSpPr>
          <p:cNvPr id="1028" name="Zeit-Zwischenereignis"/>
          <p:cNvSpPr/>
          <p:nvPr/>
        </p:nvSpPr>
        <p:spPr>
          <a:xfrm>
            <a:off x="4402667" y="3149600"/>
            <a:ext cx="3386667" cy="1270000"/>
          </a:xfrm>
          <a:prstGeom prst="roundRect">
            <a:avLst>
              <a:gd name="adj" fmla="val 8000"/>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l">
              <a:spcAft>
                <a:spcPts val="400"/>
              </a:spcAft>
            </a:pPr>
            <a:r>
              <a:rPr sz="1600" b="1">
                <a:solidFill>
                  <a:srgbClr val="000057"/>
                </a:solidFill>
              </a:rPr>
              <a:t>Zeit-Zwischenereignis</a:t>
            </a:r>
          </a:p>
          <a:p>
            <a:pPr algn="l">
              <a:lnSpc>
                <a:spcPct val="110000"/>
              </a:lnSpc>
              <a:spcAft>
                <a:spcPts val="400"/>
              </a:spcAft>
            </a:pPr>
            <a:r>
              <a:rPr sz="1400" b="0">
                <a:solidFill>
                  <a:srgbClr val="3F4847"/>
                </a:solidFill>
              </a:rPr>
              <a:t>Der Prozess hält an und wartet, bis die Annahmefrist verstrichen ist.</a:t>
            </a:r>
          </a:p>
        </p:txBody>
      </p:sp>
      <p:sp>
        <p:nvSpPr>
          <p:cNvPr id="1029" name="Sendeaufgabe"/>
          <p:cNvSpPr/>
          <p:nvPr/>
        </p:nvSpPr>
        <p:spPr>
          <a:xfrm>
            <a:off x="7967133" y="3149600"/>
            <a:ext cx="3386667" cy="1270000"/>
          </a:xfrm>
          <a:prstGeom prst="roundRect">
            <a:avLst>
              <a:gd name="adj" fmla="val 8000"/>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l">
              <a:spcAft>
                <a:spcPts val="400"/>
              </a:spcAft>
            </a:pPr>
            <a:r>
              <a:rPr sz="1600" b="1">
                <a:solidFill>
                  <a:srgbClr val="000057"/>
                </a:solidFill>
              </a:rPr>
              <a:t>Sendeaufgabe</a:t>
            </a:r>
          </a:p>
          <a:p>
            <a:pPr algn="l">
              <a:lnSpc>
                <a:spcPct val="110000"/>
              </a:lnSpc>
              <a:spcAft>
                <a:spcPts val="400"/>
              </a:spcAft>
            </a:pPr>
            <a:r>
              <a:rPr sz="1400" b="0">
                <a:solidFill>
                  <a:srgbClr val="3F4847"/>
                </a:solidFill>
              </a:rPr>
              <a:t>Der dunkle Brief zeigt: Diese Aufgabe verschickt eine Nachricht.</a:t>
            </a:r>
          </a:p>
        </p:txBody>
      </p:sp>
      <p:sp>
        <p:nvSpPr>
          <p:cNvPr id="1030" name="Frage"/>
          <p:cNvSpPr/>
          <p:nvPr/>
        </p:nvSpPr>
        <p:spPr>
          <a:xfrm>
            <a:off x="838200" y="4597400"/>
            <a:ext cx="10515600" cy="698500"/>
          </a:xfrm>
          <a:prstGeom prst="roundRect">
            <a:avLst>
              <a:gd name="adj" fmla="val 14545"/>
            </a:avLst>
          </a:prstGeom>
          <a:solidFill>
            <a:srgbClr val="FFF0DC"/>
          </a:solidFill>
          <a:ln w="9525">
            <a:solidFill>
              <a:srgbClr val="FBC98A"/>
            </a:solidFill>
          </a:ln>
          <a:effectLst/>
        </p:spPr>
        <p:style>
          <a:lnRef idx="1">
            <a:schemeClr val="accent1"/>
          </a:lnRef>
          <a:fillRef idx="3">
            <a:schemeClr val="accent1"/>
          </a:fillRef>
          <a:effectRef idx="2">
            <a:schemeClr val="accent1"/>
          </a:effectRef>
          <a:fontRef idx="minor">
            <a:schemeClr val="lt1"/>
          </a:fontRef>
        </p:style>
        <p:txBody>
          <a:bodyPr wrap="square" lIns="203200" tIns="101600" rIns="203200" bIns="101600" rtlCol="0" anchor="ctr"/>
          <a:lstStyle/>
          <a:p>
            <a:pPr algn="l"/>
            <a:r>
              <a:rPr sz="1600" b="1">
                <a:solidFill>
                  <a:srgbClr val="000057"/>
                </a:solidFill>
              </a:rPr>
              <a:t>Frage an Sie:</a:t>
            </a:r>
            <a:r>
              <a:rPr sz="1600" b="0">
                <a:solidFill>
                  <a:srgbClr val="000057"/>
                </a:solidFill>
              </a:rPr>
              <a:t> Was ist unrealistisch daran, dass alle Bewerberinnen und Bewerber bis zum Fristende abwarten?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Ereignisbasiertes Gateway</a:t>
            </a:r>
          </a:p>
        </p:txBody>
      </p:sp>
      <p:sp>
        <p:nvSpPr>
          <p:cNvPr id="3" name="Dachzeile"/>
          <p:cNvSpPr txBox="1"/>
          <p:nvPr/>
        </p:nvSpPr>
        <p:spPr>
          <a:xfrm>
            <a:off x="976968" y="1003300"/>
            <a:ext cx="9386232" cy="215444"/>
          </a:xfrm>
          <a:prstGeom prst="rect">
            <a:avLst/>
          </a:prstGeom>
          <a:noFill/>
        </p:spPr>
        <p:txBody>
          <a:bodyPr wrap="square" lIns="0" tIns="0" rIns="0" bIns="0" anchor="t">
            <a:spAutoFit/>
          </a:bodyPr>
          <a:lstStyle/>
          <a:p>
            <a:pPr algn="l"/>
            <a:r>
              <a:rPr sz="1400" b="1" dirty="0">
                <a:solidFill>
                  <a:srgbClr val="A65200"/>
                </a:solidFill>
              </a:rPr>
              <a:t>Was </a:t>
            </a:r>
            <a:r>
              <a:rPr sz="1400" b="1" dirty="0" err="1">
                <a:solidFill>
                  <a:srgbClr val="A65200"/>
                </a:solidFill>
              </a:rPr>
              <a:t>zuerst</a:t>
            </a:r>
            <a:r>
              <a:rPr sz="1400" b="1" dirty="0">
                <a:solidFill>
                  <a:srgbClr val="A65200"/>
                </a:solidFill>
              </a:rPr>
              <a:t> </a:t>
            </a:r>
            <a:r>
              <a:rPr sz="1400" b="1" dirty="0" err="1">
                <a:solidFill>
                  <a:srgbClr val="A65200"/>
                </a:solidFill>
              </a:rPr>
              <a:t>eintritt</a:t>
            </a:r>
            <a:r>
              <a:rPr sz="1400" b="1" dirty="0">
                <a:solidFill>
                  <a:srgbClr val="A65200"/>
                </a:solidFill>
              </a:rPr>
              <a:t> · </a:t>
            </a:r>
            <a:r>
              <a:rPr sz="1400" b="1" dirty="0" err="1">
                <a:solidFill>
                  <a:srgbClr val="A65200"/>
                </a:solidFill>
              </a:rPr>
              <a:t>Beispiel</a:t>
            </a:r>
            <a:r>
              <a:rPr sz="1400" b="1" dirty="0">
                <a:solidFill>
                  <a:srgbClr val="A65200"/>
                </a:solidFill>
              </a:rPr>
              <a:t>: </a:t>
            </a:r>
            <a:r>
              <a:rPr sz="1400" b="1" dirty="0" err="1">
                <a:solidFill>
                  <a:srgbClr val="A65200"/>
                </a:solidFill>
              </a:rPr>
              <a:t>Zulassungsangebot</a:t>
            </a:r>
            <a:r>
              <a:rPr sz="1400" b="1" dirty="0">
                <a:solidFill>
                  <a:srgbClr val="A65200"/>
                </a:solidFill>
              </a:rPr>
              <a:t> </a:t>
            </a:r>
            <a:r>
              <a:rPr sz="1400" b="1" dirty="0" err="1">
                <a:solidFill>
                  <a:srgbClr val="A65200"/>
                </a:solidFill>
              </a:rPr>
              <a:t>nachverfolgen</a:t>
            </a:r>
            <a:endParaRPr sz="1400" b="1" dirty="0">
              <a:solidFill>
                <a:srgbClr val="A65200"/>
              </a:solidFill>
            </a:endParaRPr>
          </a:p>
        </p:txBody>
      </p:sp>
      <p:sp>
        <p:nvSpPr>
          <p:cNvPr id="1025" name="Fußzeilenplatzhalter 3">
            <a:extLst>
              <a:ext uri="{FF2B5EF4-FFF2-40B4-BE49-F238E27FC236}">
                <a16:creationId xmlns:a16="http://schemas.microsoft.com/office/drawing/2014/main" id="{FC5F3CD8-EC60-2361-1D7D-D106BCC7B2DC}"/>
              </a:ext>
            </a:extLst>
          </p:cNvPr>
          <p:cNvSpPr>
            <a:spLocks noGrp="1"/>
          </p:cNvSpPr>
          <p:nvPr>
            <p:ph type="ftr" sz="quarter" idx="11"/>
          </p:nvPr>
        </p:nvSpPr>
        <p:spPr/>
        <p:txBody>
          <a:bodyPr/>
          <a:lstStyle/>
          <a:p>
            <a:r>
              <a:rPr lang="de-DE">
                <a:latin typeface="+mn-lt"/>
              </a:rPr>
              <a:t>Einführung in BPMN 2.0</a:t>
            </a:r>
          </a:p>
        </p:txBody>
      </p:sp>
      <p:sp>
        <p:nvSpPr>
          <p:cNvPr id="1026" name="Foliennummernplatzhalter 4">
            <a:extLst>
              <a:ext uri="{FF2B5EF4-FFF2-40B4-BE49-F238E27FC236}">
                <a16:creationId xmlns:a16="http://schemas.microsoft.com/office/drawing/2014/main" id="{212431F3-14A8-70AD-D9D5-73D64C59C169}"/>
              </a:ext>
            </a:extLst>
          </p:cNvPr>
          <p:cNvSpPr>
            <a:spLocks noGrp="1"/>
          </p:cNvSpPr>
          <p:nvPr>
            <p:ph type="sldNum" sz="quarter" idx="12"/>
          </p:nvPr>
        </p:nvSpPr>
        <p:spPr/>
        <p:txBody>
          <a:bodyPr/>
          <a:lstStyle/>
          <a:p>
            <a:fld id="{10939345-BF37-7940-A564-825B7904D7BD}" type="slidenum">
              <a:rPr lang="de-DE" smtClean="0">
                <a:latin typeface="+mn-lt"/>
              </a:rPr>
              <a:t>14</a:t>
            </a:fld>
            <a:endParaRPr lang="de-DE"/>
          </a:p>
        </p:txBody>
      </p:sp>
      <p:sp>
        <p:nvSpPr>
          <p:cNvPr id="1027" name="Diagrammfläche"/>
          <p:cNvSpPr/>
          <p:nvPr/>
        </p:nvSpPr>
        <p:spPr>
          <a:xfrm>
            <a:off x="838200" y="1384300"/>
            <a:ext cx="10515600" cy="2984500"/>
          </a:xfrm>
          <a:prstGeom prst="roundRect">
            <a:avLst>
              <a:gd name="adj" fmla="val 3404"/>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28" name="Diagramm" descr="06_eventgw_zulassungsangebot.png"/>
          <p:cNvPicPr>
            <a:picLocks noChangeAspect="1"/>
          </p:cNvPicPr>
          <p:nvPr/>
        </p:nvPicPr>
        <p:blipFill>
          <a:blip r:embed="rId3"/>
          <a:stretch>
            <a:fillRect/>
          </a:stretch>
        </p:blipFill>
        <p:spPr>
          <a:xfrm>
            <a:off x="2719755" y="1536700"/>
            <a:ext cx="6752489" cy="2679700"/>
          </a:xfrm>
          <a:prstGeom prst="rect">
            <a:avLst/>
          </a:prstGeom>
        </p:spPr>
      </p:pic>
      <p:sp>
        <p:nvSpPr>
          <p:cNvPr id="1029" name="Merke"/>
          <p:cNvSpPr/>
          <p:nvPr/>
        </p:nvSpPr>
        <p:spPr>
          <a:xfrm>
            <a:off x="838200" y="4546600"/>
            <a:ext cx="5156200" cy="1454150"/>
          </a:xfrm>
          <a:prstGeom prst="roundRect">
            <a:avLst>
              <a:gd name="adj" fmla="val 6986"/>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l">
              <a:spcAft>
                <a:spcPts val="400"/>
              </a:spcAft>
            </a:pPr>
            <a:r>
              <a:rPr sz="1600" b="1">
                <a:solidFill>
                  <a:srgbClr val="000057"/>
                </a:solidFill>
              </a:rPr>
              <a:t>Merke</a:t>
            </a:r>
          </a:p>
          <a:p>
            <a:pPr algn="l">
              <a:lnSpc>
                <a:spcPct val="110000"/>
              </a:lnSpc>
              <a:spcAft>
                <a:spcPts val="400"/>
              </a:spcAft>
            </a:pPr>
            <a:r>
              <a:rPr sz="1400" b="0">
                <a:solidFill>
                  <a:srgbClr val="3F4847"/>
                </a:solidFill>
              </a:rPr>
              <a:t>Das Gateway wartet. Das erste eintretende Ereignis bestimmt den Pfad, die anderen verfallen.</a:t>
            </a:r>
          </a:p>
        </p:txBody>
      </p:sp>
      <p:sp>
        <p:nvSpPr>
          <p:cNvPr id="1030" name="Frage an Sie"/>
          <p:cNvSpPr/>
          <p:nvPr/>
        </p:nvSpPr>
        <p:spPr>
          <a:xfrm>
            <a:off x="6197600" y="4546600"/>
            <a:ext cx="5156200" cy="1454150"/>
          </a:xfrm>
          <a:prstGeom prst="roundRect">
            <a:avLst>
              <a:gd name="adj" fmla="val 6986"/>
            </a:avLst>
          </a:prstGeom>
          <a:solidFill>
            <a:srgbClr val="FFF0DC"/>
          </a:solidFill>
          <a:ln w="9525">
            <a:solidFill>
              <a:srgbClr val="FBC98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l">
              <a:spcAft>
                <a:spcPts val="400"/>
              </a:spcAft>
            </a:pPr>
            <a:r>
              <a:rPr sz="1600" b="1">
                <a:solidFill>
                  <a:srgbClr val="8A4300"/>
                </a:solidFill>
              </a:rPr>
              <a:t>Frage an Sie</a:t>
            </a:r>
          </a:p>
          <a:p>
            <a:pPr algn="l">
              <a:lnSpc>
                <a:spcPct val="110000"/>
              </a:lnSpc>
              <a:spcAft>
                <a:spcPts val="400"/>
              </a:spcAft>
            </a:pPr>
            <a:r>
              <a:rPr sz="1400" b="0">
                <a:solidFill>
                  <a:srgbClr val="000057"/>
                </a:solidFill>
              </a:rPr>
              <a:t>Warum könnte hier kein exklusives Gateway stehen?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Randereignisse</a:t>
            </a:r>
          </a:p>
        </p:txBody>
      </p:sp>
      <p:sp>
        <p:nvSpPr>
          <p:cNvPr id="3" name="Dachzeile"/>
          <p:cNvSpPr txBox="1"/>
          <p:nvPr/>
        </p:nvSpPr>
        <p:spPr>
          <a:xfrm>
            <a:off x="976968" y="1003300"/>
            <a:ext cx="9386232" cy="215444"/>
          </a:xfrm>
          <a:prstGeom prst="rect">
            <a:avLst/>
          </a:prstGeom>
          <a:noFill/>
        </p:spPr>
        <p:txBody>
          <a:bodyPr wrap="square" lIns="0" tIns="0" rIns="0" bIns="0" anchor="t">
            <a:spAutoFit/>
          </a:bodyPr>
          <a:lstStyle/>
          <a:p>
            <a:pPr algn="l"/>
            <a:r>
              <a:rPr sz="1400" b="1" dirty="0" err="1">
                <a:solidFill>
                  <a:srgbClr val="A65200"/>
                </a:solidFill>
              </a:rPr>
              <a:t>Ereignisse</a:t>
            </a:r>
            <a:r>
              <a:rPr sz="1400" b="1" dirty="0">
                <a:solidFill>
                  <a:srgbClr val="A65200"/>
                </a:solidFill>
              </a:rPr>
              <a:t> </a:t>
            </a:r>
            <a:r>
              <a:rPr sz="1400" b="1" dirty="0" err="1">
                <a:solidFill>
                  <a:srgbClr val="A65200"/>
                </a:solidFill>
              </a:rPr>
              <a:t>während</a:t>
            </a:r>
            <a:r>
              <a:rPr sz="1400" b="1" dirty="0">
                <a:solidFill>
                  <a:srgbClr val="A65200"/>
                </a:solidFill>
              </a:rPr>
              <a:t> </a:t>
            </a:r>
            <a:r>
              <a:rPr sz="1400" b="1" dirty="0" err="1">
                <a:solidFill>
                  <a:srgbClr val="A65200"/>
                </a:solidFill>
              </a:rPr>
              <a:t>einer</a:t>
            </a:r>
            <a:r>
              <a:rPr sz="1400" b="1" dirty="0">
                <a:solidFill>
                  <a:srgbClr val="A65200"/>
                </a:solidFill>
              </a:rPr>
              <a:t> Aufgabe · </a:t>
            </a:r>
            <a:r>
              <a:rPr sz="1400" b="1" dirty="0" err="1">
                <a:solidFill>
                  <a:srgbClr val="A65200"/>
                </a:solidFill>
              </a:rPr>
              <a:t>Beispiel</a:t>
            </a:r>
            <a:r>
              <a:rPr sz="1400" b="1" dirty="0">
                <a:solidFill>
                  <a:srgbClr val="A65200"/>
                </a:solidFill>
              </a:rPr>
              <a:t>: </a:t>
            </a:r>
            <a:r>
              <a:rPr sz="1400" b="1" dirty="0" err="1">
                <a:solidFill>
                  <a:srgbClr val="A65200"/>
                </a:solidFill>
              </a:rPr>
              <a:t>Abgabe</a:t>
            </a:r>
            <a:r>
              <a:rPr sz="1400" b="1" dirty="0">
                <a:solidFill>
                  <a:srgbClr val="A65200"/>
                </a:solidFill>
              </a:rPr>
              <a:t> der </a:t>
            </a:r>
            <a:r>
              <a:rPr sz="1400" b="1" dirty="0" err="1">
                <a:solidFill>
                  <a:srgbClr val="A65200"/>
                </a:solidFill>
              </a:rPr>
              <a:t>Abschlussarbeit</a:t>
            </a:r>
            <a:endParaRPr sz="1400" b="1" dirty="0">
              <a:solidFill>
                <a:srgbClr val="A65200"/>
              </a:solidFill>
            </a:endParaRPr>
          </a:p>
        </p:txBody>
      </p:sp>
      <p:sp>
        <p:nvSpPr>
          <p:cNvPr id="1027" name="Fußzeilenplatzhalter 3">
            <a:extLst>
              <a:ext uri="{FF2B5EF4-FFF2-40B4-BE49-F238E27FC236}">
                <a16:creationId xmlns:a16="http://schemas.microsoft.com/office/drawing/2014/main" id="{FC5F3CD8-EC60-2361-1D7D-D106BCC7B2DC}"/>
              </a:ext>
            </a:extLst>
          </p:cNvPr>
          <p:cNvSpPr>
            <a:spLocks noGrp="1"/>
          </p:cNvSpPr>
          <p:nvPr>
            <p:ph type="ftr" sz="quarter" idx="11"/>
          </p:nvPr>
        </p:nvSpPr>
        <p:spPr/>
        <p:txBody>
          <a:bodyPr/>
          <a:lstStyle/>
          <a:p>
            <a:r>
              <a:rPr lang="de-DE">
                <a:latin typeface="+mn-lt"/>
              </a:rPr>
              <a:t>Einführung in BPMN 2.0</a:t>
            </a:r>
          </a:p>
        </p:txBody>
      </p:sp>
      <p:sp>
        <p:nvSpPr>
          <p:cNvPr id="1028" name="Foliennummernplatzhalter 4">
            <a:extLst>
              <a:ext uri="{FF2B5EF4-FFF2-40B4-BE49-F238E27FC236}">
                <a16:creationId xmlns:a16="http://schemas.microsoft.com/office/drawing/2014/main" id="{212431F3-14A8-70AD-D9D5-73D64C59C169}"/>
              </a:ext>
            </a:extLst>
          </p:cNvPr>
          <p:cNvSpPr>
            <a:spLocks noGrp="1"/>
          </p:cNvSpPr>
          <p:nvPr>
            <p:ph type="sldNum" sz="quarter" idx="12"/>
          </p:nvPr>
        </p:nvSpPr>
        <p:spPr/>
        <p:txBody>
          <a:bodyPr/>
          <a:lstStyle/>
          <a:p>
            <a:fld id="{10939345-BF37-7940-A564-825B7904D7BD}" type="slidenum">
              <a:rPr lang="de-DE" smtClean="0">
                <a:latin typeface="+mn-lt"/>
              </a:rPr>
              <a:t>15</a:t>
            </a:fld>
            <a:endParaRPr lang="de-DE"/>
          </a:p>
        </p:txBody>
      </p:sp>
      <p:sp>
        <p:nvSpPr>
          <p:cNvPr id="1029" name="Diagrammfläche"/>
          <p:cNvSpPr/>
          <p:nvPr/>
        </p:nvSpPr>
        <p:spPr>
          <a:xfrm>
            <a:off x="838200" y="1384300"/>
            <a:ext cx="6604000" cy="4743450"/>
          </a:xfrm>
          <a:prstGeom prst="roundRect">
            <a:avLst>
              <a:gd name="adj" fmla="val 2141"/>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30" name="Diagramm" descr="07_boundary_abschlussarbeit.png"/>
          <p:cNvPicPr>
            <a:picLocks noChangeAspect="1"/>
          </p:cNvPicPr>
          <p:nvPr/>
        </p:nvPicPr>
        <p:blipFill>
          <a:blip r:embed="rId3"/>
          <a:stretch>
            <a:fillRect/>
          </a:stretch>
        </p:blipFill>
        <p:spPr>
          <a:xfrm>
            <a:off x="990600" y="1886105"/>
            <a:ext cx="6299200" cy="3739840"/>
          </a:xfrm>
          <a:prstGeom prst="rect">
            <a:avLst/>
          </a:prstGeom>
        </p:spPr>
      </p:pic>
      <p:sp>
        <p:nvSpPr>
          <p:cNvPr id="1031" name="Unterbrechend"/>
          <p:cNvSpPr/>
          <p:nvPr/>
        </p:nvSpPr>
        <p:spPr>
          <a:xfrm>
            <a:off x="7645400" y="1384300"/>
            <a:ext cx="3708400" cy="1479550"/>
          </a:xfrm>
          <a:prstGeom prst="roundRect">
            <a:avLst>
              <a:gd name="adj" fmla="val 6866"/>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l">
              <a:spcAft>
                <a:spcPts val="400"/>
              </a:spcAft>
            </a:pPr>
            <a:r>
              <a:rPr sz="1600" b="1">
                <a:solidFill>
                  <a:srgbClr val="000057"/>
                </a:solidFill>
              </a:rPr>
              <a:t>Unterbrechend</a:t>
            </a:r>
          </a:p>
          <a:p>
            <a:pPr algn="l">
              <a:lnSpc>
                <a:spcPct val="110000"/>
              </a:lnSpc>
              <a:spcAft>
                <a:spcPts val="400"/>
              </a:spcAft>
            </a:pPr>
            <a:r>
              <a:rPr sz="1400" b="0">
                <a:solidFill>
                  <a:srgbClr val="3F4847"/>
                </a:solidFill>
              </a:rPr>
              <a:t>Durchgezogener Rand: Die Aufgabe wird abgebrochen, der Prozess folgt nur dem neuen Pfad.</a:t>
            </a:r>
          </a:p>
        </p:txBody>
      </p:sp>
      <p:sp>
        <p:nvSpPr>
          <p:cNvPr id="1032" name="Nicht unterbrechend"/>
          <p:cNvSpPr/>
          <p:nvPr/>
        </p:nvSpPr>
        <p:spPr>
          <a:xfrm>
            <a:off x="7645400" y="3016250"/>
            <a:ext cx="3708400" cy="1479550"/>
          </a:xfrm>
          <a:prstGeom prst="roundRect">
            <a:avLst>
              <a:gd name="adj" fmla="val 6866"/>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l">
              <a:spcAft>
                <a:spcPts val="400"/>
              </a:spcAft>
            </a:pPr>
            <a:r>
              <a:rPr sz="1600" b="1">
                <a:solidFill>
                  <a:srgbClr val="000057"/>
                </a:solidFill>
              </a:rPr>
              <a:t>Nicht unterbrechend</a:t>
            </a:r>
          </a:p>
          <a:p>
            <a:pPr algn="l">
              <a:lnSpc>
                <a:spcPct val="110000"/>
              </a:lnSpc>
              <a:spcAft>
                <a:spcPts val="400"/>
              </a:spcAft>
            </a:pPr>
            <a:r>
              <a:rPr sz="1400" b="0">
                <a:solidFill>
                  <a:srgbClr val="3F4847"/>
                </a:solidFill>
              </a:rPr>
              <a:t>Gestrichelter Rand: Die Aufgabe läuft weiter, zusätzlich startet ein paralleler Pfad.</a:t>
            </a:r>
          </a:p>
        </p:txBody>
      </p:sp>
      <p:sp>
        <p:nvSpPr>
          <p:cNvPr id="1033" name="Frage an Sie"/>
          <p:cNvSpPr/>
          <p:nvPr/>
        </p:nvSpPr>
        <p:spPr>
          <a:xfrm>
            <a:off x="7645400" y="4648200"/>
            <a:ext cx="3708400" cy="1479550"/>
          </a:xfrm>
          <a:prstGeom prst="roundRect">
            <a:avLst>
              <a:gd name="adj" fmla="val 6866"/>
            </a:avLst>
          </a:prstGeom>
          <a:solidFill>
            <a:srgbClr val="FFF0DC"/>
          </a:solidFill>
          <a:ln w="9525">
            <a:solidFill>
              <a:srgbClr val="FBC98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l">
              <a:spcAft>
                <a:spcPts val="400"/>
              </a:spcAft>
            </a:pPr>
            <a:r>
              <a:rPr sz="1600" b="1">
                <a:solidFill>
                  <a:srgbClr val="8A4300"/>
                </a:solidFill>
              </a:rPr>
              <a:t>Frage an Sie</a:t>
            </a:r>
          </a:p>
          <a:p>
            <a:pPr algn="l">
              <a:lnSpc>
                <a:spcPct val="110000"/>
              </a:lnSpc>
              <a:spcAft>
                <a:spcPts val="400"/>
              </a:spcAft>
            </a:pPr>
            <a:r>
              <a:rPr sz="1400" b="0">
                <a:solidFill>
                  <a:srgbClr val="000057"/>
                </a:solidFill>
              </a:rPr>
              <a:t>Was fehlt im Modell, wenn die Verlängerung genehmigt wird?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Pools, Lanes, Nachrichtenflüsse</a:t>
            </a:r>
          </a:p>
        </p:txBody>
      </p:sp>
      <p:sp>
        <p:nvSpPr>
          <p:cNvPr id="3" name="Dachzeile"/>
          <p:cNvSpPr txBox="1"/>
          <p:nvPr/>
        </p:nvSpPr>
        <p:spPr>
          <a:xfrm>
            <a:off x="976968" y="1003300"/>
            <a:ext cx="9386232" cy="215444"/>
          </a:xfrm>
          <a:prstGeom prst="rect">
            <a:avLst/>
          </a:prstGeom>
          <a:noFill/>
        </p:spPr>
        <p:txBody>
          <a:bodyPr wrap="square" lIns="0" tIns="0" rIns="0" bIns="0" anchor="t">
            <a:spAutoFit/>
          </a:bodyPr>
          <a:lstStyle/>
          <a:p>
            <a:pPr algn="l"/>
            <a:r>
              <a:rPr sz="1400" b="1" dirty="0" err="1">
                <a:solidFill>
                  <a:srgbClr val="A65200"/>
                </a:solidFill>
              </a:rPr>
              <a:t>Teilnehmer</a:t>
            </a:r>
            <a:r>
              <a:rPr sz="1400" b="1" dirty="0">
                <a:solidFill>
                  <a:srgbClr val="A65200"/>
                </a:solidFill>
              </a:rPr>
              <a:t> · </a:t>
            </a:r>
            <a:r>
              <a:rPr sz="1400" b="1" dirty="0" err="1">
                <a:solidFill>
                  <a:srgbClr val="A65200"/>
                </a:solidFill>
              </a:rPr>
              <a:t>Beispiel</a:t>
            </a:r>
            <a:r>
              <a:rPr sz="1400" b="1" dirty="0">
                <a:solidFill>
                  <a:srgbClr val="A65200"/>
                </a:solidFill>
              </a:rPr>
              <a:t>: </a:t>
            </a:r>
            <a:r>
              <a:rPr sz="1400" b="1" dirty="0" err="1">
                <a:solidFill>
                  <a:srgbClr val="A65200"/>
                </a:solidFill>
              </a:rPr>
              <a:t>Rücktritt</a:t>
            </a:r>
            <a:r>
              <a:rPr sz="1400" b="1" dirty="0">
                <a:solidFill>
                  <a:srgbClr val="A65200"/>
                </a:solidFill>
              </a:rPr>
              <a:t> von </a:t>
            </a:r>
            <a:r>
              <a:rPr sz="1400" b="1" dirty="0" err="1">
                <a:solidFill>
                  <a:srgbClr val="A65200"/>
                </a:solidFill>
              </a:rPr>
              <a:t>einer</a:t>
            </a:r>
            <a:r>
              <a:rPr sz="1400" b="1" dirty="0">
                <a:solidFill>
                  <a:srgbClr val="A65200"/>
                </a:solidFill>
              </a:rPr>
              <a:t> </a:t>
            </a:r>
            <a:r>
              <a:rPr sz="1400" b="1" dirty="0" err="1">
                <a:solidFill>
                  <a:srgbClr val="A65200"/>
                </a:solidFill>
              </a:rPr>
              <a:t>Prüfung</a:t>
            </a:r>
            <a:endParaRPr sz="1400" b="1" dirty="0">
              <a:solidFill>
                <a:srgbClr val="A65200"/>
              </a:solidFill>
            </a:endParaRPr>
          </a:p>
        </p:txBody>
      </p:sp>
      <p:sp>
        <p:nvSpPr>
          <p:cNvPr id="1029" name="Fußzeilenplatzhalter 3">
            <a:extLst>
              <a:ext uri="{FF2B5EF4-FFF2-40B4-BE49-F238E27FC236}">
                <a16:creationId xmlns:a16="http://schemas.microsoft.com/office/drawing/2014/main" id="{FC5F3CD8-EC60-2361-1D7D-D106BCC7B2DC}"/>
              </a:ext>
            </a:extLst>
          </p:cNvPr>
          <p:cNvSpPr>
            <a:spLocks noGrp="1"/>
          </p:cNvSpPr>
          <p:nvPr>
            <p:ph type="ftr" sz="quarter" idx="11"/>
          </p:nvPr>
        </p:nvSpPr>
        <p:spPr/>
        <p:txBody>
          <a:bodyPr/>
          <a:lstStyle/>
          <a:p>
            <a:r>
              <a:rPr lang="de-DE">
                <a:latin typeface="+mn-lt"/>
              </a:rPr>
              <a:t>Einführung in BPMN 2.0</a:t>
            </a:r>
          </a:p>
        </p:txBody>
      </p:sp>
      <p:sp>
        <p:nvSpPr>
          <p:cNvPr id="1030" name="Foliennummernplatzhalter 4">
            <a:extLst>
              <a:ext uri="{FF2B5EF4-FFF2-40B4-BE49-F238E27FC236}">
                <a16:creationId xmlns:a16="http://schemas.microsoft.com/office/drawing/2014/main" id="{212431F3-14A8-70AD-D9D5-73D64C59C169}"/>
              </a:ext>
            </a:extLst>
          </p:cNvPr>
          <p:cNvSpPr>
            <a:spLocks noGrp="1"/>
          </p:cNvSpPr>
          <p:nvPr>
            <p:ph type="sldNum" sz="quarter" idx="12"/>
          </p:nvPr>
        </p:nvSpPr>
        <p:spPr/>
        <p:txBody>
          <a:bodyPr/>
          <a:lstStyle/>
          <a:p>
            <a:fld id="{10939345-BF37-7940-A564-825B7904D7BD}" type="slidenum">
              <a:rPr lang="de-DE" smtClean="0">
                <a:latin typeface="+mn-lt"/>
              </a:rPr>
              <a:t>16</a:t>
            </a:fld>
            <a:endParaRPr lang="de-DE"/>
          </a:p>
        </p:txBody>
      </p:sp>
      <p:sp>
        <p:nvSpPr>
          <p:cNvPr id="1031" name="Diagrammfläche"/>
          <p:cNvSpPr/>
          <p:nvPr/>
        </p:nvSpPr>
        <p:spPr>
          <a:xfrm>
            <a:off x="838200" y="1384300"/>
            <a:ext cx="6604000" cy="4743450"/>
          </a:xfrm>
          <a:prstGeom prst="roundRect">
            <a:avLst>
              <a:gd name="adj" fmla="val 2141"/>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32" name="Diagramm" descr="08_pools_ruecktritt.png"/>
          <p:cNvPicPr>
            <a:picLocks noChangeAspect="1"/>
          </p:cNvPicPr>
          <p:nvPr/>
        </p:nvPicPr>
        <p:blipFill>
          <a:blip r:embed="rId3"/>
          <a:stretch>
            <a:fillRect/>
          </a:stretch>
        </p:blipFill>
        <p:spPr>
          <a:xfrm>
            <a:off x="990600" y="2162698"/>
            <a:ext cx="6299200" cy="3186654"/>
          </a:xfrm>
          <a:prstGeom prst="rect">
            <a:avLst/>
          </a:prstGeom>
        </p:spPr>
      </p:pic>
      <p:sp>
        <p:nvSpPr>
          <p:cNvPr id="1033" name="Pool"/>
          <p:cNvSpPr/>
          <p:nvPr/>
        </p:nvSpPr>
        <p:spPr>
          <a:xfrm>
            <a:off x="7645400" y="1384300"/>
            <a:ext cx="3708400" cy="1479550"/>
          </a:xfrm>
          <a:prstGeom prst="roundRect">
            <a:avLst>
              <a:gd name="adj" fmla="val 6866"/>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l">
              <a:spcAft>
                <a:spcPts val="400"/>
              </a:spcAft>
            </a:pPr>
            <a:r>
              <a:rPr sz="1600" b="1">
                <a:solidFill>
                  <a:srgbClr val="000057"/>
                </a:solidFill>
              </a:rPr>
              <a:t>Pool</a:t>
            </a:r>
          </a:p>
          <a:p>
            <a:pPr algn="l">
              <a:lnSpc>
                <a:spcPct val="110000"/>
              </a:lnSpc>
              <a:spcAft>
                <a:spcPts val="400"/>
              </a:spcAft>
            </a:pPr>
            <a:r>
              <a:rPr sz="1400" b="0">
                <a:solidFill>
                  <a:srgbClr val="3F4847"/>
                </a:solidFill>
              </a:rPr>
              <a:t>Eigenständiger Teilnehmer mit eigenem Prozess. Zugeklappt: Black Box.</a:t>
            </a:r>
          </a:p>
        </p:txBody>
      </p:sp>
      <p:sp>
        <p:nvSpPr>
          <p:cNvPr id="1034" name="Lane"/>
          <p:cNvSpPr/>
          <p:nvPr/>
        </p:nvSpPr>
        <p:spPr>
          <a:xfrm>
            <a:off x="7645400" y="3016250"/>
            <a:ext cx="3708400" cy="1479550"/>
          </a:xfrm>
          <a:prstGeom prst="roundRect">
            <a:avLst>
              <a:gd name="adj" fmla="val 6866"/>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l">
              <a:spcAft>
                <a:spcPts val="400"/>
              </a:spcAft>
            </a:pPr>
            <a:r>
              <a:rPr sz="1600" b="1">
                <a:solidFill>
                  <a:srgbClr val="000057"/>
                </a:solidFill>
              </a:rPr>
              <a:t>Lane</a:t>
            </a:r>
          </a:p>
          <a:p>
            <a:pPr algn="l">
              <a:lnSpc>
                <a:spcPct val="110000"/>
              </a:lnSpc>
              <a:spcAft>
                <a:spcPts val="400"/>
              </a:spcAft>
            </a:pPr>
            <a:r>
              <a:rPr sz="1400" b="0">
                <a:solidFill>
                  <a:srgbClr val="3F4847"/>
                </a:solidFill>
              </a:rPr>
              <a:t>Rolle oder Stelle innerhalb eines Pools; zeigt, wer eine Aufgabe ausführt.</a:t>
            </a:r>
          </a:p>
        </p:txBody>
      </p:sp>
      <p:sp>
        <p:nvSpPr>
          <p:cNvPr id="1035" name="Nachrichtenfluss"/>
          <p:cNvSpPr/>
          <p:nvPr/>
        </p:nvSpPr>
        <p:spPr>
          <a:xfrm>
            <a:off x="7645400" y="4648200"/>
            <a:ext cx="3708400" cy="1479550"/>
          </a:xfrm>
          <a:prstGeom prst="roundRect">
            <a:avLst>
              <a:gd name="adj" fmla="val 6866"/>
            </a:avLst>
          </a:prstGeom>
          <a:solidFill>
            <a:srgbClr val="FFF0DC"/>
          </a:solidFill>
          <a:ln w="9525">
            <a:solidFill>
              <a:srgbClr val="FBC98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l">
              <a:spcAft>
                <a:spcPts val="400"/>
              </a:spcAft>
            </a:pPr>
            <a:r>
              <a:rPr sz="1600" b="1">
                <a:solidFill>
                  <a:srgbClr val="8A4300"/>
                </a:solidFill>
              </a:rPr>
              <a:t>Nachrichtenfluss</a:t>
            </a:r>
          </a:p>
          <a:p>
            <a:pPr algn="l">
              <a:lnSpc>
                <a:spcPct val="110000"/>
              </a:lnSpc>
              <a:spcAft>
                <a:spcPts val="400"/>
              </a:spcAft>
            </a:pPr>
            <a:r>
              <a:rPr sz="1400" b="0">
                <a:solidFill>
                  <a:srgbClr val="000057"/>
                </a:solidFill>
              </a:rPr>
              <a:t>Gestrichelt, nur zwischen Pools. Innerhalb eines Pools gilt der Sequenzfluss.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Sechs typische Fehler</a:t>
            </a:r>
          </a:p>
        </p:txBody>
      </p:sp>
      <p:sp>
        <p:nvSpPr>
          <p:cNvPr id="3" name="Dachzeile"/>
          <p:cNvSpPr txBox="1"/>
          <p:nvPr/>
        </p:nvSpPr>
        <p:spPr>
          <a:xfrm>
            <a:off x="976968" y="1003300"/>
            <a:ext cx="9386232" cy="215444"/>
          </a:xfrm>
          <a:prstGeom prst="rect">
            <a:avLst/>
          </a:prstGeom>
          <a:noFill/>
        </p:spPr>
        <p:txBody>
          <a:bodyPr wrap="square" lIns="0" tIns="0" rIns="0" bIns="0" anchor="t">
            <a:spAutoFit/>
          </a:bodyPr>
          <a:lstStyle/>
          <a:p>
            <a:pPr algn="l"/>
            <a:r>
              <a:rPr sz="1400" b="1" dirty="0">
                <a:solidFill>
                  <a:srgbClr val="A65200"/>
                </a:solidFill>
              </a:rPr>
              <a:t>Was Sie </a:t>
            </a:r>
            <a:r>
              <a:rPr sz="1400" b="1" dirty="0" err="1">
                <a:solidFill>
                  <a:srgbClr val="A65200"/>
                </a:solidFill>
              </a:rPr>
              <a:t>vermeiden</a:t>
            </a:r>
            <a:r>
              <a:rPr sz="1400" b="1" dirty="0">
                <a:solidFill>
                  <a:srgbClr val="A65200"/>
                </a:solidFill>
              </a:rPr>
              <a:t> </a:t>
            </a:r>
            <a:r>
              <a:rPr sz="1400" b="1" dirty="0" err="1">
                <a:solidFill>
                  <a:srgbClr val="A65200"/>
                </a:solidFill>
              </a:rPr>
              <a:t>sollten</a:t>
            </a:r>
            <a:endParaRPr sz="1400" b="1" dirty="0">
              <a:solidFill>
                <a:srgbClr val="A65200"/>
              </a:solidFill>
            </a:endParaRPr>
          </a:p>
        </p:txBody>
      </p:sp>
      <p:sp>
        <p:nvSpPr>
          <p:cNvPr id="1031" name="Fußzeilenplatzhalter 3">
            <a:extLst>
              <a:ext uri="{FF2B5EF4-FFF2-40B4-BE49-F238E27FC236}">
                <a16:creationId xmlns:a16="http://schemas.microsoft.com/office/drawing/2014/main" id="{FC5F3CD8-EC60-2361-1D7D-D106BCC7B2DC}"/>
              </a:ext>
            </a:extLst>
          </p:cNvPr>
          <p:cNvSpPr>
            <a:spLocks noGrp="1"/>
          </p:cNvSpPr>
          <p:nvPr>
            <p:ph type="ftr" sz="quarter" idx="11"/>
          </p:nvPr>
        </p:nvSpPr>
        <p:spPr/>
        <p:txBody>
          <a:bodyPr/>
          <a:lstStyle/>
          <a:p>
            <a:r>
              <a:rPr lang="de-DE">
                <a:latin typeface="+mn-lt"/>
              </a:rPr>
              <a:t>Einführung in BPMN 2.0</a:t>
            </a:r>
          </a:p>
        </p:txBody>
      </p:sp>
      <p:sp>
        <p:nvSpPr>
          <p:cNvPr id="1032" name="Foliennummernplatzhalter 4">
            <a:extLst>
              <a:ext uri="{FF2B5EF4-FFF2-40B4-BE49-F238E27FC236}">
                <a16:creationId xmlns:a16="http://schemas.microsoft.com/office/drawing/2014/main" id="{212431F3-14A8-70AD-D9D5-73D64C59C169}"/>
              </a:ext>
            </a:extLst>
          </p:cNvPr>
          <p:cNvSpPr>
            <a:spLocks noGrp="1"/>
          </p:cNvSpPr>
          <p:nvPr>
            <p:ph type="sldNum" sz="quarter" idx="12"/>
          </p:nvPr>
        </p:nvSpPr>
        <p:spPr/>
        <p:txBody>
          <a:bodyPr/>
          <a:lstStyle/>
          <a:p>
            <a:fld id="{10939345-BF37-7940-A564-825B7904D7BD}" type="slidenum">
              <a:rPr lang="de-DE" smtClean="0">
                <a:latin typeface="+mn-lt"/>
              </a:rPr>
              <a:t>17</a:t>
            </a:fld>
            <a:endParaRPr lang="de-DE"/>
          </a:p>
        </p:txBody>
      </p:sp>
      <p:sp>
        <p:nvSpPr>
          <p:cNvPr id="1033" name="Sequenzfluss zwischen Pools"/>
          <p:cNvSpPr/>
          <p:nvPr/>
        </p:nvSpPr>
        <p:spPr>
          <a:xfrm>
            <a:off x="838200" y="1384300"/>
            <a:ext cx="3386667" cy="1587500"/>
          </a:xfrm>
          <a:prstGeom prst="roundRect">
            <a:avLst>
              <a:gd name="adj" fmla="val 6400"/>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203200" tIns="177800" rIns="203200" bIns="177800" rtlCol="0" anchor="t"/>
          <a:lstStyle/>
          <a:p>
            <a:pPr algn="l">
              <a:spcAft>
                <a:spcPts val="600"/>
              </a:spcAft>
            </a:pPr>
            <a:r>
              <a:rPr sz="1800" b="1">
                <a:solidFill>
                  <a:srgbClr val="8A4300"/>
                </a:solidFill>
              </a:rPr>
              <a:t>Sequenzfluss zwischen Pools</a:t>
            </a:r>
          </a:p>
          <a:p>
            <a:pPr algn="l"/>
            <a:r>
              <a:rPr sz="1600" b="0">
                <a:solidFill>
                  <a:srgbClr val="3F4847"/>
                </a:solidFill>
              </a:rPr>
              <a:t>Pools verbinden Sie ausschließlich mit Nachrichtenflüssen.</a:t>
            </a:r>
          </a:p>
        </p:txBody>
      </p:sp>
      <p:sp>
        <p:nvSpPr>
          <p:cNvPr id="1034" name="Nachrichtenfluss im Pool"/>
          <p:cNvSpPr/>
          <p:nvPr/>
        </p:nvSpPr>
        <p:spPr>
          <a:xfrm>
            <a:off x="4402667" y="1384300"/>
            <a:ext cx="3386667" cy="1587500"/>
          </a:xfrm>
          <a:prstGeom prst="roundRect">
            <a:avLst>
              <a:gd name="adj" fmla="val 6400"/>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203200" tIns="177800" rIns="203200" bIns="177800" rtlCol="0" anchor="t"/>
          <a:lstStyle/>
          <a:p>
            <a:pPr algn="l">
              <a:spcAft>
                <a:spcPts val="600"/>
              </a:spcAft>
            </a:pPr>
            <a:r>
              <a:rPr sz="1800" b="1">
                <a:solidFill>
                  <a:srgbClr val="8A4300"/>
                </a:solidFill>
              </a:rPr>
              <a:t>Nachrichtenfluss im Pool</a:t>
            </a:r>
          </a:p>
          <a:p>
            <a:pPr algn="l"/>
            <a:r>
              <a:rPr sz="1600" b="0">
                <a:solidFill>
                  <a:srgbClr val="3F4847"/>
                </a:solidFill>
              </a:rPr>
              <a:t>Übergaben zwischen Lanes sind normale Sequenzflüsse.</a:t>
            </a:r>
          </a:p>
        </p:txBody>
      </p:sp>
      <p:sp>
        <p:nvSpPr>
          <p:cNvPr id="1035" name="Gemischte Gateways"/>
          <p:cNvSpPr/>
          <p:nvPr/>
        </p:nvSpPr>
        <p:spPr>
          <a:xfrm>
            <a:off x="7967133" y="1384300"/>
            <a:ext cx="3386667" cy="1587500"/>
          </a:xfrm>
          <a:prstGeom prst="roundRect">
            <a:avLst>
              <a:gd name="adj" fmla="val 6400"/>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203200" tIns="177800" rIns="203200" bIns="177800" rtlCol="0" anchor="t"/>
          <a:lstStyle/>
          <a:p>
            <a:pPr algn="l">
              <a:spcAft>
                <a:spcPts val="600"/>
              </a:spcAft>
            </a:pPr>
            <a:r>
              <a:rPr sz="1800" b="1">
                <a:solidFill>
                  <a:srgbClr val="8A4300"/>
                </a:solidFill>
              </a:rPr>
              <a:t>Gemischte Gateways</a:t>
            </a:r>
          </a:p>
          <a:p>
            <a:pPr algn="l"/>
            <a:r>
              <a:rPr sz="1600" b="0">
                <a:solidFill>
                  <a:srgbClr val="3F4847"/>
                </a:solidFill>
              </a:rPr>
              <a:t>Mit dem Typ zusammenführen, mit dem verzweigt wurde.</a:t>
            </a:r>
          </a:p>
        </p:txBody>
      </p:sp>
      <p:sp>
        <p:nvSpPr>
          <p:cNvPr id="1036" name="Versteckte Entscheidung"/>
          <p:cNvSpPr/>
          <p:nvPr/>
        </p:nvSpPr>
        <p:spPr>
          <a:xfrm>
            <a:off x="838200" y="3149600"/>
            <a:ext cx="3386667" cy="1587500"/>
          </a:xfrm>
          <a:prstGeom prst="roundRect">
            <a:avLst>
              <a:gd name="adj" fmla="val 6400"/>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203200" tIns="177800" rIns="203200" bIns="177800" rtlCol="0" anchor="t"/>
          <a:lstStyle/>
          <a:p>
            <a:pPr algn="l">
              <a:spcAft>
                <a:spcPts val="600"/>
              </a:spcAft>
            </a:pPr>
            <a:r>
              <a:rPr sz="1800" b="1">
                <a:solidFill>
                  <a:srgbClr val="8A4300"/>
                </a:solidFill>
              </a:rPr>
              <a:t>Versteckte Entscheidung</a:t>
            </a:r>
          </a:p>
          <a:p>
            <a:pPr algn="l"/>
            <a:r>
              <a:rPr sz="1600" b="0">
                <a:solidFill>
                  <a:srgbClr val="3F4847"/>
                </a:solidFill>
              </a:rPr>
              <a:t>„Prüfen und ggf. ablehnen“ in Aufgabe und Gateway trennen.</a:t>
            </a:r>
          </a:p>
        </p:txBody>
      </p:sp>
      <p:sp>
        <p:nvSpPr>
          <p:cNvPr id="1037" name="Offene Enden"/>
          <p:cNvSpPr/>
          <p:nvPr/>
        </p:nvSpPr>
        <p:spPr>
          <a:xfrm>
            <a:off x="4402667" y="3149600"/>
            <a:ext cx="3386667" cy="1587500"/>
          </a:xfrm>
          <a:prstGeom prst="roundRect">
            <a:avLst>
              <a:gd name="adj" fmla="val 6400"/>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203200" tIns="177800" rIns="203200" bIns="177800" rtlCol="0" anchor="t"/>
          <a:lstStyle/>
          <a:p>
            <a:pPr algn="l">
              <a:spcAft>
                <a:spcPts val="600"/>
              </a:spcAft>
            </a:pPr>
            <a:r>
              <a:rPr sz="1800" b="1">
                <a:solidFill>
                  <a:srgbClr val="8A4300"/>
                </a:solidFill>
              </a:rPr>
              <a:t>Offene Enden</a:t>
            </a:r>
          </a:p>
          <a:p>
            <a:pPr algn="l"/>
            <a:r>
              <a:rPr sz="1600" b="0">
                <a:solidFill>
                  <a:srgbClr val="3F4847"/>
                </a:solidFill>
              </a:rPr>
              <a:t>Jeder Pfad endet in einem benannten Endereignis.</a:t>
            </a:r>
          </a:p>
        </p:txBody>
      </p:sp>
      <p:sp>
        <p:nvSpPr>
          <p:cNvPr id="1038" name="Personen als Lanes"/>
          <p:cNvSpPr/>
          <p:nvPr/>
        </p:nvSpPr>
        <p:spPr>
          <a:xfrm>
            <a:off x="7967133" y="3149600"/>
            <a:ext cx="3386667" cy="1587500"/>
          </a:xfrm>
          <a:prstGeom prst="roundRect">
            <a:avLst>
              <a:gd name="adj" fmla="val 6400"/>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203200" tIns="177800" rIns="203200" bIns="177800" rtlCol="0" anchor="t"/>
          <a:lstStyle/>
          <a:p>
            <a:pPr algn="l">
              <a:spcAft>
                <a:spcPts val="600"/>
              </a:spcAft>
            </a:pPr>
            <a:r>
              <a:rPr sz="1800" b="1">
                <a:solidFill>
                  <a:srgbClr val="8A4300"/>
                </a:solidFill>
              </a:rPr>
              <a:t>Personen als Lanes</a:t>
            </a:r>
          </a:p>
          <a:p>
            <a:pPr algn="l"/>
            <a:r>
              <a:rPr sz="1600" b="0">
                <a:solidFill>
                  <a:srgbClr val="3F4847"/>
                </a:solidFill>
              </a:rPr>
              <a:t>Stellen statt Namen: „Prüfungsamt“, nicht „Frau Müller“.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Daten und Anmerkungen</a:t>
            </a:r>
          </a:p>
        </p:txBody>
      </p:sp>
      <p:sp>
        <p:nvSpPr>
          <p:cNvPr id="3" name="Dachzeile"/>
          <p:cNvSpPr txBox="1"/>
          <p:nvPr/>
        </p:nvSpPr>
        <p:spPr>
          <a:xfrm>
            <a:off x="838200" y="1003300"/>
            <a:ext cx="9525000" cy="228600"/>
          </a:xfrm>
          <a:prstGeom prst="rect">
            <a:avLst/>
          </a:prstGeom>
          <a:noFill/>
        </p:spPr>
        <p:txBody>
          <a:bodyPr wrap="square" lIns="0" tIns="0" rIns="0" bIns="0" anchor="t">
            <a:spAutoFit/>
          </a:bodyPr>
          <a:lstStyle/>
          <a:p>
            <a:pPr algn="l"/>
            <a:r>
              <a:rPr sz="1400" b="1">
                <a:solidFill>
                  <a:srgbClr val="A65200"/>
                </a:solidFill>
              </a:rPr>
              <a:t>Daten · Beispiel: Noten verbuchen</a:t>
            </a:r>
          </a:p>
        </p:txBody>
      </p:sp>
      <p:sp>
        <p:nvSpPr>
          <p:cNvPr id="1033" name="Fußzeilenplatzhalter 3">
            <a:extLst>
              <a:ext uri="{FF2B5EF4-FFF2-40B4-BE49-F238E27FC236}">
                <a16:creationId xmlns:a16="http://schemas.microsoft.com/office/drawing/2014/main" id="{FC5F3CD8-EC60-2361-1D7D-D106BCC7B2DC}"/>
              </a:ext>
            </a:extLst>
          </p:cNvPr>
          <p:cNvSpPr>
            <a:spLocks noGrp="1"/>
          </p:cNvSpPr>
          <p:nvPr>
            <p:ph type="ftr" sz="quarter" idx="11"/>
          </p:nvPr>
        </p:nvSpPr>
        <p:spPr/>
        <p:txBody>
          <a:bodyPr/>
          <a:lstStyle/>
          <a:p>
            <a:r>
              <a:rPr lang="de-DE">
                <a:latin typeface="+mn-lt"/>
              </a:rPr>
              <a:t>Einführung in BPMN 2.0</a:t>
            </a:r>
          </a:p>
        </p:txBody>
      </p:sp>
      <p:sp>
        <p:nvSpPr>
          <p:cNvPr id="1034" name="Foliennummernplatzhalter 4">
            <a:extLst>
              <a:ext uri="{FF2B5EF4-FFF2-40B4-BE49-F238E27FC236}">
                <a16:creationId xmlns:a16="http://schemas.microsoft.com/office/drawing/2014/main" id="{212431F3-14A8-70AD-D9D5-73D64C59C169}"/>
              </a:ext>
            </a:extLst>
          </p:cNvPr>
          <p:cNvSpPr>
            <a:spLocks noGrp="1"/>
          </p:cNvSpPr>
          <p:nvPr>
            <p:ph type="sldNum" sz="quarter" idx="12"/>
          </p:nvPr>
        </p:nvSpPr>
        <p:spPr/>
        <p:txBody>
          <a:bodyPr/>
          <a:lstStyle/>
          <a:p>
            <a:fld id="{10939345-BF37-7940-A564-825B7904D7BD}" type="slidenum">
              <a:rPr lang="de-DE" smtClean="0">
                <a:latin typeface="+mn-lt"/>
              </a:rPr>
              <a:t>18</a:t>
            </a:fld>
            <a:endParaRPr lang="de-DE"/>
          </a:p>
        </p:txBody>
      </p:sp>
      <p:sp>
        <p:nvSpPr>
          <p:cNvPr id="1035" name="Diagrammfläche"/>
          <p:cNvSpPr/>
          <p:nvPr/>
        </p:nvSpPr>
        <p:spPr>
          <a:xfrm>
            <a:off x="838200" y="1384300"/>
            <a:ext cx="6604000" cy="4743450"/>
          </a:xfrm>
          <a:prstGeom prst="roundRect">
            <a:avLst>
              <a:gd name="adj" fmla="val 2141"/>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36" name="Diagramm" descr="09_daten_noten.png"/>
          <p:cNvPicPr>
            <a:picLocks noChangeAspect="1"/>
          </p:cNvPicPr>
          <p:nvPr/>
        </p:nvPicPr>
        <p:blipFill>
          <a:blip r:embed="rId3"/>
          <a:stretch>
            <a:fillRect/>
          </a:stretch>
        </p:blipFill>
        <p:spPr>
          <a:xfrm>
            <a:off x="990600" y="2427622"/>
            <a:ext cx="6299200" cy="2656805"/>
          </a:xfrm>
          <a:prstGeom prst="rect">
            <a:avLst/>
          </a:prstGeom>
        </p:spPr>
      </p:pic>
      <p:sp>
        <p:nvSpPr>
          <p:cNvPr id="1037" name="Datenobjekt"/>
          <p:cNvSpPr/>
          <p:nvPr/>
        </p:nvSpPr>
        <p:spPr>
          <a:xfrm>
            <a:off x="7645400" y="1384300"/>
            <a:ext cx="3708400" cy="1479550"/>
          </a:xfrm>
          <a:prstGeom prst="roundRect">
            <a:avLst>
              <a:gd name="adj" fmla="val 6866"/>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l">
              <a:spcAft>
                <a:spcPts val="400"/>
              </a:spcAft>
            </a:pPr>
            <a:r>
              <a:rPr sz="1600" b="1">
                <a:solidFill>
                  <a:srgbClr val="000057"/>
                </a:solidFill>
              </a:rPr>
              <a:t>Datenobjekt</a:t>
            </a:r>
          </a:p>
          <a:p>
            <a:pPr algn="l">
              <a:lnSpc>
                <a:spcPct val="110000"/>
              </a:lnSpc>
              <a:spcAft>
                <a:spcPts val="400"/>
              </a:spcAft>
            </a:pPr>
            <a:r>
              <a:rPr sz="1400" b="0">
                <a:solidFill>
                  <a:srgbClr val="3F4847"/>
                </a:solidFill>
              </a:rPr>
              <a:t>Information, die im Prozess entsteht oder gebraucht wird.</a:t>
            </a:r>
          </a:p>
        </p:txBody>
      </p:sp>
      <p:sp>
        <p:nvSpPr>
          <p:cNvPr id="1038" name="Datenspeicher"/>
          <p:cNvSpPr/>
          <p:nvPr/>
        </p:nvSpPr>
        <p:spPr>
          <a:xfrm>
            <a:off x="7645400" y="3016250"/>
            <a:ext cx="3708400" cy="1479550"/>
          </a:xfrm>
          <a:prstGeom prst="roundRect">
            <a:avLst>
              <a:gd name="adj" fmla="val 6866"/>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l">
              <a:spcAft>
                <a:spcPts val="400"/>
              </a:spcAft>
            </a:pPr>
            <a:r>
              <a:rPr sz="1600" b="1">
                <a:solidFill>
                  <a:srgbClr val="000057"/>
                </a:solidFill>
              </a:rPr>
              <a:t>Datenspeicher</a:t>
            </a:r>
          </a:p>
          <a:p>
            <a:pPr algn="l">
              <a:lnSpc>
                <a:spcPct val="110000"/>
              </a:lnSpc>
              <a:spcAft>
                <a:spcPts val="400"/>
              </a:spcAft>
            </a:pPr>
            <a:r>
              <a:rPr sz="1400" b="0">
                <a:solidFill>
                  <a:srgbClr val="3F4847"/>
                </a:solidFill>
              </a:rPr>
              <a:t>Dauerhafte Ablage über die Prozessinstanz hinaus.</a:t>
            </a:r>
          </a:p>
        </p:txBody>
      </p:sp>
      <p:sp>
        <p:nvSpPr>
          <p:cNvPr id="1039" name="Textanmerkung"/>
          <p:cNvSpPr/>
          <p:nvPr/>
        </p:nvSpPr>
        <p:spPr>
          <a:xfrm>
            <a:off x="7645400" y="4648200"/>
            <a:ext cx="3708400" cy="1479550"/>
          </a:xfrm>
          <a:prstGeom prst="roundRect">
            <a:avLst>
              <a:gd name="adj" fmla="val 6866"/>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l">
              <a:spcAft>
                <a:spcPts val="400"/>
              </a:spcAft>
            </a:pPr>
            <a:r>
              <a:rPr sz="1600" b="1">
                <a:solidFill>
                  <a:srgbClr val="000057"/>
                </a:solidFill>
              </a:rPr>
              <a:t>Textanmerkung</a:t>
            </a:r>
          </a:p>
          <a:p>
            <a:pPr algn="l">
              <a:lnSpc>
                <a:spcPct val="110000"/>
              </a:lnSpc>
              <a:spcAft>
                <a:spcPts val="400"/>
              </a:spcAft>
            </a:pPr>
            <a:r>
              <a:rPr sz="1400" b="0">
                <a:solidFill>
                  <a:srgbClr val="3F4847"/>
                </a:solidFill>
              </a:rPr>
              <a:t>Ergänzender Hinweis; die gepunktete Linie steuert keinen Ablauf.</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Aufgabentypen und Marker</a:t>
            </a:r>
          </a:p>
        </p:txBody>
      </p:sp>
      <p:sp>
        <p:nvSpPr>
          <p:cNvPr id="3" name="Dachzeile"/>
          <p:cNvSpPr txBox="1"/>
          <p:nvPr/>
        </p:nvSpPr>
        <p:spPr>
          <a:xfrm>
            <a:off x="976968" y="1003300"/>
            <a:ext cx="9386232" cy="215444"/>
          </a:xfrm>
          <a:prstGeom prst="rect">
            <a:avLst/>
          </a:prstGeom>
          <a:noFill/>
        </p:spPr>
        <p:txBody>
          <a:bodyPr wrap="square" lIns="0" tIns="0" rIns="0" bIns="0" anchor="t">
            <a:spAutoFit/>
          </a:bodyPr>
          <a:lstStyle/>
          <a:p>
            <a:pPr algn="l"/>
            <a:r>
              <a:rPr sz="1400" b="1" dirty="0" err="1">
                <a:solidFill>
                  <a:srgbClr val="A65200"/>
                </a:solidFill>
              </a:rPr>
              <a:t>Typ</a:t>
            </a:r>
            <a:r>
              <a:rPr sz="1400" b="1" dirty="0">
                <a:solidFill>
                  <a:srgbClr val="A65200"/>
                </a:solidFill>
              </a:rPr>
              <a:t> </a:t>
            </a:r>
            <a:r>
              <a:rPr sz="1400" b="1" dirty="0" err="1">
                <a:solidFill>
                  <a:srgbClr val="A65200"/>
                </a:solidFill>
              </a:rPr>
              <a:t>oben</a:t>
            </a:r>
            <a:r>
              <a:rPr sz="1400" b="1" dirty="0">
                <a:solidFill>
                  <a:srgbClr val="A65200"/>
                </a:solidFill>
              </a:rPr>
              <a:t> links, Marker </a:t>
            </a:r>
            <a:r>
              <a:rPr sz="1400" b="1" dirty="0" err="1">
                <a:solidFill>
                  <a:srgbClr val="A65200"/>
                </a:solidFill>
              </a:rPr>
              <a:t>unten</a:t>
            </a:r>
            <a:r>
              <a:rPr sz="1400" b="1" dirty="0">
                <a:solidFill>
                  <a:srgbClr val="A65200"/>
                </a:solidFill>
              </a:rPr>
              <a:t> </a:t>
            </a:r>
            <a:r>
              <a:rPr sz="1400" b="1" dirty="0" err="1">
                <a:solidFill>
                  <a:srgbClr val="A65200"/>
                </a:solidFill>
              </a:rPr>
              <a:t>mittig</a:t>
            </a:r>
            <a:endParaRPr sz="1400" b="1" dirty="0">
              <a:solidFill>
                <a:srgbClr val="A65200"/>
              </a:solidFill>
            </a:endParaRPr>
          </a:p>
        </p:txBody>
      </p:sp>
      <p:sp>
        <p:nvSpPr>
          <p:cNvPr id="1035" name="Fußzeilenplatzhalter 3">
            <a:extLst>
              <a:ext uri="{FF2B5EF4-FFF2-40B4-BE49-F238E27FC236}">
                <a16:creationId xmlns:a16="http://schemas.microsoft.com/office/drawing/2014/main" id="{FC5F3CD8-EC60-2361-1D7D-D106BCC7B2DC}"/>
              </a:ext>
            </a:extLst>
          </p:cNvPr>
          <p:cNvSpPr>
            <a:spLocks noGrp="1"/>
          </p:cNvSpPr>
          <p:nvPr>
            <p:ph type="ftr" sz="quarter" idx="11"/>
          </p:nvPr>
        </p:nvSpPr>
        <p:spPr/>
        <p:txBody>
          <a:bodyPr/>
          <a:lstStyle/>
          <a:p>
            <a:r>
              <a:rPr lang="de-DE">
                <a:latin typeface="+mn-lt"/>
              </a:rPr>
              <a:t>Einführung in BPMN 2.0</a:t>
            </a:r>
          </a:p>
        </p:txBody>
      </p:sp>
      <p:sp>
        <p:nvSpPr>
          <p:cNvPr id="1036" name="Foliennummernplatzhalter 4">
            <a:extLst>
              <a:ext uri="{FF2B5EF4-FFF2-40B4-BE49-F238E27FC236}">
                <a16:creationId xmlns:a16="http://schemas.microsoft.com/office/drawing/2014/main" id="{212431F3-14A8-70AD-D9D5-73D64C59C169}"/>
              </a:ext>
            </a:extLst>
          </p:cNvPr>
          <p:cNvSpPr>
            <a:spLocks noGrp="1"/>
          </p:cNvSpPr>
          <p:nvPr>
            <p:ph type="sldNum" sz="quarter" idx="12"/>
          </p:nvPr>
        </p:nvSpPr>
        <p:spPr/>
        <p:txBody>
          <a:bodyPr/>
          <a:lstStyle/>
          <a:p>
            <a:fld id="{10939345-BF37-7940-A564-825B7904D7BD}" type="slidenum">
              <a:rPr lang="de-DE" smtClean="0">
                <a:latin typeface="+mn-lt"/>
              </a:rPr>
              <a:t>19</a:t>
            </a:fld>
            <a:endParaRPr lang="de-DE"/>
          </a:p>
        </p:txBody>
      </p:sp>
      <p:sp>
        <p:nvSpPr>
          <p:cNvPr id="1037" name="Benutzeraufgabe"/>
          <p:cNvSpPr/>
          <p:nvPr/>
        </p:nvSpPr>
        <p:spPr>
          <a:xfrm>
            <a:off x="838200" y="1384300"/>
            <a:ext cx="2495550" cy="2159000"/>
          </a:xfrm>
          <a:prstGeom prst="roundRect">
            <a:avLst>
              <a:gd name="adj" fmla="val 4705"/>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38" name="Benutzeraufgabe Symbol" descr="aufgaben_0.png"/>
          <p:cNvPicPr>
            <a:picLocks noChangeAspect="1"/>
          </p:cNvPicPr>
          <p:nvPr/>
        </p:nvPicPr>
        <p:blipFill>
          <a:blip r:embed="rId3"/>
          <a:stretch>
            <a:fillRect/>
          </a:stretch>
        </p:blipFill>
        <p:spPr>
          <a:xfrm>
            <a:off x="1016000" y="1562100"/>
            <a:ext cx="952500" cy="571500"/>
          </a:xfrm>
          <a:prstGeom prst="rect">
            <a:avLst/>
          </a:prstGeom>
        </p:spPr>
      </p:pic>
      <p:sp>
        <p:nvSpPr>
          <p:cNvPr id="1039" name="TextBox 1038"/>
          <p:cNvSpPr txBox="1"/>
          <p:nvPr/>
        </p:nvSpPr>
        <p:spPr>
          <a:xfrm>
            <a:off x="1016000" y="2273300"/>
            <a:ext cx="2139950" cy="1143000"/>
          </a:xfrm>
          <a:prstGeom prst="rect">
            <a:avLst/>
          </a:prstGeom>
          <a:noFill/>
        </p:spPr>
        <p:txBody>
          <a:bodyPr wrap="square" lIns="0" tIns="0" rIns="0" bIns="0" anchor="t">
            <a:spAutoFit/>
          </a:bodyPr>
          <a:lstStyle/>
          <a:p>
            <a:pPr algn="l">
              <a:spcAft>
                <a:spcPts val="400"/>
              </a:spcAft>
            </a:pPr>
            <a:r>
              <a:rPr sz="1700" b="1">
                <a:solidFill>
                  <a:srgbClr val="000057"/>
                </a:solidFill>
              </a:rPr>
              <a:t>Benutzeraufgabe</a:t>
            </a:r>
          </a:p>
          <a:p>
            <a:pPr algn="l"/>
            <a:r>
              <a:rPr sz="1500" b="0">
                <a:solidFill>
                  <a:srgbClr val="3F4847"/>
                </a:solidFill>
              </a:rPr>
              <a:t>Ein Mensch arbeitet mit IT-Unterstützung.</a:t>
            </a:r>
          </a:p>
        </p:txBody>
      </p:sp>
      <p:sp>
        <p:nvSpPr>
          <p:cNvPr id="1040" name="Serviceaufgabe"/>
          <p:cNvSpPr/>
          <p:nvPr/>
        </p:nvSpPr>
        <p:spPr>
          <a:xfrm>
            <a:off x="3511550" y="1384300"/>
            <a:ext cx="2495550" cy="2159000"/>
          </a:xfrm>
          <a:prstGeom prst="roundRect">
            <a:avLst>
              <a:gd name="adj" fmla="val 4705"/>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41" name="Serviceaufgabe Symbol" descr="aufgaben_1.png"/>
          <p:cNvPicPr>
            <a:picLocks noChangeAspect="1"/>
          </p:cNvPicPr>
          <p:nvPr/>
        </p:nvPicPr>
        <p:blipFill>
          <a:blip r:embed="rId4"/>
          <a:stretch>
            <a:fillRect/>
          </a:stretch>
        </p:blipFill>
        <p:spPr>
          <a:xfrm>
            <a:off x="3689350" y="1562100"/>
            <a:ext cx="952500" cy="571500"/>
          </a:xfrm>
          <a:prstGeom prst="rect">
            <a:avLst/>
          </a:prstGeom>
        </p:spPr>
      </p:pic>
      <p:sp>
        <p:nvSpPr>
          <p:cNvPr id="1042" name="TextBox 1041"/>
          <p:cNvSpPr txBox="1"/>
          <p:nvPr/>
        </p:nvSpPr>
        <p:spPr>
          <a:xfrm>
            <a:off x="3689350" y="2273300"/>
            <a:ext cx="2139950" cy="1143000"/>
          </a:xfrm>
          <a:prstGeom prst="rect">
            <a:avLst/>
          </a:prstGeom>
          <a:noFill/>
        </p:spPr>
        <p:txBody>
          <a:bodyPr wrap="square" lIns="0" tIns="0" rIns="0" bIns="0" anchor="t">
            <a:spAutoFit/>
          </a:bodyPr>
          <a:lstStyle/>
          <a:p>
            <a:pPr algn="l">
              <a:spcAft>
                <a:spcPts val="400"/>
              </a:spcAft>
            </a:pPr>
            <a:r>
              <a:rPr sz="1700" b="1">
                <a:solidFill>
                  <a:srgbClr val="000057"/>
                </a:solidFill>
              </a:rPr>
              <a:t>Serviceaufgabe</a:t>
            </a:r>
          </a:p>
          <a:p>
            <a:pPr algn="l"/>
            <a:r>
              <a:rPr sz="1500" b="0">
                <a:solidFill>
                  <a:srgbClr val="3F4847"/>
                </a:solidFill>
              </a:rPr>
              <a:t>Ein System erledigt den Schritt automatisch.</a:t>
            </a:r>
          </a:p>
        </p:txBody>
      </p:sp>
      <p:sp>
        <p:nvSpPr>
          <p:cNvPr id="1043" name="Sendeaufgabe"/>
          <p:cNvSpPr/>
          <p:nvPr/>
        </p:nvSpPr>
        <p:spPr>
          <a:xfrm>
            <a:off x="6184900" y="1384300"/>
            <a:ext cx="2495550" cy="2159000"/>
          </a:xfrm>
          <a:prstGeom prst="roundRect">
            <a:avLst>
              <a:gd name="adj" fmla="val 4705"/>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44" name="Sendeaufgabe Symbol" descr="aufgaben_2.png"/>
          <p:cNvPicPr>
            <a:picLocks noChangeAspect="1"/>
          </p:cNvPicPr>
          <p:nvPr/>
        </p:nvPicPr>
        <p:blipFill>
          <a:blip r:embed="rId5"/>
          <a:stretch>
            <a:fillRect/>
          </a:stretch>
        </p:blipFill>
        <p:spPr>
          <a:xfrm>
            <a:off x="6362700" y="1562100"/>
            <a:ext cx="952500" cy="571500"/>
          </a:xfrm>
          <a:prstGeom prst="rect">
            <a:avLst/>
          </a:prstGeom>
        </p:spPr>
      </p:pic>
      <p:sp>
        <p:nvSpPr>
          <p:cNvPr id="1045" name="TextBox 1044"/>
          <p:cNvSpPr txBox="1"/>
          <p:nvPr/>
        </p:nvSpPr>
        <p:spPr>
          <a:xfrm>
            <a:off x="6362700" y="2273300"/>
            <a:ext cx="2139950" cy="1143000"/>
          </a:xfrm>
          <a:prstGeom prst="rect">
            <a:avLst/>
          </a:prstGeom>
          <a:noFill/>
        </p:spPr>
        <p:txBody>
          <a:bodyPr wrap="square" lIns="0" tIns="0" rIns="0" bIns="0" anchor="t">
            <a:spAutoFit/>
          </a:bodyPr>
          <a:lstStyle/>
          <a:p>
            <a:pPr algn="l">
              <a:spcAft>
                <a:spcPts val="400"/>
              </a:spcAft>
            </a:pPr>
            <a:r>
              <a:rPr sz="1700" b="1">
                <a:solidFill>
                  <a:srgbClr val="000057"/>
                </a:solidFill>
              </a:rPr>
              <a:t>Sendeaufgabe</a:t>
            </a:r>
          </a:p>
          <a:p>
            <a:pPr algn="l"/>
            <a:r>
              <a:rPr sz="1500" b="0">
                <a:solidFill>
                  <a:srgbClr val="3F4847"/>
                </a:solidFill>
              </a:rPr>
              <a:t>Verschickt eine Nachricht an einen anderen Pool.</a:t>
            </a:r>
          </a:p>
        </p:txBody>
      </p:sp>
      <p:sp>
        <p:nvSpPr>
          <p:cNvPr id="1046" name="Empfangsaufgabe"/>
          <p:cNvSpPr/>
          <p:nvPr/>
        </p:nvSpPr>
        <p:spPr>
          <a:xfrm>
            <a:off x="8858250" y="1384300"/>
            <a:ext cx="2495550" cy="2159000"/>
          </a:xfrm>
          <a:prstGeom prst="roundRect">
            <a:avLst>
              <a:gd name="adj" fmla="val 4705"/>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47" name="Empfangsaufgabe Symbol" descr="aufgaben_3.png"/>
          <p:cNvPicPr>
            <a:picLocks noChangeAspect="1"/>
          </p:cNvPicPr>
          <p:nvPr/>
        </p:nvPicPr>
        <p:blipFill>
          <a:blip r:embed="rId6"/>
          <a:stretch>
            <a:fillRect/>
          </a:stretch>
        </p:blipFill>
        <p:spPr>
          <a:xfrm>
            <a:off x="9036050" y="1562100"/>
            <a:ext cx="952500" cy="571500"/>
          </a:xfrm>
          <a:prstGeom prst="rect">
            <a:avLst/>
          </a:prstGeom>
        </p:spPr>
      </p:pic>
      <p:sp>
        <p:nvSpPr>
          <p:cNvPr id="1048" name="TextBox 1047"/>
          <p:cNvSpPr txBox="1"/>
          <p:nvPr/>
        </p:nvSpPr>
        <p:spPr>
          <a:xfrm>
            <a:off x="9036050" y="2273300"/>
            <a:ext cx="2139950" cy="1143000"/>
          </a:xfrm>
          <a:prstGeom prst="rect">
            <a:avLst/>
          </a:prstGeom>
          <a:noFill/>
        </p:spPr>
        <p:txBody>
          <a:bodyPr wrap="square" lIns="0" tIns="0" rIns="0" bIns="0" anchor="t">
            <a:spAutoFit/>
          </a:bodyPr>
          <a:lstStyle/>
          <a:p>
            <a:pPr algn="l">
              <a:spcAft>
                <a:spcPts val="400"/>
              </a:spcAft>
            </a:pPr>
            <a:r>
              <a:rPr sz="1700" b="1">
                <a:solidFill>
                  <a:srgbClr val="000057"/>
                </a:solidFill>
              </a:rPr>
              <a:t>Empfangsaufgabe</a:t>
            </a:r>
          </a:p>
          <a:p>
            <a:pPr algn="l"/>
            <a:r>
              <a:rPr sz="1500" b="0">
                <a:solidFill>
                  <a:srgbClr val="3F4847"/>
                </a:solidFill>
              </a:rPr>
              <a:t>Wartet auf eine Nachricht von außen.</a:t>
            </a:r>
          </a:p>
        </p:txBody>
      </p:sp>
      <p:sp>
        <p:nvSpPr>
          <p:cNvPr id="1049" name="Schleife"/>
          <p:cNvSpPr/>
          <p:nvPr/>
        </p:nvSpPr>
        <p:spPr>
          <a:xfrm>
            <a:off x="838200" y="3721100"/>
            <a:ext cx="2495550" cy="2159000"/>
          </a:xfrm>
          <a:prstGeom prst="roundRect">
            <a:avLst>
              <a:gd name="adj" fmla="val 4705"/>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50" name="Schleife Symbol" descr="aufgaben_4.png"/>
          <p:cNvPicPr>
            <a:picLocks noChangeAspect="1"/>
          </p:cNvPicPr>
          <p:nvPr/>
        </p:nvPicPr>
        <p:blipFill>
          <a:blip r:embed="rId7"/>
          <a:stretch>
            <a:fillRect/>
          </a:stretch>
        </p:blipFill>
        <p:spPr>
          <a:xfrm>
            <a:off x="1016000" y="3898900"/>
            <a:ext cx="952500" cy="571500"/>
          </a:xfrm>
          <a:prstGeom prst="rect">
            <a:avLst/>
          </a:prstGeom>
        </p:spPr>
      </p:pic>
      <p:sp>
        <p:nvSpPr>
          <p:cNvPr id="1051" name="TextBox 1050"/>
          <p:cNvSpPr txBox="1"/>
          <p:nvPr/>
        </p:nvSpPr>
        <p:spPr>
          <a:xfrm>
            <a:off x="1016000" y="4610100"/>
            <a:ext cx="2139950" cy="1143000"/>
          </a:xfrm>
          <a:prstGeom prst="rect">
            <a:avLst/>
          </a:prstGeom>
          <a:noFill/>
        </p:spPr>
        <p:txBody>
          <a:bodyPr wrap="square" lIns="0" tIns="0" rIns="0" bIns="0" anchor="t">
            <a:spAutoFit/>
          </a:bodyPr>
          <a:lstStyle/>
          <a:p>
            <a:pPr algn="l">
              <a:spcAft>
                <a:spcPts val="400"/>
              </a:spcAft>
            </a:pPr>
            <a:r>
              <a:rPr sz="1700" b="1">
                <a:solidFill>
                  <a:srgbClr val="000057"/>
                </a:solidFill>
              </a:rPr>
              <a:t>Schleife</a:t>
            </a:r>
          </a:p>
          <a:p>
            <a:pPr algn="l"/>
            <a:r>
              <a:rPr sz="1500" b="0">
                <a:solidFill>
                  <a:srgbClr val="3F4847"/>
                </a:solidFill>
              </a:rPr>
              <a:t>Wiederholen, bis eine Bedingung erfüllt ist.</a:t>
            </a:r>
          </a:p>
        </p:txBody>
      </p:sp>
      <p:sp>
        <p:nvSpPr>
          <p:cNvPr id="1052" name="Mehrfach, parallel"/>
          <p:cNvSpPr/>
          <p:nvPr/>
        </p:nvSpPr>
        <p:spPr>
          <a:xfrm>
            <a:off x="3511550" y="3721100"/>
            <a:ext cx="2495550" cy="2159000"/>
          </a:xfrm>
          <a:prstGeom prst="roundRect">
            <a:avLst>
              <a:gd name="adj" fmla="val 4705"/>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53" name="Mehrfach, parallel Symbol" descr="aufgaben_5.png"/>
          <p:cNvPicPr>
            <a:picLocks noChangeAspect="1"/>
          </p:cNvPicPr>
          <p:nvPr/>
        </p:nvPicPr>
        <p:blipFill>
          <a:blip r:embed="rId8"/>
          <a:stretch>
            <a:fillRect/>
          </a:stretch>
        </p:blipFill>
        <p:spPr>
          <a:xfrm>
            <a:off x="3689350" y="3898900"/>
            <a:ext cx="952500" cy="571500"/>
          </a:xfrm>
          <a:prstGeom prst="rect">
            <a:avLst/>
          </a:prstGeom>
        </p:spPr>
      </p:pic>
      <p:sp>
        <p:nvSpPr>
          <p:cNvPr id="1054" name="TextBox 1053"/>
          <p:cNvSpPr txBox="1"/>
          <p:nvPr/>
        </p:nvSpPr>
        <p:spPr>
          <a:xfrm>
            <a:off x="3689350" y="4610100"/>
            <a:ext cx="2139950" cy="1143000"/>
          </a:xfrm>
          <a:prstGeom prst="rect">
            <a:avLst/>
          </a:prstGeom>
          <a:noFill/>
        </p:spPr>
        <p:txBody>
          <a:bodyPr wrap="square" lIns="0" tIns="0" rIns="0" bIns="0" anchor="t">
            <a:spAutoFit/>
          </a:bodyPr>
          <a:lstStyle/>
          <a:p>
            <a:pPr algn="l">
              <a:spcAft>
                <a:spcPts val="400"/>
              </a:spcAft>
            </a:pPr>
            <a:r>
              <a:rPr sz="1700" b="1">
                <a:solidFill>
                  <a:srgbClr val="000057"/>
                </a:solidFill>
              </a:rPr>
              <a:t>Mehrfach, parallel</a:t>
            </a:r>
          </a:p>
          <a:p>
            <a:pPr algn="l"/>
            <a:r>
              <a:rPr sz="1500" b="0">
                <a:solidFill>
                  <a:srgbClr val="3F4847"/>
                </a:solidFill>
              </a:rPr>
              <a:t>Je Element einer Liste einmal, gleichzeitig.</a:t>
            </a:r>
          </a:p>
        </p:txBody>
      </p:sp>
      <p:sp>
        <p:nvSpPr>
          <p:cNvPr id="1055" name="Mehrfach, sequenziell"/>
          <p:cNvSpPr/>
          <p:nvPr/>
        </p:nvSpPr>
        <p:spPr>
          <a:xfrm>
            <a:off x="6184900" y="3721100"/>
            <a:ext cx="2495550" cy="2159000"/>
          </a:xfrm>
          <a:prstGeom prst="roundRect">
            <a:avLst>
              <a:gd name="adj" fmla="val 4705"/>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56" name="Mehrfach, sequenziell Symbol" descr="aufgaben_6.png"/>
          <p:cNvPicPr>
            <a:picLocks noChangeAspect="1"/>
          </p:cNvPicPr>
          <p:nvPr/>
        </p:nvPicPr>
        <p:blipFill>
          <a:blip r:embed="rId9"/>
          <a:stretch>
            <a:fillRect/>
          </a:stretch>
        </p:blipFill>
        <p:spPr>
          <a:xfrm>
            <a:off x="6362700" y="3898900"/>
            <a:ext cx="952500" cy="571500"/>
          </a:xfrm>
          <a:prstGeom prst="rect">
            <a:avLst/>
          </a:prstGeom>
        </p:spPr>
      </p:pic>
      <p:sp>
        <p:nvSpPr>
          <p:cNvPr id="1057" name="TextBox 1056"/>
          <p:cNvSpPr txBox="1"/>
          <p:nvPr/>
        </p:nvSpPr>
        <p:spPr>
          <a:xfrm>
            <a:off x="6362700" y="4610100"/>
            <a:ext cx="2139950" cy="1143000"/>
          </a:xfrm>
          <a:prstGeom prst="rect">
            <a:avLst/>
          </a:prstGeom>
          <a:noFill/>
        </p:spPr>
        <p:txBody>
          <a:bodyPr wrap="square" lIns="0" tIns="0" rIns="0" bIns="0" anchor="t">
            <a:spAutoFit/>
          </a:bodyPr>
          <a:lstStyle/>
          <a:p>
            <a:pPr algn="l">
              <a:spcAft>
                <a:spcPts val="400"/>
              </a:spcAft>
            </a:pPr>
            <a:r>
              <a:rPr sz="1700" b="1">
                <a:solidFill>
                  <a:srgbClr val="000057"/>
                </a:solidFill>
              </a:rPr>
              <a:t>Mehrfach, sequenziell</a:t>
            </a:r>
          </a:p>
          <a:p>
            <a:pPr algn="l"/>
            <a:r>
              <a:rPr sz="1500" b="0">
                <a:solidFill>
                  <a:srgbClr val="3F4847"/>
                </a:solidFill>
              </a:rPr>
              <a:t>Je Element einer Liste einmal, nacheinander.</a:t>
            </a:r>
          </a:p>
        </p:txBody>
      </p:sp>
      <p:sp>
        <p:nvSpPr>
          <p:cNvPr id="1058" name="Teilprozess"/>
          <p:cNvSpPr/>
          <p:nvPr/>
        </p:nvSpPr>
        <p:spPr>
          <a:xfrm>
            <a:off x="8858250" y="3721100"/>
            <a:ext cx="2495550" cy="2159000"/>
          </a:xfrm>
          <a:prstGeom prst="roundRect">
            <a:avLst>
              <a:gd name="adj" fmla="val 4705"/>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59" name="Teilprozess Symbol" descr="aufgaben_7.png"/>
          <p:cNvPicPr>
            <a:picLocks noChangeAspect="1"/>
          </p:cNvPicPr>
          <p:nvPr/>
        </p:nvPicPr>
        <p:blipFill>
          <a:blip r:embed="rId10"/>
          <a:stretch>
            <a:fillRect/>
          </a:stretch>
        </p:blipFill>
        <p:spPr>
          <a:xfrm>
            <a:off x="9036050" y="3898900"/>
            <a:ext cx="952500" cy="571500"/>
          </a:xfrm>
          <a:prstGeom prst="rect">
            <a:avLst/>
          </a:prstGeom>
        </p:spPr>
      </p:pic>
      <p:sp>
        <p:nvSpPr>
          <p:cNvPr id="1060" name="TextBox 1059"/>
          <p:cNvSpPr txBox="1"/>
          <p:nvPr/>
        </p:nvSpPr>
        <p:spPr>
          <a:xfrm>
            <a:off x="9036050" y="4610100"/>
            <a:ext cx="2139950" cy="1143000"/>
          </a:xfrm>
          <a:prstGeom prst="rect">
            <a:avLst/>
          </a:prstGeom>
          <a:noFill/>
        </p:spPr>
        <p:txBody>
          <a:bodyPr wrap="square" lIns="0" tIns="0" rIns="0" bIns="0" anchor="t">
            <a:spAutoFit/>
          </a:bodyPr>
          <a:lstStyle/>
          <a:p>
            <a:pPr algn="l">
              <a:spcAft>
                <a:spcPts val="400"/>
              </a:spcAft>
            </a:pPr>
            <a:r>
              <a:rPr sz="1700" b="1">
                <a:solidFill>
                  <a:srgbClr val="000057"/>
                </a:solidFill>
              </a:rPr>
              <a:t>Teilprozess</a:t>
            </a:r>
          </a:p>
          <a:p>
            <a:pPr algn="l"/>
            <a:r>
              <a:rPr sz="1500" b="0">
                <a:solidFill>
                  <a:srgbClr val="3F4847"/>
                </a:solidFill>
              </a:rPr>
              <a:t>Fasst mehrere Schritte zusammen (nächste Folie).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Teilprozesse</a:t>
            </a:r>
          </a:p>
        </p:txBody>
      </p:sp>
      <p:sp>
        <p:nvSpPr>
          <p:cNvPr id="3" name="Dachzeile"/>
          <p:cNvSpPr txBox="1"/>
          <p:nvPr/>
        </p:nvSpPr>
        <p:spPr>
          <a:xfrm>
            <a:off x="976968" y="1003300"/>
            <a:ext cx="9386232" cy="215444"/>
          </a:xfrm>
          <a:prstGeom prst="rect">
            <a:avLst/>
          </a:prstGeom>
          <a:noFill/>
        </p:spPr>
        <p:txBody>
          <a:bodyPr wrap="square" lIns="0" tIns="0" rIns="0" bIns="0" anchor="t">
            <a:spAutoFit/>
          </a:bodyPr>
          <a:lstStyle/>
          <a:p>
            <a:pPr algn="l"/>
            <a:r>
              <a:rPr sz="1400" b="1" dirty="0">
                <a:solidFill>
                  <a:srgbClr val="A65200"/>
                </a:solidFill>
              </a:rPr>
              <a:t>Details </a:t>
            </a:r>
            <a:r>
              <a:rPr sz="1400" b="1" dirty="0" err="1">
                <a:solidFill>
                  <a:srgbClr val="A65200"/>
                </a:solidFill>
              </a:rPr>
              <a:t>ein</a:t>
            </a:r>
            <a:r>
              <a:rPr sz="1400" b="1" dirty="0">
                <a:solidFill>
                  <a:srgbClr val="A65200"/>
                </a:solidFill>
              </a:rPr>
              <a:t>- und </a:t>
            </a:r>
            <a:r>
              <a:rPr sz="1400" b="1" dirty="0" err="1">
                <a:solidFill>
                  <a:srgbClr val="A65200"/>
                </a:solidFill>
              </a:rPr>
              <a:t>ausblenden</a:t>
            </a:r>
            <a:r>
              <a:rPr sz="1400" b="1" dirty="0">
                <a:solidFill>
                  <a:srgbClr val="A65200"/>
                </a:solidFill>
              </a:rPr>
              <a:t> · </a:t>
            </a:r>
            <a:r>
              <a:rPr sz="1400" b="1" dirty="0" err="1">
                <a:solidFill>
                  <a:srgbClr val="A65200"/>
                </a:solidFill>
              </a:rPr>
              <a:t>Beispiel</a:t>
            </a:r>
            <a:r>
              <a:rPr sz="1400" b="1" dirty="0">
                <a:solidFill>
                  <a:srgbClr val="A65200"/>
                </a:solidFill>
              </a:rPr>
              <a:t>: </a:t>
            </a:r>
            <a:r>
              <a:rPr sz="1400" b="1" dirty="0" err="1">
                <a:solidFill>
                  <a:srgbClr val="A65200"/>
                </a:solidFill>
              </a:rPr>
              <a:t>Abschlussarbeit</a:t>
            </a:r>
            <a:r>
              <a:rPr sz="1400" b="1" dirty="0">
                <a:solidFill>
                  <a:srgbClr val="A65200"/>
                </a:solidFill>
              </a:rPr>
              <a:t> </a:t>
            </a:r>
            <a:r>
              <a:rPr sz="1400" b="1" dirty="0" err="1">
                <a:solidFill>
                  <a:srgbClr val="A65200"/>
                </a:solidFill>
              </a:rPr>
              <a:t>begutachten</a:t>
            </a:r>
            <a:endParaRPr sz="1400" b="1" dirty="0">
              <a:solidFill>
                <a:srgbClr val="A65200"/>
              </a:solidFill>
            </a:endParaRPr>
          </a:p>
        </p:txBody>
      </p:sp>
      <p:sp>
        <p:nvSpPr>
          <p:cNvPr id="1037" name="Fußzeilenplatzhalter 3">
            <a:extLst>
              <a:ext uri="{FF2B5EF4-FFF2-40B4-BE49-F238E27FC236}">
                <a16:creationId xmlns:a16="http://schemas.microsoft.com/office/drawing/2014/main" id="{FC5F3CD8-EC60-2361-1D7D-D106BCC7B2DC}"/>
              </a:ext>
            </a:extLst>
          </p:cNvPr>
          <p:cNvSpPr>
            <a:spLocks noGrp="1"/>
          </p:cNvSpPr>
          <p:nvPr>
            <p:ph type="ftr" sz="quarter" idx="11"/>
          </p:nvPr>
        </p:nvSpPr>
        <p:spPr/>
        <p:txBody>
          <a:bodyPr/>
          <a:lstStyle/>
          <a:p>
            <a:r>
              <a:rPr lang="de-DE">
                <a:latin typeface="+mn-lt"/>
              </a:rPr>
              <a:t>Einführung in BPMN 2.0</a:t>
            </a:r>
          </a:p>
        </p:txBody>
      </p:sp>
      <p:sp>
        <p:nvSpPr>
          <p:cNvPr id="1038" name="Foliennummernplatzhalter 4">
            <a:extLst>
              <a:ext uri="{FF2B5EF4-FFF2-40B4-BE49-F238E27FC236}">
                <a16:creationId xmlns:a16="http://schemas.microsoft.com/office/drawing/2014/main" id="{212431F3-14A8-70AD-D9D5-73D64C59C169}"/>
              </a:ext>
            </a:extLst>
          </p:cNvPr>
          <p:cNvSpPr>
            <a:spLocks noGrp="1"/>
          </p:cNvSpPr>
          <p:nvPr>
            <p:ph type="sldNum" sz="quarter" idx="12"/>
          </p:nvPr>
        </p:nvSpPr>
        <p:spPr/>
        <p:txBody>
          <a:bodyPr/>
          <a:lstStyle/>
          <a:p>
            <a:fld id="{10939345-BF37-7940-A564-825B7904D7BD}" type="slidenum">
              <a:rPr lang="de-DE" smtClean="0">
                <a:latin typeface="+mn-lt"/>
              </a:rPr>
              <a:t>20</a:t>
            </a:fld>
            <a:endParaRPr lang="de-DE"/>
          </a:p>
        </p:txBody>
      </p:sp>
      <p:sp>
        <p:nvSpPr>
          <p:cNvPr id="1039" name="Zugeklappt"/>
          <p:cNvSpPr/>
          <p:nvPr/>
        </p:nvSpPr>
        <p:spPr>
          <a:xfrm>
            <a:off x="838200" y="1384300"/>
            <a:ext cx="10515600" cy="1397000"/>
          </a:xfrm>
          <a:prstGeom prst="roundRect">
            <a:avLst>
              <a:gd name="adj" fmla="val 7272"/>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sp>
        <p:nvSpPr>
          <p:cNvPr id="1040" name="TextBox 1039"/>
          <p:cNvSpPr txBox="1"/>
          <p:nvPr/>
        </p:nvSpPr>
        <p:spPr>
          <a:xfrm>
            <a:off x="1041400" y="1384300"/>
            <a:ext cx="1778000" cy="1397000"/>
          </a:xfrm>
          <a:prstGeom prst="rect">
            <a:avLst/>
          </a:prstGeom>
          <a:noFill/>
        </p:spPr>
        <p:txBody>
          <a:bodyPr wrap="square" lIns="0" tIns="0" rIns="0" bIns="0" anchor="ctr">
            <a:spAutoFit/>
          </a:bodyPr>
          <a:lstStyle/>
          <a:p>
            <a:pPr algn="l"/>
            <a:r>
              <a:rPr sz="1800" b="1">
                <a:solidFill>
                  <a:srgbClr val="000057"/>
                </a:solidFill>
              </a:rPr>
              <a:t>Zugeklappt</a:t>
            </a:r>
          </a:p>
          <a:p>
            <a:pPr algn="l"/>
            <a:r>
              <a:rPr sz="1500" b="0">
                <a:solidFill>
                  <a:srgbClr val="3F4847"/>
                </a:solidFill>
              </a:rPr>
              <a:t>Plus-Marker, Details verborgen</a:t>
            </a:r>
          </a:p>
        </p:txBody>
      </p:sp>
      <p:pic>
        <p:nvPicPr>
          <p:cNvPr id="1041" name="Diagramm zugeklappt" descr="10_teilprozess_zu.png"/>
          <p:cNvPicPr>
            <a:picLocks noChangeAspect="1"/>
          </p:cNvPicPr>
          <p:nvPr/>
        </p:nvPicPr>
        <p:blipFill>
          <a:blip r:embed="rId3"/>
          <a:stretch>
            <a:fillRect/>
          </a:stretch>
        </p:blipFill>
        <p:spPr>
          <a:xfrm>
            <a:off x="3462867" y="1574800"/>
            <a:ext cx="5418667" cy="1016000"/>
          </a:xfrm>
          <a:prstGeom prst="rect">
            <a:avLst/>
          </a:prstGeom>
        </p:spPr>
      </p:pic>
      <p:sp>
        <p:nvSpPr>
          <p:cNvPr id="1042" name="Aufgeklappt"/>
          <p:cNvSpPr/>
          <p:nvPr/>
        </p:nvSpPr>
        <p:spPr>
          <a:xfrm>
            <a:off x="838200" y="2959100"/>
            <a:ext cx="10515600" cy="3048000"/>
          </a:xfrm>
          <a:prstGeom prst="roundRect">
            <a:avLst>
              <a:gd name="adj" fmla="val 3333"/>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sp>
        <p:nvSpPr>
          <p:cNvPr id="1043" name="TextBox 1042"/>
          <p:cNvSpPr txBox="1"/>
          <p:nvPr/>
        </p:nvSpPr>
        <p:spPr>
          <a:xfrm>
            <a:off x="1041400" y="2959100"/>
            <a:ext cx="1778000" cy="3048000"/>
          </a:xfrm>
          <a:prstGeom prst="rect">
            <a:avLst/>
          </a:prstGeom>
          <a:noFill/>
        </p:spPr>
        <p:txBody>
          <a:bodyPr wrap="square" lIns="0" tIns="0" rIns="0" bIns="0" anchor="ctr">
            <a:spAutoFit/>
          </a:bodyPr>
          <a:lstStyle/>
          <a:p>
            <a:pPr algn="l"/>
            <a:r>
              <a:rPr sz="1800" b="1">
                <a:solidFill>
                  <a:srgbClr val="000057"/>
                </a:solidFill>
              </a:rPr>
              <a:t>Aufgeklappt</a:t>
            </a:r>
          </a:p>
          <a:p>
            <a:pPr algn="l"/>
            <a:r>
              <a:rPr sz="1500" b="0">
                <a:solidFill>
                  <a:srgbClr val="3F4847"/>
                </a:solidFill>
              </a:rPr>
              <a:t>Eigener Start und eigenes Ende im Inneren</a:t>
            </a:r>
          </a:p>
        </p:txBody>
      </p:sp>
      <p:pic>
        <p:nvPicPr>
          <p:cNvPr id="1044" name="Diagramm aufgeklappt" descr="11_teilprozess_auf.png"/>
          <p:cNvPicPr>
            <a:picLocks noChangeAspect="1"/>
          </p:cNvPicPr>
          <p:nvPr/>
        </p:nvPicPr>
        <p:blipFill>
          <a:blip r:embed="rId4"/>
          <a:stretch>
            <a:fillRect/>
          </a:stretch>
        </p:blipFill>
        <p:spPr>
          <a:xfrm>
            <a:off x="2997200" y="3379158"/>
            <a:ext cx="8153400" cy="220788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Urlaubssemester beantragen</a:t>
            </a:r>
          </a:p>
        </p:txBody>
      </p:sp>
      <p:sp>
        <p:nvSpPr>
          <p:cNvPr id="3" name="Dachzeile"/>
          <p:cNvSpPr txBox="1"/>
          <p:nvPr/>
        </p:nvSpPr>
        <p:spPr>
          <a:xfrm>
            <a:off x="976968" y="1003299"/>
            <a:ext cx="9386232" cy="215444"/>
          </a:xfrm>
          <a:prstGeom prst="rect">
            <a:avLst/>
          </a:prstGeom>
          <a:noFill/>
        </p:spPr>
        <p:txBody>
          <a:bodyPr wrap="square" lIns="0" tIns="0" rIns="0" bIns="0" anchor="t">
            <a:spAutoFit/>
          </a:bodyPr>
          <a:lstStyle/>
          <a:p>
            <a:pPr algn="l"/>
            <a:r>
              <a:rPr sz="1400" b="1" dirty="0" err="1">
                <a:solidFill>
                  <a:srgbClr val="A65200"/>
                </a:solidFill>
              </a:rPr>
              <a:t>Jetzt</a:t>
            </a:r>
            <a:r>
              <a:rPr sz="1400" b="1" dirty="0">
                <a:solidFill>
                  <a:srgbClr val="A65200"/>
                </a:solidFill>
              </a:rPr>
              <a:t> Sie · 10 Minuten </a:t>
            </a:r>
            <a:r>
              <a:rPr sz="1400" b="1" dirty="0" err="1">
                <a:solidFill>
                  <a:srgbClr val="A65200"/>
                </a:solidFill>
              </a:rPr>
              <a:t>zu</a:t>
            </a:r>
            <a:r>
              <a:rPr sz="1400" b="1" dirty="0">
                <a:solidFill>
                  <a:srgbClr val="A65200"/>
                </a:solidFill>
              </a:rPr>
              <a:t> </a:t>
            </a:r>
            <a:r>
              <a:rPr sz="1400" b="1" dirty="0" err="1">
                <a:solidFill>
                  <a:srgbClr val="A65200"/>
                </a:solidFill>
              </a:rPr>
              <a:t>zweit</a:t>
            </a:r>
            <a:endParaRPr sz="1400" b="1" dirty="0">
              <a:solidFill>
                <a:srgbClr val="A65200"/>
              </a:solidFill>
            </a:endParaRPr>
          </a:p>
        </p:txBody>
      </p:sp>
      <p:sp>
        <p:nvSpPr>
          <p:cNvPr id="1039" name="Fußzeilenplatzhalter 3">
            <a:extLst>
              <a:ext uri="{FF2B5EF4-FFF2-40B4-BE49-F238E27FC236}">
                <a16:creationId xmlns:a16="http://schemas.microsoft.com/office/drawing/2014/main" id="{FC5F3CD8-EC60-2361-1D7D-D106BCC7B2DC}"/>
              </a:ext>
            </a:extLst>
          </p:cNvPr>
          <p:cNvSpPr>
            <a:spLocks noGrp="1"/>
          </p:cNvSpPr>
          <p:nvPr>
            <p:ph type="ftr" sz="quarter" idx="11"/>
          </p:nvPr>
        </p:nvSpPr>
        <p:spPr/>
        <p:txBody>
          <a:bodyPr/>
          <a:lstStyle/>
          <a:p>
            <a:r>
              <a:rPr lang="de-DE">
                <a:latin typeface="+mn-lt"/>
              </a:rPr>
              <a:t>Einführung in BPMN 2.0</a:t>
            </a:r>
          </a:p>
        </p:txBody>
      </p:sp>
      <p:sp>
        <p:nvSpPr>
          <p:cNvPr id="1040" name="Foliennummernplatzhalter 4">
            <a:extLst>
              <a:ext uri="{FF2B5EF4-FFF2-40B4-BE49-F238E27FC236}">
                <a16:creationId xmlns:a16="http://schemas.microsoft.com/office/drawing/2014/main" id="{212431F3-14A8-70AD-D9D5-73D64C59C169}"/>
              </a:ext>
            </a:extLst>
          </p:cNvPr>
          <p:cNvSpPr>
            <a:spLocks noGrp="1"/>
          </p:cNvSpPr>
          <p:nvPr>
            <p:ph type="sldNum" sz="quarter" idx="12"/>
          </p:nvPr>
        </p:nvSpPr>
        <p:spPr/>
        <p:txBody>
          <a:bodyPr/>
          <a:lstStyle/>
          <a:p>
            <a:fld id="{10939345-BF37-7940-A564-825B7904D7BD}" type="slidenum">
              <a:rPr lang="de-DE" smtClean="0">
                <a:latin typeface="+mn-lt"/>
              </a:rPr>
              <a:t>21</a:t>
            </a:fld>
            <a:endParaRPr lang="de-DE"/>
          </a:p>
        </p:txBody>
      </p:sp>
      <p:sp>
        <p:nvSpPr>
          <p:cNvPr id="1041" name="Fallbeschreibung"/>
          <p:cNvSpPr/>
          <p:nvPr/>
        </p:nvSpPr>
        <p:spPr>
          <a:xfrm>
            <a:off x="838200" y="1384300"/>
            <a:ext cx="6187440" cy="4445000"/>
          </a:xfrm>
          <a:prstGeom prst="roundRect">
            <a:avLst>
              <a:gd name="adj" fmla="val 2285"/>
            </a:avLst>
          </a:prstGeom>
          <a:solidFill>
            <a:srgbClr val="F5F6FA"/>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254000" tIns="228600" rIns="254000" bIns="228600" rtlCol="0" anchor="t"/>
          <a:lstStyle/>
          <a:p>
            <a:pPr algn="l">
              <a:spcAft>
                <a:spcPts val="1000"/>
              </a:spcAft>
            </a:pPr>
            <a:r>
              <a:rPr sz="1800" b="1">
                <a:solidFill>
                  <a:srgbClr val="A65200"/>
                </a:solidFill>
              </a:rPr>
              <a:t>Fallbeschreibung</a:t>
            </a:r>
          </a:p>
          <a:p>
            <a:pPr algn="l">
              <a:lnSpc>
                <a:spcPct val="120000"/>
              </a:lnSpc>
            </a:pPr>
            <a:r>
              <a:rPr sz="2000" b="0">
                <a:solidFill>
                  <a:srgbClr val="000057"/>
                </a:solidFill>
              </a:rPr>
              <a:t>Studierende beantragen beim Studierendensekretariat ein Urlaubssemester und legen einen Nachweis bei. Das Sekretariat prüft den Antrag. Fehlt der Nachweis oder ist er unvollständig, lehnt es den Antrag ab und teilt das den Studierenden mit. Andernfalls setzt es den Status im Campus-Management-System auf „beurlaubt“ und versendet gleichzeitig eine Bescheinigung.</a:t>
            </a:r>
          </a:p>
        </p:txBody>
      </p:sp>
      <p:sp>
        <p:nvSpPr>
          <p:cNvPr id="1042" name="Arbeitsauftrag"/>
          <p:cNvSpPr/>
          <p:nvPr/>
        </p:nvSpPr>
        <p:spPr>
          <a:xfrm>
            <a:off x="7228840" y="1384300"/>
            <a:ext cx="4124960" cy="4445000"/>
          </a:xfrm>
          <a:prstGeom prst="roundRect">
            <a:avLst>
              <a:gd name="adj" fmla="val 2463"/>
            </a:avLst>
          </a:prstGeom>
          <a:solidFill>
            <a:srgbClr val="000057"/>
          </a:solidFill>
          <a:ln>
            <a:noFill/>
          </a:ln>
          <a:effectLst/>
        </p:spPr>
        <p:style>
          <a:lnRef idx="1">
            <a:schemeClr val="accent1"/>
          </a:lnRef>
          <a:fillRef idx="3">
            <a:schemeClr val="accent1"/>
          </a:fillRef>
          <a:effectRef idx="2">
            <a:schemeClr val="accent1"/>
          </a:effectRef>
          <a:fontRef idx="minor">
            <a:schemeClr val="lt1"/>
          </a:fontRef>
        </p:style>
        <p:txBody>
          <a:bodyPr wrap="square" lIns="254000" tIns="228600" rIns="254000" bIns="228600" rtlCol="0" anchor="t"/>
          <a:lstStyle/>
          <a:p>
            <a:pPr algn="l">
              <a:spcAft>
                <a:spcPts val="1000"/>
              </a:spcAft>
            </a:pPr>
            <a:r>
              <a:rPr sz="1800" b="1">
                <a:solidFill>
                  <a:srgbClr val="FE951E"/>
                </a:solidFill>
              </a:rPr>
              <a:t>Arbeitsauftrag</a:t>
            </a:r>
          </a:p>
          <a:p>
            <a:pPr marL="337820" indent="-337820" algn="l">
              <a:spcAft>
                <a:spcPts val="600"/>
              </a:spcAft>
              <a:buAutoNum type="arabicPeriod"/>
            </a:pPr>
            <a:r>
              <a:rPr sz="1900" b="0">
                <a:solidFill>
                  <a:srgbClr val="FFFFFF"/>
                </a:solidFill>
              </a:rPr>
              <a:t>Pools und Lanes festlegen</a:t>
            </a:r>
          </a:p>
          <a:p>
            <a:pPr marL="337820" indent="-337820" algn="l">
              <a:spcAft>
                <a:spcPts val="600"/>
              </a:spcAft>
              <a:buAutoNum type="arabicPeriod"/>
            </a:pPr>
            <a:r>
              <a:rPr sz="1900" b="0">
                <a:solidFill>
                  <a:srgbClr val="FFFFFF"/>
                </a:solidFill>
              </a:rPr>
              <a:t>Start- und Endereignisse benennen</a:t>
            </a:r>
          </a:p>
          <a:p>
            <a:pPr marL="337820" indent="-337820" algn="l">
              <a:spcAft>
                <a:spcPts val="600"/>
              </a:spcAft>
              <a:buAutoNum type="arabicPeriod"/>
            </a:pPr>
            <a:r>
              <a:rPr sz="1900" b="0">
                <a:solidFill>
                  <a:srgbClr val="FFFFFF"/>
                </a:solidFill>
              </a:rPr>
              <a:t>Aufgaben und Gateways ergänzen</a:t>
            </a:r>
          </a:p>
          <a:p>
            <a:pPr marL="337820" indent="-337820" algn="l">
              <a:spcAft>
                <a:spcPts val="1800"/>
              </a:spcAft>
              <a:buAutoNum type="arabicPeriod"/>
            </a:pPr>
            <a:r>
              <a:rPr sz="1900" b="0">
                <a:solidFill>
                  <a:srgbClr val="FFFFFF"/>
                </a:solidFill>
              </a:rPr>
              <a:t>Nachrichtenflüsse und Daten einzeichnen</a:t>
            </a:r>
          </a:p>
          <a:p>
            <a:pPr algn="l"/>
            <a:r>
              <a:rPr sz="1500" b="0">
                <a:solidFill>
                  <a:srgbClr val="D6D8EC"/>
                </a:solidFill>
              </a:rPr>
              <a:t>Auf Papier oder unter demo.bpmn.io</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Eine mögliche Lösung</a:t>
            </a:r>
          </a:p>
        </p:txBody>
      </p:sp>
      <p:sp>
        <p:nvSpPr>
          <p:cNvPr id="3" name="Dachzeile"/>
          <p:cNvSpPr txBox="1"/>
          <p:nvPr/>
        </p:nvSpPr>
        <p:spPr>
          <a:xfrm>
            <a:off x="976968" y="1003300"/>
            <a:ext cx="9386232" cy="215444"/>
          </a:xfrm>
          <a:prstGeom prst="rect">
            <a:avLst/>
          </a:prstGeom>
          <a:noFill/>
        </p:spPr>
        <p:txBody>
          <a:bodyPr wrap="square" lIns="0" tIns="0" rIns="0" bIns="0" anchor="t">
            <a:spAutoFit/>
          </a:bodyPr>
          <a:lstStyle/>
          <a:p>
            <a:pPr algn="l"/>
            <a:r>
              <a:rPr sz="1400" b="1" dirty="0" err="1">
                <a:solidFill>
                  <a:srgbClr val="A65200"/>
                </a:solidFill>
              </a:rPr>
              <a:t>Jetzt</a:t>
            </a:r>
            <a:r>
              <a:rPr sz="1400" b="1" dirty="0">
                <a:solidFill>
                  <a:srgbClr val="A65200"/>
                </a:solidFill>
              </a:rPr>
              <a:t> Sie · </a:t>
            </a:r>
            <a:r>
              <a:rPr sz="1400" b="1" dirty="0" err="1">
                <a:solidFill>
                  <a:srgbClr val="A65200"/>
                </a:solidFill>
              </a:rPr>
              <a:t>Urlaubssemester</a:t>
            </a:r>
            <a:r>
              <a:rPr sz="1400" b="1" dirty="0">
                <a:solidFill>
                  <a:srgbClr val="A65200"/>
                </a:solidFill>
              </a:rPr>
              <a:t> </a:t>
            </a:r>
            <a:r>
              <a:rPr sz="1400" b="1" dirty="0" err="1">
                <a:solidFill>
                  <a:srgbClr val="A65200"/>
                </a:solidFill>
              </a:rPr>
              <a:t>beantragen</a:t>
            </a:r>
            <a:endParaRPr sz="1400" b="1" dirty="0">
              <a:solidFill>
                <a:srgbClr val="A65200"/>
              </a:solidFill>
            </a:endParaRPr>
          </a:p>
        </p:txBody>
      </p:sp>
      <p:sp>
        <p:nvSpPr>
          <p:cNvPr id="1041" name="Fußzeilenplatzhalter 3">
            <a:extLst>
              <a:ext uri="{FF2B5EF4-FFF2-40B4-BE49-F238E27FC236}">
                <a16:creationId xmlns:a16="http://schemas.microsoft.com/office/drawing/2014/main" id="{FC5F3CD8-EC60-2361-1D7D-D106BCC7B2DC}"/>
              </a:ext>
            </a:extLst>
          </p:cNvPr>
          <p:cNvSpPr>
            <a:spLocks noGrp="1"/>
          </p:cNvSpPr>
          <p:nvPr>
            <p:ph type="ftr" sz="quarter" idx="11"/>
          </p:nvPr>
        </p:nvSpPr>
        <p:spPr/>
        <p:txBody>
          <a:bodyPr/>
          <a:lstStyle/>
          <a:p>
            <a:r>
              <a:rPr lang="de-DE">
                <a:latin typeface="+mn-lt"/>
              </a:rPr>
              <a:t>Einführung in BPMN 2.0</a:t>
            </a:r>
          </a:p>
        </p:txBody>
      </p:sp>
      <p:sp>
        <p:nvSpPr>
          <p:cNvPr id="1042" name="Foliennummernplatzhalter 4">
            <a:extLst>
              <a:ext uri="{FF2B5EF4-FFF2-40B4-BE49-F238E27FC236}">
                <a16:creationId xmlns:a16="http://schemas.microsoft.com/office/drawing/2014/main" id="{212431F3-14A8-70AD-D9D5-73D64C59C169}"/>
              </a:ext>
            </a:extLst>
          </p:cNvPr>
          <p:cNvSpPr>
            <a:spLocks noGrp="1"/>
          </p:cNvSpPr>
          <p:nvPr>
            <p:ph type="sldNum" sz="quarter" idx="12"/>
          </p:nvPr>
        </p:nvSpPr>
        <p:spPr/>
        <p:txBody>
          <a:bodyPr/>
          <a:lstStyle/>
          <a:p>
            <a:fld id="{10939345-BF37-7940-A564-825B7904D7BD}" type="slidenum">
              <a:rPr lang="de-DE" smtClean="0">
                <a:latin typeface="+mn-lt"/>
              </a:rPr>
              <a:t>22</a:t>
            </a:fld>
            <a:endParaRPr lang="de-DE"/>
          </a:p>
        </p:txBody>
      </p:sp>
      <p:sp>
        <p:nvSpPr>
          <p:cNvPr id="1043" name="Diagrammfläche"/>
          <p:cNvSpPr/>
          <p:nvPr/>
        </p:nvSpPr>
        <p:spPr>
          <a:xfrm>
            <a:off x="838200" y="1384300"/>
            <a:ext cx="6604000" cy="4743450"/>
          </a:xfrm>
          <a:prstGeom prst="roundRect">
            <a:avLst>
              <a:gd name="adj" fmla="val 2141"/>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44" name="Diagramm" descr="12_uebung_urlaubssemester.png"/>
          <p:cNvPicPr>
            <a:picLocks noChangeAspect="1"/>
          </p:cNvPicPr>
          <p:nvPr/>
        </p:nvPicPr>
        <p:blipFill>
          <a:blip r:embed="rId3"/>
          <a:stretch>
            <a:fillRect/>
          </a:stretch>
        </p:blipFill>
        <p:spPr>
          <a:xfrm>
            <a:off x="990600" y="2150347"/>
            <a:ext cx="6299200" cy="3211357"/>
          </a:xfrm>
          <a:prstGeom prst="rect">
            <a:avLst/>
          </a:prstGeom>
        </p:spPr>
      </p:pic>
      <p:sp>
        <p:nvSpPr>
          <p:cNvPr id="1045" name="Von außen"/>
          <p:cNvSpPr/>
          <p:nvPr/>
        </p:nvSpPr>
        <p:spPr>
          <a:xfrm>
            <a:off x="7645400" y="1384300"/>
            <a:ext cx="3708400" cy="1479550"/>
          </a:xfrm>
          <a:prstGeom prst="roundRect">
            <a:avLst>
              <a:gd name="adj" fmla="val 6866"/>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l">
              <a:spcAft>
                <a:spcPts val="400"/>
              </a:spcAft>
            </a:pPr>
            <a:r>
              <a:rPr sz="1600" b="1">
                <a:solidFill>
                  <a:srgbClr val="000057"/>
                </a:solidFill>
              </a:rPr>
              <a:t>Von außen</a:t>
            </a:r>
          </a:p>
          <a:p>
            <a:pPr algn="l">
              <a:lnSpc>
                <a:spcPct val="110000"/>
              </a:lnSpc>
              <a:spcAft>
                <a:spcPts val="400"/>
              </a:spcAft>
            </a:pPr>
            <a:r>
              <a:rPr sz="1400" b="0">
                <a:solidFill>
                  <a:srgbClr val="3F4847"/>
                </a:solidFill>
              </a:rPr>
              <a:t>Der Antrag kommt als Nachricht und startet den Prozess.</a:t>
            </a:r>
          </a:p>
        </p:txBody>
      </p:sp>
      <p:sp>
        <p:nvSpPr>
          <p:cNvPr id="1046" name="„Gleichzeitig“"/>
          <p:cNvSpPr/>
          <p:nvPr/>
        </p:nvSpPr>
        <p:spPr>
          <a:xfrm>
            <a:off x="7645400" y="3016250"/>
            <a:ext cx="3708400" cy="1479550"/>
          </a:xfrm>
          <a:prstGeom prst="roundRect">
            <a:avLst>
              <a:gd name="adj" fmla="val 6866"/>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l">
              <a:spcAft>
                <a:spcPts val="400"/>
              </a:spcAft>
            </a:pPr>
            <a:r>
              <a:rPr sz="1600" b="1">
                <a:solidFill>
                  <a:srgbClr val="000057"/>
                </a:solidFill>
              </a:rPr>
              <a:t>„Gleichzeitig“</a:t>
            </a:r>
          </a:p>
          <a:p>
            <a:pPr algn="l">
              <a:lnSpc>
                <a:spcPct val="110000"/>
              </a:lnSpc>
              <a:spcAft>
                <a:spcPts val="400"/>
              </a:spcAft>
            </a:pPr>
            <a:r>
              <a:rPr sz="1400" b="0">
                <a:solidFill>
                  <a:srgbClr val="3F4847"/>
                </a:solidFill>
              </a:rPr>
              <a:t>Signalwort für ein paralleles Gateway.</a:t>
            </a:r>
          </a:p>
        </p:txBody>
      </p:sp>
      <p:sp>
        <p:nvSpPr>
          <p:cNvPr id="1047" name="Varianten"/>
          <p:cNvSpPr/>
          <p:nvPr/>
        </p:nvSpPr>
        <p:spPr>
          <a:xfrm>
            <a:off x="7645400" y="4648200"/>
            <a:ext cx="3708400" cy="1479550"/>
          </a:xfrm>
          <a:prstGeom prst="roundRect">
            <a:avLst>
              <a:gd name="adj" fmla="val 6866"/>
            </a:avLst>
          </a:prstGeom>
          <a:solidFill>
            <a:srgbClr val="FFF0DC"/>
          </a:solidFill>
          <a:ln w="9525">
            <a:solidFill>
              <a:srgbClr val="FBC98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l">
              <a:spcAft>
                <a:spcPts val="400"/>
              </a:spcAft>
            </a:pPr>
            <a:r>
              <a:rPr sz="1600" b="1">
                <a:solidFill>
                  <a:srgbClr val="8A4300"/>
                </a:solidFill>
              </a:rPr>
              <a:t>Varianten</a:t>
            </a:r>
          </a:p>
          <a:p>
            <a:pPr algn="l">
              <a:lnSpc>
                <a:spcPct val="110000"/>
              </a:lnSpc>
              <a:spcAft>
                <a:spcPts val="400"/>
              </a:spcAft>
            </a:pPr>
            <a:r>
              <a:rPr sz="1400" b="0">
                <a:solidFill>
                  <a:srgbClr val="000057"/>
                </a:solidFill>
              </a:rPr>
              <a:t>Andere Layouts sind richtig, wenn die Semantik stimmt.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Ihre Übungsaufgabe</a:t>
            </a:r>
          </a:p>
        </p:txBody>
      </p:sp>
      <p:sp>
        <p:nvSpPr>
          <p:cNvPr id="3" name="Dachzeile"/>
          <p:cNvSpPr txBox="1"/>
          <p:nvPr/>
        </p:nvSpPr>
        <p:spPr>
          <a:xfrm>
            <a:off x="976968" y="1003300"/>
            <a:ext cx="9386232" cy="215444"/>
          </a:xfrm>
          <a:prstGeom prst="rect">
            <a:avLst/>
          </a:prstGeom>
          <a:noFill/>
        </p:spPr>
        <p:txBody>
          <a:bodyPr wrap="square" lIns="0" tIns="0" rIns="0" bIns="0" anchor="t">
            <a:spAutoFit/>
          </a:bodyPr>
          <a:lstStyle/>
          <a:p>
            <a:pPr algn="l"/>
            <a:r>
              <a:rPr sz="1400" b="1" dirty="0" err="1">
                <a:solidFill>
                  <a:srgbClr val="A65200"/>
                </a:solidFill>
              </a:rPr>
              <a:t>Anerkennung</a:t>
            </a:r>
            <a:r>
              <a:rPr sz="1400" b="1" dirty="0">
                <a:solidFill>
                  <a:srgbClr val="A65200"/>
                </a:solidFill>
              </a:rPr>
              <a:t> von </a:t>
            </a:r>
            <a:r>
              <a:rPr sz="1400" b="1" dirty="0" err="1">
                <a:solidFill>
                  <a:srgbClr val="A65200"/>
                </a:solidFill>
              </a:rPr>
              <a:t>Studienleistungen</a:t>
            </a:r>
            <a:r>
              <a:rPr sz="1400" b="1" dirty="0">
                <a:solidFill>
                  <a:srgbClr val="A65200"/>
                </a:solidFill>
              </a:rPr>
              <a:t> </a:t>
            </a:r>
            <a:r>
              <a:rPr sz="1400" b="1" dirty="0" err="1">
                <a:solidFill>
                  <a:srgbClr val="A65200"/>
                </a:solidFill>
              </a:rPr>
              <a:t>modellieren</a:t>
            </a:r>
            <a:endParaRPr sz="1400" b="1" dirty="0">
              <a:solidFill>
                <a:srgbClr val="A65200"/>
              </a:solidFill>
            </a:endParaRPr>
          </a:p>
        </p:txBody>
      </p:sp>
      <p:sp>
        <p:nvSpPr>
          <p:cNvPr id="1043" name="Fußzeilenplatzhalter 3">
            <a:extLst>
              <a:ext uri="{FF2B5EF4-FFF2-40B4-BE49-F238E27FC236}">
                <a16:creationId xmlns:a16="http://schemas.microsoft.com/office/drawing/2014/main" id="{FC5F3CD8-EC60-2361-1D7D-D106BCC7B2DC}"/>
              </a:ext>
            </a:extLst>
          </p:cNvPr>
          <p:cNvSpPr>
            <a:spLocks noGrp="1"/>
          </p:cNvSpPr>
          <p:nvPr>
            <p:ph type="ftr" sz="quarter" idx="11"/>
          </p:nvPr>
        </p:nvSpPr>
        <p:spPr/>
        <p:txBody>
          <a:bodyPr/>
          <a:lstStyle/>
          <a:p>
            <a:r>
              <a:rPr lang="de-DE">
                <a:latin typeface="+mn-lt"/>
              </a:rPr>
              <a:t>Einführung in BPMN 2.0</a:t>
            </a:r>
          </a:p>
        </p:txBody>
      </p:sp>
      <p:sp>
        <p:nvSpPr>
          <p:cNvPr id="1044" name="Foliennummernplatzhalter 4">
            <a:extLst>
              <a:ext uri="{FF2B5EF4-FFF2-40B4-BE49-F238E27FC236}">
                <a16:creationId xmlns:a16="http://schemas.microsoft.com/office/drawing/2014/main" id="{212431F3-14A8-70AD-D9D5-73D64C59C169}"/>
              </a:ext>
            </a:extLst>
          </p:cNvPr>
          <p:cNvSpPr>
            <a:spLocks noGrp="1"/>
          </p:cNvSpPr>
          <p:nvPr>
            <p:ph type="sldNum" sz="quarter" idx="12"/>
          </p:nvPr>
        </p:nvSpPr>
        <p:spPr/>
        <p:txBody>
          <a:bodyPr/>
          <a:lstStyle/>
          <a:p>
            <a:fld id="{10939345-BF37-7940-A564-825B7904D7BD}" type="slidenum">
              <a:rPr lang="de-DE" smtClean="0">
                <a:latin typeface="+mn-lt"/>
              </a:rPr>
              <a:t>23</a:t>
            </a:fld>
            <a:endParaRPr lang="de-DE"/>
          </a:p>
        </p:txBody>
      </p:sp>
      <p:sp>
        <p:nvSpPr>
          <p:cNvPr id="1045" name="Der Fall"/>
          <p:cNvSpPr/>
          <p:nvPr/>
        </p:nvSpPr>
        <p:spPr>
          <a:xfrm>
            <a:off x="838200" y="1384300"/>
            <a:ext cx="3369733" cy="3048000"/>
          </a:xfrm>
          <a:prstGeom prst="roundRect">
            <a:avLst>
              <a:gd name="adj" fmla="val 3333"/>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l">
              <a:spcAft>
                <a:spcPts val="400"/>
              </a:spcAft>
            </a:pPr>
            <a:r>
              <a:rPr sz="2000" b="1">
                <a:solidFill>
                  <a:srgbClr val="000057"/>
                </a:solidFill>
              </a:rPr>
              <a:t>Der Fall</a:t>
            </a:r>
          </a:p>
          <a:p>
            <a:pPr algn="l">
              <a:lnSpc>
                <a:spcPct val="110000"/>
              </a:lnSpc>
              <a:spcAft>
                <a:spcPts val="400"/>
              </a:spcAft>
            </a:pPr>
            <a:r>
              <a:rPr sz="1600" b="0">
                <a:solidFill>
                  <a:srgbClr val="3F4847"/>
                </a:solidFill>
              </a:rPr>
              <a:t>Studierende beantragen die Anerkennung von Leistungen einer anderen Hochschule. Beteiligt sind Prüfungsamt, Fachprüfer/in und Prüfungsausschuss.</a:t>
            </a:r>
          </a:p>
        </p:txBody>
      </p:sp>
      <p:sp>
        <p:nvSpPr>
          <p:cNvPr id="1046" name="Ihr Auftrag"/>
          <p:cNvSpPr/>
          <p:nvPr/>
        </p:nvSpPr>
        <p:spPr>
          <a:xfrm>
            <a:off x="4411133" y="1384300"/>
            <a:ext cx="3369733" cy="3048000"/>
          </a:xfrm>
          <a:prstGeom prst="roundRect">
            <a:avLst>
              <a:gd name="adj" fmla="val 3333"/>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l">
              <a:spcAft>
                <a:spcPts val="800"/>
              </a:spcAft>
            </a:pPr>
            <a:r>
              <a:rPr sz="2000" b="1">
                <a:solidFill>
                  <a:srgbClr val="000057"/>
                </a:solidFill>
              </a:rPr>
              <a:t>Ihr Auftrag</a:t>
            </a:r>
          </a:p>
          <a:p>
            <a:pPr marL="284480" indent="-284480" algn="l">
              <a:spcAft>
                <a:spcPts val="400"/>
              </a:spcAft>
              <a:buAutoNum type="arabicPeriod"/>
            </a:pPr>
            <a:r>
              <a:rPr sz="1600" b="0">
                <a:solidFill>
                  <a:srgbClr val="3F4847"/>
                </a:solidFill>
              </a:rPr>
              <a:t>Fallbeschreibung analysieren</a:t>
            </a:r>
          </a:p>
          <a:p>
            <a:pPr marL="284480" indent="-284480" algn="l">
              <a:spcAft>
                <a:spcPts val="400"/>
              </a:spcAft>
              <a:buAutoNum type="arabicPeriod"/>
            </a:pPr>
            <a:r>
              <a:rPr sz="1600" b="0">
                <a:solidFill>
                  <a:srgbClr val="3F4847"/>
                </a:solidFill>
              </a:rPr>
              <a:t>Kollaborationsdiagramm modellieren</a:t>
            </a:r>
          </a:p>
          <a:p>
            <a:pPr marL="284480" indent="-284480" algn="l">
              <a:spcAft>
                <a:spcPts val="400"/>
              </a:spcAft>
              <a:buAutoNum type="arabicPeriod"/>
            </a:pPr>
            <a:r>
              <a:rPr sz="1600" b="0">
                <a:solidFill>
                  <a:srgbClr val="3F4847"/>
                </a:solidFill>
              </a:rPr>
              <a:t>Teilprozess detaillieren</a:t>
            </a:r>
          </a:p>
          <a:p>
            <a:pPr marL="284480" indent="-284480" algn="l">
              <a:spcAft>
                <a:spcPts val="400"/>
              </a:spcAft>
              <a:buAutoNum type="arabicPeriod"/>
            </a:pPr>
            <a:r>
              <a:rPr sz="1600" b="0">
                <a:solidFill>
                  <a:srgbClr val="3F4847"/>
                </a:solidFill>
              </a:rPr>
              <a:t>Modellentscheidungen begründen</a:t>
            </a:r>
          </a:p>
        </p:txBody>
      </p:sp>
      <p:sp>
        <p:nvSpPr>
          <p:cNvPr id="1047" name="Abgabe"/>
          <p:cNvSpPr/>
          <p:nvPr/>
        </p:nvSpPr>
        <p:spPr>
          <a:xfrm>
            <a:off x="7984067" y="1384300"/>
            <a:ext cx="3369733" cy="3048000"/>
          </a:xfrm>
          <a:prstGeom prst="roundRect">
            <a:avLst>
              <a:gd name="adj" fmla="val 3333"/>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l">
              <a:spcAft>
                <a:spcPts val="400"/>
              </a:spcAft>
            </a:pPr>
            <a:r>
              <a:rPr sz="2000" b="1" dirty="0" err="1">
                <a:solidFill>
                  <a:srgbClr val="000057"/>
                </a:solidFill>
              </a:rPr>
              <a:t>Abgabe</a:t>
            </a:r>
            <a:endParaRPr sz="2000" b="1" dirty="0">
              <a:solidFill>
                <a:srgbClr val="000057"/>
              </a:solidFill>
            </a:endParaRPr>
          </a:p>
          <a:p>
            <a:pPr algn="l">
              <a:lnSpc>
                <a:spcPct val="110000"/>
              </a:lnSpc>
              <a:spcAft>
                <a:spcPts val="400"/>
              </a:spcAft>
            </a:pPr>
            <a:r>
              <a:rPr sz="1600" b="0" dirty="0">
                <a:solidFill>
                  <a:srgbClr val="3F4847"/>
                </a:solidFill>
              </a:rPr>
              <a:t>In Gruppen von </a:t>
            </a:r>
            <a:r>
              <a:rPr sz="1600" b="0" dirty="0" err="1">
                <a:solidFill>
                  <a:srgbClr val="3F4847"/>
                </a:solidFill>
              </a:rPr>
              <a:t>zwei</a:t>
            </a:r>
            <a:r>
              <a:rPr sz="1600" b="0" dirty="0">
                <a:solidFill>
                  <a:srgbClr val="3F4847"/>
                </a:solidFill>
              </a:rPr>
              <a:t> bis </a:t>
            </a:r>
            <a:r>
              <a:rPr sz="1600" b="0" dirty="0" err="1">
                <a:solidFill>
                  <a:srgbClr val="3F4847"/>
                </a:solidFill>
              </a:rPr>
              <a:t>drei</a:t>
            </a:r>
            <a:r>
              <a:rPr sz="1600" b="0" dirty="0">
                <a:solidFill>
                  <a:srgbClr val="3F4847"/>
                </a:solidFill>
              </a:rPr>
              <a:t> </a:t>
            </a:r>
            <a:r>
              <a:rPr sz="1600" b="0" dirty="0" err="1">
                <a:solidFill>
                  <a:srgbClr val="3F4847"/>
                </a:solidFill>
              </a:rPr>
              <a:t>Personen</a:t>
            </a:r>
            <a:r>
              <a:rPr sz="1600" b="0" dirty="0">
                <a:solidFill>
                  <a:srgbClr val="3F4847"/>
                </a:solidFill>
              </a:rPr>
              <a:t>: .</a:t>
            </a:r>
            <a:r>
              <a:rPr sz="1600" b="0" dirty="0" err="1">
                <a:solidFill>
                  <a:srgbClr val="3F4847"/>
                </a:solidFill>
              </a:rPr>
              <a:t>bpmn-Dateien</a:t>
            </a:r>
            <a:r>
              <a:rPr sz="1600" b="0" dirty="0">
                <a:solidFill>
                  <a:srgbClr val="3F4847"/>
                </a:solidFill>
              </a:rPr>
              <a:t>, PDF der </a:t>
            </a:r>
            <a:r>
              <a:rPr sz="1600" b="0" dirty="0" err="1">
                <a:solidFill>
                  <a:srgbClr val="3F4847"/>
                </a:solidFill>
              </a:rPr>
              <a:t>Diagramme</a:t>
            </a:r>
            <a:r>
              <a:rPr sz="1600" b="0" dirty="0">
                <a:solidFill>
                  <a:srgbClr val="3F4847"/>
                </a:solidFill>
              </a:rPr>
              <a:t> und </a:t>
            </a:r>
            <a:r>
              <a:rPr sz="1600" b="0" dirty="0" err="1">
                <a:solidFill>
                  <a:srgbClr val="3F4847"/>
                </a:solidFill>
              </a:rPr>
              <a:t>Ihre</a:t>
            </a:r>
            <a:r>
              <a:rPr sz="1600" b="0" dirty="0">
                <a:solidFill>
                  <a:srgbClr val="3F4847"/>
                </a:solidFill>
              </a:rPr>
              <a:t> </a:t>
            </a:r>
            <a:r>
              <a:rPr sz="1600" b="0" dirty="0" err="1">
                <a:solidFill>
                  <a:srgbClr val="3F4847"/>
                </a:solidFill>
              </a:rPr>
              <a:t>Antworten</a:t>
            </a:r>
            <a:r>
              <a:rPr sz="1600" b="0" dirty="0">
                <a:solidFill>
                  <a:srgbClr val="3F4847"/>
                </a:solidFill>
              </a:rPr>
              <a:t>. </a:t>
            </a:r>
          </a:p>
        </p:txBody>
      </p:sp>
      <p:sp>
        <p:nvSpPr>
          <p:cNvPr id="1048" name="Hinweis"/>
          <p:cNvSpPr/>
          <p:nvPr/>
        </p:nvSpPr>
        <p:spPr>
          <a:xfrm>
            <a:off x="838200" y="4622800"/>
            <a:ext cx="10515600" cy="762000"/>
          </a:xfrm>
          <a:prstGeom prst="roundRect">
            <a:avLst>
              <a:gd name="adj" fmla="val 13333"/>
            </a:avLst>
          </a:prstGeom>
          <a:solidFill>
            <a:srgbClr val="000057"/>
          </a:solidFill>
          <a:ln>
            <a:noFill/>
          </a:ln>
          <a:effectLst/>
        </p:spPr>
        <p:style>
          <a:lnRef idx="1">
            <a:schemeClr val="accent1"/>
          </a:lnRef>
          <a:fillRef idx="3">
            <a:schemeClr val="accent1"/>
          </a:fillRef>
          <a:effectRef idx="2">
            <a:schemeClr val="accent1"/>
          </a:effectRef>
          <a:fontRef idx="minor">
            <a:schemeClr val="lt1"/>
          </a:fontRef>
        </p:style>
        <p:txBody>
          <a:bodyPr wrap="square" lIns="254000" tIns="101600" rIns="254000" bIns="101600" rtlCol="0" anchor="ctr"/>
          <a:lstStyle/>
          <a:p>
            <a:pPr algn="l"/>
            <a:r>
              <a:rPr sz="2000" b="0">
                <a:solidFill>
                  <a:srgbClr val="FFFFFF"/>
                </a:solidFill>
              </a:rPr>
              <a:t>Alle heute besprochenen Elemente kommen vor – die Checkliste steht im Aufgabenblatt.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Alle Elemente auf einen Blick</a:t>
            </a:r>
          </a:p>
        </p:txBody>
      </p:sp>
      <p:sp>
        <p:nvSpPr>
          <p:cNvPr id="3" name="Dachzeile"/>
          <p:cNvSpPr txBox="1"/>
          <p:nvPr/>
        </p:nvSpPr>
        <p:spPr>
          <a:xfrm>
            <a:off x="914400" y="1003300"/>
            <a:ext cx="9448800" cy="215444"/>
          </a:xfrm>
          <a:prstGeom prst="rect">
            <a:avLst/>
          </a:prstGeom>
          <a:noFill/>
        </p:spPr>
        <p:txBody>
          <a:bodyPr wrap="square" lIns="0" tIns="0" rIns="0" bIns="0" anchor="t">
            <a:spAutoFit/>
          </a:bodyPr>
          <a:lstStyle/>
          <a:p>
            <a:pPr algn="l"/>
            <a:r>
              <a:rPr sz="1400" b="1" dirty="0">
                <a:solidFill>
                  <a:srgbClr val="A65200"/>
                </a:solidFill>
              </a:rPr>
              <a:t>Zum </a:t>
            </a:r>
            <a:r>
              <a:rPr sz="1400" b="1" dirty="0" err="1">
                <a:solidFill>
                  <a:srgbClr val="A65200"/>
                </a:solidFill>
              </a:rPr>
              <a:t>Mitnehmen</a:t>
            </a:r>
            <a:endParaRPr sz="1400" b="1" dirty="0">
              <a:solidFill>
                <a:srgbClr val="A65200"/>
              </a:solidFill>
            </a:endParaRPr>
          </a:p>
        </p:txBody>
      </p:sp>
      <p:sp>
        <p:nvSpPr>
          <p:cNvPr id="1045" name="Fußzeilenplatzhalter 3">
            <a:extLst>
              <a:ext uri="{FF2B5EF4-FFF2-40B4-BE49-F238E27FC236}">
                <a16:creationId xmlns:a16="http://schemas.microsoft.com/office/drawing/2014/main" id="{FC5F3CD8-EC60-2361-1D7D-D106BCC7B2DC}"/>
              </a:ext>
            </a:extLst>
          </p:cNvPr>
          <p:cNvSpPr>
            <a:spLocks noGrp="1"/>
          </p:cNvSpPr>
          <p:nvPr>
            <p:ph type="ftr" sz="quarter" idx="11"/>
          </p:nvPr>
        </p:nvSpPr>
        <p:spPr/>
        <p:txBody>
          <a:bodyPr/>
          <a:lstStyle/>
          <a:p>
            <a:r>
              <a:rPr lang="de-DE">
                <a:latin typeface="+mn-lt"/>
              </a:rPr>
              <a:t>Einführung in BPMN 2.0</a:t>
            </a:r>
          </a:p>
        </p:txBody>
      </p:sp>
      <p:sp>
        <p:nvSpPr>
          <p:cNvPr id="1046" name="Foliennummernplatzhalter 4">
            <a:extLst>
              <a:ext uri="{FF2B5EF4-FFF2-40B4-BE49-F238E27FC236}">
                <a16:creationId xmlns:a16="http://schemas.microsoft.com/office/drawing/2014/main" id="{212431F3-14A8-70AD-D9D5-73D64C59C169}"/>
              </a:ext>
            </a:extLst>
          </p:cNvPr>
          <p:cNvSpPr>
            <a:spLocks noGrp="1"/>
          </p:cNvSpPr>
          <p:nvPr>
            <p:ph type="sldNum" sz="quarter" idx="12"/>
          </p:nvPr>
        </p:nvSpPr>
        <p:spPr/>
        <p:txBody>
          <a:bodyPr/>
          <a:lstStyle/>
          <a:p>
            <a:fld id="{10939345-BF37-7940-A564-825B7904D7BD}" type="slidenum">
              <a:rPr lang="de-DE" smtClean="0">
                <a:latin typeface="+mn-lt"/>
              </a:rPr>
              <a:t>24</a:t>
            </a:fld>
            <a:endParaRPr lang="de-DE"/>
          </a:p>
        </p:txBody>
      </p:sp>
      <p:sp>
        <p:nvSpPr>
          <p:cNvPr id="1047" name="Startereignis"/>
          <p:cNvSpPr/>
          <p:nvPr/>
        </p:nvSpPr>
        <p:spPr>
          <a:xfrm>
            <a:off x="838200" y="1384300"/>
            <a:ext cx="2001520" cy="1454150"/>
          </a:xfrm>
          <a:prstGeom prst="roundRect">
            <a:avLst>
              <a:gd name="adj" fmla="val 6113"/>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48" name="Startereignis Symbol" descr="ueberblick_0.png"/>
          <p:cNvPicPr>
            <a:picLocks noChangeAspect="1"/>
          </p:cNvPicPr>
          <p:nvPr/>
        </p:nvPicPr>
        <p:blipFill>
          <a:blip r:embed="rId3"/>
          <a:stretch>
            <a:fillRect/>
          </a:stretch>
        </p:blipFill>
        <p:spPr>
          <a:xfrm>
            <a:off x="1362710" y="1562100"/>
            <a:ext cx="952500" cy="635000"/>
          </a:xfrm>
          <a:prstGeom prst="rect">
            <a:avLst/>
          </a:prstGeom>
        </p:spPr>
      </p:pic>
      <p:sp>
        <p:nvSpPr>
          <p:cNvPr id="1049" name="TextBox 1048"/>
          <p:cNvSpPr txBox="1"/>
          <p:nvPr/>
        </p:nvSpPr>
        <p:spPr>
          <a:xfrm>
            <a:off x="914400" y="2273300"/>
            <a:ext cx="1849120" cy="317500"/>
          </a:xfrm>
          <a:prstGeom prst="rect">
            <a:avLst/>
          </a:prstGeom>
          <a:noFill/>
        </p:spPr>
        <p:txBody>
          <a:bodyPr wrap="square" lIns="0" tIns="0" rIns="0" bIns="0" anchor="t">
            <a:spAutoFit/>
          </a:bodyPr>
          <a:lstStyle/>
          <a:p>
            <a:pPr algn="ctr"/>
            <a:r>
              <a:rPr sz="1600" b="0">
                <a:solidFill>
                  <a:srgbClr val="000057"/>
                </a:solidFill>
              </a:rPr>
              <a:t>Startereignis</a:t>
            </a:r>
          </a:p>
        </p:txBody>
      </p:sp>
      <p:sp>
        <p:nvSpPr>
          <p:cNvPr id="1050" name="Nachricht"/>
          <p:cNvSpPr/>
          <p:nvPr/>
        </p:nvSpPr>
        <p:spPr>
          <a:xfrm>
            <a:off x="2966720" y="1384300"/>
            <a:ext cx="2001520" cy="1454150"/>
          </a:xfrm>
          <a:prstGeom prst="roundRect">
            <a:avLst>
              <a:gd name="adj" fmla="val 6113"/>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51" name="Nachricht Symbol" descr="ueberblick_1.png"/>
          <p:cNvPicPr>
            <a:picLocks noChangeAspect="1"/>
          </p:cNvPicPr>
          <p:nvPr/>
        </p:nvPicPr>
        <p:blipFill>
          <a:blip r:embed="rId4"/>
          <a:stretch>
            <a:fillRect/>
          </a:stretch>
        </p:blipFill>
        <p:spPr>
          <a:xfrm>
            <a:off x="3491230" y="1562100"/>
            <a:ext cx="952500" cy="635000"/>
          </a:xfrm>
          <a:prstGeom prst="rect">
            <a:avLst/>
          </a:prstGeom>
        </p:spPr>
      </p:pic>
      <p:sp>
        <p:nvSpPr>
          <p:cNvPr id="1052" name="TextBox 1051"/>
          <p:cNvSpPr txBox="1"/>
          <p:nvPr/>
        </p:nvSpPr>
        <p:spPr>
          <a:xfrm>
            <a:off x="3042920" y="2273300"/>
            <a:ext cx="1849120" cy="317500"/>
          </a:xfrm>
          <a:prstGeom prst="rect">
            <a:avLst/>
          </a:prstGeom>
          <a:noFill/>
        </p:spPr>
        <p:txBody>
          <a:bodyPr wrap="square" lIns="0" tIns="0" rIns="0" bIns="0" anchor="t">
            <a:spAutoFit/>
          </a:bodyPr>
          <a:lstStyle/>
          <a:p>
            <a:pPr algn="ctr"/>
            <a:r>
              <a:rPr sz="1600" b="0">
                <a:solidFill>
                  <a:srgbClr val="000057"/>
                </a:solidFill>
              </a:rPr>
              <a:t>Nachricht</a:t>
            </a:r>
          </a:p>
        </p:txBody>
      </p:sp>
      <p:sp>
        <p:nvSpPr>
          <p:cNvPr id="1053" name="Zeit"/>
          <p:cNvSpPr/>
          <p:nvPr/>
        </p:nvSpPr>
        <p:spPr>
          <a:xfrm>
            <a:off x="5095240" y="1384300"/>
            <a:ext cx="2001520" cy="1454150"/>
          </a:xfrm>
          <a:prstGeom prst="roundRect">
            <a:avLst>
              <a:gd name="adj" fmla="val 6113"/>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54" name="Zeit Symbol" descr="ueberblick_2.png"/>
          <p:cNvPicPr>
            <a:picLocks noChangeAspect="1"/>
          </p:cNvPicPr>
          <p:nvPr/>
        </p:nvPicPr>
        <p:blipFill>
          <a:blip r:embed="rId5"/>
          <a:stretch>
            <a:fillRect/>
          </a:stretch>
        </p:blipFill>
        <p:spPr>
          <a:xfrm>
            <a:off x="5619750" y="1562100"/>
            <a:ext cx="952500" cy="635000"/>
          </a:xfrm>
          <a:prstGeom prst="rect">
            <a:avLst/>
          </a:prstGeom>
        </p:spPr>
      </p:pic>
      <p:sp>
        <p:nvSpPr>
          <p:cNvPr id="1055" name="TextBox 1054"/>
          <p:cNvSpPr txBox="1"/>
          <p:nvPr/>
        </p:nvSpPr>
        <p:spPr>
          <a:xfrm>
            <a:off x="5171440" y="2273300"/>
            <a:ext cx="1849120" cy="317500"/>
          </a:xfrm>
          <a:prstGeom prst="rect">
            <a:avLst/>
          </a:prstGeom>
          <a:noFill/>
        </p:spPr>
        <p:txBody>
          <a:bodyPr wrap="square" lIns="0" tIns="0" rIns="0" bIns="0" anchor="t">
            <a:spAutoFit/>
          </a:bodyPr>
          <a:lstStyle/>
          <a:p>
            <a:pPr algn="ctr"/>
            <a:r>
              <a:rPr sz="1600" b="0">
                <a:solidFill>
                  <a:srgbClr val="000057"/>
                </a:solidFill>
              </a:rPr>
              <a:t>Zeit</a:t>
            </a:r>
          </a:p>
        </p:txBody>
      </p:sp>
      <p:sp>
        <p:nvSpPr>
          <p:cNvPr id="1056" name="Endereignis"/>
          <p:cNvSpPr/>
          <p:nvPr/>
        </p:nvSpPr>
        <p:spPr>
          <a:xfrm>
            <a:off x="7223760" y="1384300"/>
            <a:ext cx="2001520" cy="1454150"/>
          </a:xfrm>
          <a:prstGeom prst="roundRect">
            <a:avLst>
              <a:gd name="adj" fmla="val 6113"/>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57" name="Endereignis Symbol" descr="ueberblick_3.png"/>
          <p:cNvPicPr>
            <a:picLocks noChangeAspect="1"/>
          </p:cNvPicPr>
          <p:nvPr/>
        </p:nvPicPr>
        <p:blipFill>
          <a:blip r:embed="rId6"/>
          <a:stretch>
            <a:fillRect/>
          </a:stretch>
        </p:blipFill>
        <p:spPr>
          <a:xfrm>
            <a:off x="7748270" y="1562100"/>
            <a:ext cx="952500" cy="635000"/>
          </a:xfrm>
          <a:prstGeom prst="rect">
            <a:avLst/>
          </a:prstGeom>
        </p:spPr>
      </p:pic>
      <p:sp>
        <p:nvSpPr>
          <p:cNvPr id="1058" name="TextBox 1057"/>
          <p:cNvSpPr txBox="1"/>
          <p:nvPr/>
        </p:nvSpPr>
        <p:spPr>
          <a:xfrm>
            <a:off x="7299960" y="2273300"/>
            <a:ext cx="1849120" cy="317500"/>
          </a:xfrm>
          <a:prstGeom prst="rect">
            <a:avLst/>
          </a:prstGeom>
          <a:noFill/>
        </p:spPr>
        <p:txBody>
          <a:bodyPr wrap="square" lIns="0" tIns="0" rIns="0" bIns="0" anchor="t">
            <a:spAutoFit/>
          </a:bodyPr>
          <a:lstStyle/>
          <a:p>
            <a:pPr algn="ctr"/>
            <a:r>
              <a:rPr sz="1600" b="0">
                <a:solidFill>
                  <a:srgbClr val="000057"/>
                </a:solidFill>
              </a:rPr>
              <a:t>Endereignis</a:t>
            </a:r>
          </a:p>
        </p:txBody>
      </p:sp>
      <p:sp>
        <p:nvSpPr>
          <p:cNvPr id="1059" name="Aufgabe"/>
          <p:cNvSpPr/>
          <p:nvPr/>
        </p:nvSpPr>
        <p:spPr>
          <a:xfrm>
            <a:off x="9352280" y="1384300"/>
            <a:ext cx="2001520" cy="1454150"/>
          </a:xfrm>
          <a:prstGeom prst="roundRect">
            <a:avLst>
              <a:gd name="adj" fmla="val 6113"/>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60" name="Aufgabe Symbol" descr="ueberblick_4.png"/>
          <p:cNvPicPr>
            <a:picLocks noChangeAspect="1"/>
          </p:cNvPicPr>
          <p:nvPr/>
        </p:nvPicPr>
        <p:blipFill>
          <a:blip r:embed="rId7"/>
          <a:stretch>
            <a:fillRect/>
          </a:stretch>
        </p:blipFill>
        <p:spPr>
          <a:xfrm>
            <a:off x="9876790" y="1562100"/>
            <a:ext cx="952500" cy="635000"/>
          </a:xfrm>
          <a:prstGeom prst="rect">
            <a:avLst/>
          </a:prstGeom>
        </p:spPr>
      </p:pic>
      <p:sp>
        <p:nvSpPr>
          <p:cNvPr id="1061" name="TextBox 1060"/>
          <p:cNvSpPr txBox="1"/>
          <p:nvPr/>
        </p:nvSpPr>
        <p:spPr>
          <a:xfrm>
            <a:off x="9428480" y="2273300"/>
            <a:ext cx="1849120" cy="317500"/>
          </a:xfrm>
          <a:prstGeom prst="rect">
            <a:avLst/>
          </a:prstGeom>
          <a:noFill/>
        </p:spPr>
        <p:txBody>
          <a:bodyPr wrap="square" lIns="0" tIns="0" rIns="0" bIns="0" anchor="t">
            <a:spAutoFit/>
          </a:bodyPr>
          <a:lstStyle/>
          <a:p>
            <a:pPr algn="ctr"/>
            <a:r>
              <a:rPr sz="1600" b="0">
                <a:solidFill>
                  <a:srgbClr val="000057"/>
                </a:solidFill>
              </a:rPr>
              <a:t>Aufgabe</a:t>
            </a:r>
          </a:p>
        </p:txBody>
      </p:sp>
      <p:sp>
        <p:nvSpPr>
          <p:cNvPr id="1062" name="XOR"/>
          <p:cNvSpPr/>
          <p:nvPr/>
        </p:nvSpPr>
        <p:spPr>
          <a:xfrm>
            <a:off x="838200" y="2965450"/>
            <a:ext cx="2001520" cy="1454150"/>
          </a:xfrm>
          <a:prstGeom prst="roundRect">
            <a:avLst>
              <a:gd name="adj" fmla="val 6113"/>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63" name="XOR Symbol" descr="ueberblick_5.png"/>
          <p:cNvPicPr>
            <a:picLocks noChangeAspect="1"/>
          </p:cNvPicPr>
          <p:nvPr/>
        </p:nvPicPr>
        <p:blipFill>
          <a:blip r:embed="rId8"/>
          <a:stretch>
            <a:fillRect/>
          </a:stretch>
        </p:blipFill>
        <p:spPr>
          <a:xfrm>
            <a:off x="1362710" y="3143250"/>
            <a:ext cx="952500" cy="635000"/>
          </a:xfrm>
          <a:prstGeom prst="rect">
            <a:avLst/>
          </a:prstGeom>
        </p:spPr>
      </p:pic>
      <p:sp>
        <p:nvSpPr>
          <p:cNvPr id="1064" name="TextBox 1063"/>
          <p:cNvSpPr txBox="1"/>
          <p:nvPr/>
        </p:nvSpPr>
        <p:spPr>
          <a:xfrm>
            <a:off x="914400" y="3854450"/>
            <a:ext cx="1849120" cy="317500"/>
          </a:xfrm>
          <a:prstGeom prst="rect">
            <a:avLst/>
          </a:prstGeom>
          <a:noFill/>
        </p:spPr>
        <p:txBody>
          <a:bodyPr wrap="square" lIns="0" tIns="0" rIns="0" bIns="0" anchor="t">
            <a:spAutoFit/>
          </a:bodyPr>
          <a:lstStyle/>
          <a:p>
            <a:pPr algn="ctr"/>
            <a:r>
              <a:rPr sz="1600" b="0">
                <a:solidFill>
                  <a:srgbClr val="000057"/>
                </a:solidFill>
              </a:rPr>
              <a:t>XOR</a:t>
            </a:r>
          </a:p>
        </p:txBody>
      </p:sp>
      <p:sp>
        <p:nvSpPr>
          <p:cNvPr id="1065" name="AND"/>
          <p:cNvSpPr/>
          <p:nvPr/>
        </p:nvSpPr>
        <p:spPr>
          <a:xfrm>
            <a:off x="2966720" y="2965450"/>
            <a:ext cx="2001520" cy="1454150"/>
          </a:xfrm>
          <a:prstGeom prst="roundRect">
            <a:avLst>
              <a:gd name="adj" fmla="val 6113"/>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66" name="AND Symbol" descr="ueberblick_6.png"/>
          <p:cNvPicPr>
            <a:picLocks noChangeAspect="1"/>
          </p:cNvPicPr>
          <p:nvPr/>
        </p:nvPicPr>
        <p:blipFill>
          <a:blip r:embed="rId9"/>
          <a:stretch>
            <a:fillRect/>
          </a:stretch>
        </p:blipFill>
        <p:spPr>
          <a:xfrm>
            <a:off x="3491230" y="3143250"/>
            <a:ext cx="952500" cy="635000"/>
          </a:xfrm>
          <a:prstGeom prst="rect">
            <a:avLst/>
          </a:prstGeom>
        </p:spPr>
      </p:pic>
      <p:sp>
        <p:nvSpPr>
          <p:cNvPr id="1067" name="TextBox 1066"/>
          <p:cNvSpPr txBox="1"/>
          <p:nvPr/>
        </p:nvSpPr>
        <p:spPr>
          <a:xfrm>
            <a:off x="3042920" y="3854450"/>
            <a:ext cx="1849120" cy="317500"/>
          </a:xfrm>
          <a:prstGeom prst="rect">
            <a:avLst/>
          </a:prstGeom>
          <a:noFill/>
        </p:spPr>
        <p:txBody>
          <a:bodyPr wrap="square" lIns="0" tIns="0" rIns="0" bIns="0" anchor="t">
            <a:spAutoFit/>
          </a:bodyPr>
          <a:lstStyle/>
          <a:p>
            <a:pPr algn="ctr"/>
            <a:r>
              <a:rPr sz="1600" b="0">
                <a:solidFill>
                  <a:srgbClr val="000057"/>
                </a:solidFill>
              </a:rPr>
              <a:t>AND</a:t>
            </a:r>
          </a:p>
        </p:txBody>
      </p:sp>
      <p:sp>
        <p:nvSpPr>
          <p:cNvPr id="1068" name="OR"/>
          <p:cNvSpPr/>
          <p:nvPr/>
        </p:nvSpPr>
        <p:spPr>
          <a:xfrm>
            <a:off x="5095240" y="2965450"/>
            <a:ext cx="2001520" cy="1454150"/>
          </a:xfrm>
          <a:prstGeom prst="roundRect">
            <a:avLst>
              <a:gd name="adj" fmla="val 6113"/>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69" name="OR Symbol" descr="ueberblick_7.png"/>
          <p:cNvPicPr>
            <a:picLocks noChangeAspect="1"/>
          </p:cNvPicPr>
          <p:nvPr/>
        </p:nvPicPr>
        <p:blipFill>
          <a:blip r:embed="rId10"/>
          <a:stretch>
            <a:fillRect/>
          </a:stretch>
        </p:blipFill>
        <p:spPr>
          <a:xfrm>
            <a:off x="5619750" y="3143250"/>
            <a:ext cx="952500" cy="635000"/>
          </a:xfrm>
          <a:prstGeom prst="rect">
            <a:avLst/>
          </a:prstGeom>
        </p:spPr>
      </p:pic>
      <p:sp>
        <p:nvSpPr>
          <p:cNvPr id="1070" name="TextBox 1069"/>
          <p:cNvSpPr txBox="1"/>
          <p:nvPr/>
        </p:nvSpPr>
        <p:spPr>
          <a:xfrm>
            <a:off x="5171440" y="3854450"/>
            <a:ext cx="1849120" cy="317500"/>
          </a:xfrm>
          <a:prstGeom prst="rect">
            <a:avLst/>
          </a:prstGeom>
          <a:noFill/>
        </p:spPr>
        <p:txBody>
          <a:bodyPr wrap="square" lIns="0" tIns="0" rIns="0" bIns="0" anchor="t">
            <a:spAutoFit/>
          </a:bodyPr>
          <a:lstStyle/>
          <a:p>
            <a:pPr algn="ctr"/>
            <a:r>
              <a:rPr sz="1600" b="0">
                <a:solidFill>
                  <a:srgbClr val="000057"/>
                </a:solidFill>
              </a:rPr>
              <a:t>OR</a:t>
            </a:r>
          </a:p>
        </p:txBody>
      </p:sp>
      <p:sp>
        <p:nvSpPr>
          <p:cNvPr id="1071" name="Ereignisbasiert"/>
          <p:cNvSpPr/>
          <p:nvPr/>
        </p:nvSpPr>
        <p:spPr>
          <a:xfrm>
            <a:off x="7223760" y="2965450"/>
            <a:ext cx="2001520" cy="1454150"/>
          </a:xfrm>
          <a:prstGeom prst="roundRect">
            <a:avLst>
              <a:gd name="adj" fmla="val 6113"/>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72" name="Ereignisbasiert Symbol" descr="ueberblick_8.png"/>
          <p:cNvPicPr>
            <a:picLocks noChangeAspect="1"/>
          </p:cNvPicPr>
          <p:nvPr/>
        </p:nvPicPr>
        <p:blipFill>
          <a:blip r:embed="rId11"/>
          <a:stretch>
            <a:fillRect/>
          </a:stretch>
        </p:blipFill>
        <p:spPr>
          <a:xfrm>
            <a:off x="7748270" y="3143250"/>
            <a:ext cx="952500" cy="635000"/>
          </a:xfrm>
          <a:prstGeom prst="rect">
            <a:avLst/>
          </a:prstGeom>
        </p:spPr>
      </p:pic>
      <p:sp>
        <p:nvSpPr>
          <p:cNvPr id="1073" name="TextBox 1072"/>
          <p:cNvSpPr txBox="1"/>
          <p:nvPr/>
        </p:nvSpPr>
        <p:spPr>
          <a:xfrm>
            <a:off x="7299960" y="3854450"/>
            <a:ext cx="1849120" cy="317500"/>
          </a:xfrm>
          <a:prstGeom prst="rect">
            <a:avLst/>
          </a:prstGeom>
          <a:noFill/>
        </p:spPr>
        <p:txBody>
          <a:bodyPr wrap="square" lIns="0" tIns="0" rIns="0" bIns="0" anchor="t">
            <a:spAutoFit/>
          </a:bodyPr>
          <a:lstStyle/>
          <a:p>
            <a:pPr algn="ctr"/>
            <a:r>
              <a:rPr sz="1600" b="0">
                <a:solidFill>
                  <a:srgbClr val="000057"/>
                </a:solidFill>
              </a:rPr>
              <a:t>Ereignisbasiert</a:t>
            </a:r>
          </a:p>
        </p:txBody>
      </p:sp>
      <p:sp>
        <p:nvSpPr>
          <p:cNvPr id="1074" name="Teilprozess"/>
          <p:cNvSpPr/>
          <p:nvPr/>
        </p:nvSpPr>
        <p:spPr>
          <a:xfrm>
            <a:off x="9352280" y="2965450"/>
            <a:ext cx="2001520" cy="1454150"/>
          </a:xfrm>
          <a:prstGeom prst="roundRect">
            <a:avLst>
              <a:gd name="adj" fmla="val 6113"/>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75" name="Teilprozess Symbol" descr="ueberblick_9.png"/>
          <p:cNvPicPr>
            <a:picLocks noChangeAspect="1"/>
          </p:cNvPicPr>
          <p:nvPr/>
        </p:nvPicPr>
        <p:blipFill>
          <a:blip r:embed="rId12"/>
          <a:stretch>
            <a:fillRect/>
          </a:stretch>
        </p:blipFill>
        <p:spPr>
          <a:xfrm>
            <a:off x="9876790" y="3143250"/>
            <a:ext cx="952500" cy="635000"/>
          </a:xfrm>
          <a:prstGeom prst="rect">
            <a:avLst/>
          </a:prstGeom>
        </p:spPr>
      </p:pic>
      <p:sp>
        <p:nvSpPr>
          <p:cNvPr id="1076" name="TextBox 1075"/>
          <p:cNvSpPr txBox="1"/>
          <p:nvPr/>
        </p:nvSpPr>
        <p:spPr>
          <a:xfrm>
            <a:off x="9428480" y="3854450"/>
            <a:ext cx="1849120" cy="317500"/>
          </a:xfrm>
          <a:prstGeom prst="rect">
            <a:avLst/>
          </a:prstGeom>
          <a:noFill/>
        </p:spPr>
        <p:txBody>
          <a:bodyPr wrap="square" lIns="0" tIns="0" rIns="0" bIns="0" anchor="t">
            <a:spAutoFit/>
          </a:bodyPr>
          <a:lstStyle/>
          <a:p>
            <a:pPr algn="ctr"/>
            <a:r>
              <a:rPr sz="1600" b="0">
                <a:solidFill>
                  <a:srgbClr val="000057"/>
                </a:solidFill>
              </a:rPr>
              <a:t>Teilprozess</a:t>
            </a:r>
          </a:p>
        </p:txBody>
      </p:sp>
      <p:sp>
        <p:nvSpPr>
          <p:cNvPr id="1077" name="Sequenzfluss"/>
          <p:cNvSpPr/>
          <p:nvPr/>
        </p:nvSpPr>
        <p:spPr>
          <a:xfrm>
            <a:off x="838200" y="4546600"/>
            <a:ext cx="2001520" cy="1454150"/>
          </a:xfrm>
          <a:prstGeom prst="roundRect">
            <a:avLst>
              <a:gd name="adj" fmla="val 6113"/>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78" name="Sequenzfluss Symbol" descr="ueberblick_10.png"/>
          <p:cNvPicPr>
            <a:picLocks noChangeAspect="1"/>
          </p:cNvPicPr>
          <p:nvPr/>
        </p:nvPicPr>
        <p:blipFill>
          <a:blip r:embed="rId13"/>
          <a:stretch>
            <a:fillRect/>
          </a:stretch>
        </p:blipFill>
        <p:spPr>
          <a:xfrm>
            <a:off x="1362710" y="4724400"/>
            <a:ext cx="952500" cy="635000"/>
          </a:xfrm>
          <a:prstGeom prst="rect">
            <a:avLst/>
          </a:prstGeom>
        </p:spPr>
      </p:pic>
      <p:sp>
        <p:nvSpPr>
          <p:cNvPr id="1079" name="TextBox 1078"/>
          <p:cNvSpPr txBox="1"/>
          <p:nvPr/>
        </p:nvSpPr>
        <p:spPr>
          <a:xfrm>
            <a:off x="914400" y="5435600"/>
            <a:ext cx="1849120" cy="317500"/>
          </a:xfrm>
          <a:prstGeom prst="rect">
            <a:avLst/>
          </a:prstGeom>
          <a:noFill/>
        </p:spPr>
        <p:txBody>
          <a:bodyPr wrap="square" lIns="0" tIns="0" rIns="0" bIns="0" anchor="t">
            <a:spAutoFit/>
          </a:bodyPr>
          <a:lstStyle/>
          <a:p>
            <a:pPr algn="ctr"/>
            <a:r>
              <a:rPr sz="1600" b="0">
                <a:solidFill>
                  <a:srgbClr val="000057"/>
                </a:solidFill>
              </a:rPr>
              <a:t>Sequenzfluss</a:t>
            </a:r>
          </a:p>
        </p:txBody>
      </p:sp>
      <p:sp>
        <p:nvSpPr>
          <p:cNvPr id="1080" name="Nachrichtenfluss"/>
          <p:cNvSpPr/>
          <p:nvPr/>
        </p:nvSpPr>
        <p:spPr>
          <a:xfrm>
            <a:off x="2966720" y="4546600"/>
            <a:ext cx="2001520" cy="1454150"/>
          </a:xfrm>
          <a:prstGeom prst="roundRect">
            <a:avLst>
              <a:gd name="adj" fmla="val 6113"/>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81" name="Nachrichtenfluss Symbol" descr="ueberblick_11.png"/>
          <p:cNvPicPr>
            <a:picLocks noChangeAspect="1"/>
          </p:cNvPicPr>
          <p:nvPr/>
        </p:nvPicPr>
        <p:blipFill>
          <a:blip r:embed="rId14"/>
          <a:stretch>
            <a:fillRect/>
          </a:stretch>
        </p:blipFill>
        <p:spPr>
          <a:xfrm>
            <a:off x="3491230" y="4724400"/>
            <a:ext cx="952500" cy="635000"/>
          </a:xfrm>
          <a:prstGeom prst="rect">
            <a:avLst/>
          </a:prstGeom>
        </p:spPr>
      </p:pic>
      <p:sp>
        <p:nvSpPr>
          <p:cNvPr id="1082" name="TextBox 1081"/>
          <p:cNvSpPr txBox="1"/>
          <p:nvPr/>
        </p:nvSpPr>
        <p:spPr>
          <a:xfrm>
            <a:off x="3042920" y="5435600"/>
            <a:ext cx="1849120" cy="317500"/>
          </a:xfrm>
          <a:prstGeom prst="rect">
            <a:avLst/>
          </a:prstGeom>
          <a:noFill/>
        </p:spPr>
        <p:txBody>
          <a:bodyPr wrap="square" lIns="0" tIns="0" rIns="0" bIns="0" anchor="t">
            <a:spAutoFit/>
          </a:bodyPr>
          <a:lstStyle/>
          <a:p>
            <a:pPr algn="ctr"/>
            <a:r>
              <a:rPr sz="1600" b="0">
                <a:solidFill>
                  <a:srgbClr val="000057"/>
                </a:solidFill>
              </a:rPr>
              <a:t>Nachrichtenfluss</a:t>
            </a:r>
          </a:p>
        </p:txBody>
      </p:sp>
      <p:sp>
        <p:nvSpPr>
          <p:cNvPr id="1083" name="Pool und Lanes"/>
          <p:cNvSpPr/>
          <p:nvPr/>
        </p:nvSpPr>
        <p:spPr>
          <a:xfrm>
            <a:off x="5095240" y="4546600"/>
            <a:ext cx="2001520" cy="1454150"/>
          </a:xfrm>
          <a:prstGeom prst="roundRect">
            <a:avLst>
              <a:gd name="adj" fmla="val 6113"/>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84" name="Pool und Lanes Symbol" descr="ueberblick_12.png"/>
          <p:cNvPicPr>
            <a:picLocks noChangeAspect="1"/>
          </p:cNvPicPr>
          <p:nvPr/>
        </p:nvPicPr>
        <p:blipFill>
          <a:blip r:embed="rId15"/>
          <a:stretch>
            <a:fillRect/>
          </a:stretch>
        </p:blipFill>
        <p:spPr>
          <a:xfrm>
            <a:off x="5619750" y="4724400"/>
            <a:ext cx="952500" cy="635000"/>
          </a:xfrm>
          <a:prstGeom prst="rect">
            <a:avLst/>
          </a:prstGeom>
        </p:spPr>
      </p:pic>
      <p:sp>
        <p:nvSpPr>
          <p:cNvPr id="1085" name="TextBox 1084"/>
          <p:cNvSpPr txBox="1"/>
          <p:nvPr/>
        </p:nvSpPr>
        <p:spPr>
          <a:xfrm>
            <a:off x="5171440" y="5435600"/>
            <a:ext cx="1849120" cy="317500"/>
          </a:xfrm>
          <a:prstGeom prst="rect">
            <a:avLst/>
          </a:prstGeom>
          <a:noFill/>
        </p:spPr>
        <p:txBody>
          <a:bodyPr wrap="square" lIns="0" tIns="0" rIns="0" bIns="0" anchor="t">
            <a:spAutoFit/>
          </a:bodyPr>
          <a:lstStyle/>
          <a:p>
            <a:pPr algn="ctr"/>
            <a:r>
              <a:rPr sz="1600" b="0">
                <a:solidFill>
                  <a:srgbClr val="000057"/>
                </a:solidFill>
              </a:rPr>
              <a:t>Pool und Lanes</a:t>
            </a:r>
          </a:p>
        </p:txBody>
      </p:sp>
      <p:sp>
        <p:nvSpPr>
          <p:cNvPr id="1086" name="Datenobjekt"/>
          <p:cNvSpPr/>
          <p:nvPr/>
        </p:nvSpPr>
        <p:spPr>
          <a:xfrm>
            <a:off x="7223760" y="4546600"/>
            <a:ext cx="2001520" cy="1454150"/>
          </a:xfrm>
          <a:prstGeom prst="roundRect">
            <a:avLst>
              <a:gd name="adj" fmla="val 6113"/>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87" name="Datenobjekt Symbol" descr="ueberblick_13.png"/>
          <p:cNvPicPr>
            <a:picLocks noChangeAspect="1"/>
          </p:cNvPicPr>
          <p:nvPr/>
        </p:nvPicPr>
        <p:blipFill>
          <a:blip r:embed="rId16"/>
          <a:stretch>
            <a:fillRect/>
          </a:stretch>
        </p:blipFill>
        <p:spPr>
          <a:xfrm>
            <a:off x="7748270" y="4724400"/>
            <a:ext cx="952500" cy="635000"/>
          </a:xfrm>
          <a:prstGeom prst="rect">
            <a:avLst/>
          </a:prstGeom>
        </p:spPr>
      </p:pic>
      <p:sp>
        <p:nvSpPr>
          <p:cNvPr id="1088" name="TextBox 1087"/>
          <p:cNvSpPr txBox="1"/>
          <p:nvPr/>
        </p:nvSpPr>
        <p:spPr>
          <a:xfrm>
            <a:off x="7299960" y="5435600"/>
            <a:ext cx="1849120" cy="317500"/>
          </a:xfrm>
          <a:prstGeom prst="rect">
            <a:avLst/>
          </a:prstGeom>
          <a:noFill/>
        </p:spPr>
        <p:txBody>
          <a:bodyPr wrap="square" lIns="0" tIns="0" rIns="0" bIns="0" anchor="t">
            <a:spAutoFit/>
          </a:bodyPr>
          <a:lstStyle/>
          <a:p>
            <a:pPr algn="ctr"/>
            <a:r>
              <a:rPr sz="1600" b="0">
                <a:solidFill>
                  <a:srgbClr val="000057"/>
                </a:solidFill>
              </a:rPr>
              <a:t>Datenobjekt</a:t>
            </a:r>
          </a:p>
        </p:txBody>
      </p:sp>
      <p:sp>
        <p:nvSpPr>
          <p:cNvPr id="1089" name="Datenspeicher"/>
          <p:cNvSpPr/>
          <p:nvPr/>
        </p:nvSpPr>
        <p:spPr>
          <a:xfrm>
            <a:off x="9352280" y="4546600"/>
            <a:ext cx="2001520" cy="1454150"/>
          </a:xfrm>
          <a:prstGeom prst="roundRect">
            <a:avLst>
              <a:gd name="adj" fmla="val 6113"/>
            </a:avLst>
          </a:prstGeom>
          <a:solidFill>
            <a:srgbClr val="FFFFFF"/>
          </a:solidFill>
          <a:ln w="9525">
            <a:solidFill>
              <a:srgbClr val="DDE0EA"/>
            </a:solidFill>
          </a:ln>
          <a:effectLst/>
        </p:spPr>
        <p:style>
          <a:lnRef idx="1">
            <a:schemeClr val="accent1"/>
          </a:lnRef>
          <a:fillRef idx="3">
            <a:schemeClr val="accent1"/>
          </a:fillRef>
          <a:effectRef idx="2">
            <a:schemeClr val="accent1"/>
          </a:effectRef>
          <a:fontRef idx="minor">
            <a:schemeClr val="lt1"/>
          </a:fontRef>
        </p:style>
        <p:txBody>
          <a:bodyPr wrap="square" lIns="177800" tIns="152400" rIns="177800" bIns="152400" rtlCol="0" anchor="t"/>
          <a:lstStyle/>
          <a:p>
            <a:pPr algn="ctr"/>
            <a:endParaRPr/>
          </a:p>
        </p:txBody>
      </p:sp>
      <p:pic>
        <p:nvPicPr>
          <p:cNvPr id="1090" name="Datenspeicher Symbol" descr="ueberblick_14.png"/>
          <p:cNvPicPr>
            <a:picLocks noChangeAspect="1"/>
          </p:cNvPicPr>
          <p:nvPr/>
        </p:nvPicPr>
        <p:blipFill>
          <a:blip r:embed="rId17"/>
          <a:stretch>
            <a:fillRect/>
          </a:stretch>
        </p:blipFill>
        <p:spPr>
          <a:xfrm>
            <a:off x="9876790" y="4724400"/>
            <a:ext cx="952500" cy="635000"/>
          </a:xfrm>
          <a:prstGeom prst="rect">
            <a:avLst/>
          </a:prstGeom>
        </p:spPr>
      </p:pic>
      <p:sp>
        <p:nvSpPr>
          <p:cNvPr id="1091" name="TextBox 1090"/>
          <p:cNvSpPr txBox="1"/>
          <p:nvPr/>
        </p:nvSpPr>
        <p:spPr>
          <a:xfrm>
            <a:off x="9428480" y="5435600"/>
            <a:ext cx="1849120" cy="317500"/>
          </a:xfrm>
          <a:prstGeom prst="rect">
            <a:avLst/>
          </a:prstGeom>
          <a:noFill/>
        </p:spPr>
        <p:txBody>
          <a:bodyPr wrap="square" lIns="0" tIns="0" rIns="0" bIns="0" anchor="t">
            <a:spAutoFit/>
          </a:bodyPr>
          <a:lstStyle/>
          <a:p>
            <a:pPr algn="ctr"/>
            <a:r>
              <a:rPr sz="1600" b="0">
                <a:solidFill>
                  <a:srgbClr val="000057"/>
                </a:solidFill>
              </a:rPr>
              <a:t>Datenspeicher</a:t>
            </a:r>
          </a:p>
        </p:txBody>
      </p:sp>
    </p:spTree>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2" id="{D8AC73C4-2BDD-5541-8FB8-B5CA2B4F459E}" vid="{82180802-AFCB-D446-ACB1-2534E39855ED}"/>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3319</Words>
  <Application>Microsoft Macintosh PowerPoint</Application>
  <PresentationFormat>Breitbild</PresentationFormat>
  <Paragraphs>326</Paragraphs>
  <Slides>24</Slides>
  <Notes>24</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24</vt:i4>
      </vt:variant>
    </vt:vector>
  </HeadingPairs>
  <TitlesOfParts>
    <vt:vector size="27" baseType="lpstr">
      <vt:lpstr>Arial</vt:lpstr>
      <vt:lpstr>Calibri</vt:lpstr>
      <vt:lpstr>Office</vt:lpstr>
      <vt:lpstr>Prozesse modellieren mit BPMN 2.0</vt:lpstr>
      <vt:lpstr>Lernziele</vt:lpstr>
      <vt:lpstr>Warum BPMN?</vt:lpstr>
      <vt:lpstr>Vier Gruppen von Elementen</vt:lpstr>
      <vt:lpstr>Start, Aufgaben, Ende</vt:lpstr>
      <vt:lpstr>Gute Namen</vt:lpstr>
      <vt:lpstr>Exklusives Gateway (XOR)</vt:lpstr>
      <vt:lpstr>Paralleles Gateway (AND)</vt:lpstr>
      <vt:lpstr>Inklusives Gateway (OR)</vt:lpstr>
      <vt:lpstr>Drei Gateways im Vergleich</vt:lpstr>
      <vt:lpstr>Welches Gateway passt?</vt:lpstr>
      <vt:lpstr>Ereignisse</vt:lpstr>
      <vt:lpstr>Zeitereignisse</vt:lpstr>
      <vt:lpstr>Ereignisbasiertes Gateway</vt:lpstr>
      <vt:lpstr>Randereignisse</vt:lpstr>
      <vt:lpstr>Pools, Lanes, Nachrichtenflüsse</vt:lpstr>
      <vt:lpstr>Sechs typische Fehler</vt:lpstr>
      <vt:lpstr>Daten und Anmerkungen</vt:lpstr>
      <vt:lpstr>Aufgabentypen und Marker</vt:lpstr>
      <vt:lpstr>Teilprozesse</vt:lpstr>
      <vt:lpstr>Urlaubssemester beantragen</vt:lpstr>
      <vt:lpstr>Eine mögliche Lösung</vt:lpstr>
      <vt:lpstr>Ihre Übungsaufgabe</vt:lpstr>
      <vt:lpstr>Alle Elemente auf einen Blick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swi</dc:creator>
  <cp:lastModifiedBy>swi</cp:lastModifiedBy>
  <cp:revision>2</cp:revision>
  <dcterms:created xsi:type="dcterms:W3CDTF">2026-10-11T21:41:10Z</dcterms:created>
  <dcterms:modified xsi:type="dcterms:W3CDTF">2026-10-11T22:10:25Z</dcterms:modified>
</cp:coreProperties>
</file>